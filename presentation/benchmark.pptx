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c2c23d50af439f" /><Relationship Type="http://schemas.openxmlformats.org/officeDocument/2006/relationships/extended-properties" Target="/docProps/app.xml" Id="R0cb6494f139f40a6" /><Relationship Type="http://schemas.openxmlformats.org/officeDocument/2006/relationships/officeDocument" Target="/ppt/presentation.xml" Id="Rbea2b7e752a14352" /></Relationships>
</file>

<file path=ppt/presentation.xml><?xml version="1.0" encoding="utf-8"?>
<p:presentation xmlns:p="http://schemas.openxmlformats.org/presentationml/2006/main">
  <p:sldMasterIdLst>
    <p:sldMasterId xmlns:r="http://schemas.openxmlformats.org/officeDocument/2006/relationships" id="2147483648" r:id="R83a08904c6d84ec8"/>
  </p:sldMasterIdLst>
  <p:notesMasterIdLst>
    <p:notesMasterId xmlns:r="http://schemas.openxmlformats.org/officeDocument/2006/relationships" r:id="R7661b1c203484695"/>
  </p:notesMasterIdLst>
  <p:sldIdLst>
    <p:sldId xmlns:r="http://schemas.openxmlformats.org/officeDocument/2006/relationships" id="256" r:id="Ra62061ab31404cf0"/>
    <p:sldId xmlns:r="http://schemas.openxmlformats.org/officeDocument/2006/relationships" id="257" r:id="Rbe1be810ff7949d5"/>
    <p:sldId xmlns:r="http://schemas.openxmlformats.org/officeDocument/2006/relationships" id="258" r:id="R13202800237b4e09"/>
    <p:sldId xmlns:r="http://schemas.openxmlformats.org/officeDocument/2006/relationships" id="259" r:id="Rbd5f6ddf0fb043e8"/>
    <p:sldId xmlns:r="http://schemas.openxmlformats.org/officeDocument/2006/relationships" id="260" r:id="Rb1989419388e4732"/>
    <p:sldId xmlns:r="http://schemas.openxmlformats.org/officeDocument/2006/relationships" id="261" r:id="R7d2fd7bf09244c99"/>
    <p:sldId xmlns:r="http://schemas.openxmlformats.org/officeDocument/2006/relationships" id="262" r:id="R239ef863ba7347c9"/>
    <p:sldId xmlns:r="http://schemas.openxmlformats.org/officeDocument/2006/relationships" id="263" r:id="Rf42640872d27483a"/>
    <p:sldId xmlns:r="http://schemas.openxmlformats.org/officeDocument/2006/relationships" id="264" r:id="Rcfaa97eb3584447d"/>
    <p:sldId xmlns:r="http://schemas.openxmlformats.org/officeDocument/2006/relationships" id="265" r:id="R3c48c4be24fc4073"/>
    <p:sldId xmlns:r="http://schemas.openxmlformats.org/officeDocument/2006/relationships" id="266" r:id="R07d1a91bf3b14d01"/>
    <p:sldId xmlns:r="http://schemas.openxmlformats.org/officeDocument/2006/relationships" id="267" r:id="R3e6d7e8ef80148a0"/>
    <p:sldId xmlns:r="http://schemas.openxmlformats.org/officeDocument/2006/relationships" id="268" r:id="Ra42dd147d8ea4c11"/>
    <p:sldId xmlns:r="http://schemas.openxmlformats.org/officeDocument/2006/relationships" id="269" r:id="R85e20dc93b8643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0c50fe514c4c5c" /><Relationship Type="http://schemas.openxmlformats.org/officeDocument/2006/relationships/slideMaster" Target="/ppt/slideMasters/slideMaster1.xml" Id="R83a08904c6d84ec8" /><Relationship Type="http://schemas.openxmlformats.org/officeDocument/2006/relationships/notesMaster" Target="/ppt/notesMasters/notesMaster1.xml" Id="R7661b1c203484695" /><Relationship Type="http://schemas.openxmlformats.org/officeDocument/2006/relationships/presProps" Target="/ppt/presProps.xml" Id="R43f303a0e5e548ed" /><Relationship Type="http://schemas.openxmlformats.org/officeDocument/2006/relationships/tableStyles" Target="/ppt/tableStyles.xml" Id="Rd8a897871b2d4187" /><Relationship Type="http://schemas.openxmlformats.org/officeDocument/2006/relationships/slide" Target="/ppt/slides/slide1.xml" Id="Ra62061ab31404cf0" /><Relationship Type="http://schemas.openxmlformats.org/officeDocument/2006/relationships/slide" Target="/ppt/slides/slide2.xml" Id="Rbe1be810ff7949d5" /><Relationship Type="http://schemas.openxmlformats.org/officeDocument/2006/relationships/slide" Target="/ppt/slides/slide3.xml" Id="R13202800237b4e09" /><Relationship Type="http://schemas.openxmlformats.org/officeDocument/2006/relationships/slide" Target="/ppt/slides/slide4.xml" Id="Rbd5f6ddf0fb043e8" /><Relationship Type="http://schemas.openxmlformats.org/officeDocument/2006/relationships/slide" Target="/ppt/slides/slide5.xml" Id="Rb1989419388e4732" /><Relationship Type="http://schemas.openxmlformats.org/officeDocument/2006/relationships/slide" Target="/ppt/slides/slide6.xml" Id="R7d2fd7bf09244c99" /><Relationship Type="http://schemas.openxmlformats.org/officeDocument/2006/relationships/slide" Target="/ppt/slides/slide7.xml" Id="R239ef863ba7347c9" /><Relationship Type="http://schemas.openxmlformats.org/officeDocument/2006/relationships/slide" Target="/ppt/slides/slide8.xml" Id="Rf42640872d27483a" /><Relationship Type="http://schemas.openxmlformats.org/officeDocument/2006/relationships/slide" Target="/ppt/slides/slide9.xml" Id="Rcfaa97eb3584447d" /><Relationship Type="http://schemas.openxmlformats.org/officeDocument/2006/relationships/slide" Target="/ppt/slides/slide10.xml" Id="R3c48c4be24fc4073" /><Relationship Type="http://schemas.openxmlformats.org/officeDocument/2006/relationships/slide" Target="/ppt/slides/slide11.xml" Id="R07d1a91bf3b14d01" /><Relationship Type="http://schemas.openxmlformats.org/officeDocument/2006/relationships/slide" Target="/ppt/slides/slide12.xml" Id="R3e6d7e8ef80148a0" /><Relationship Type="http://schemas.openxmlformats.org/officeDocument/2006/relationships/slide" Target="/ppt/slides/slide13.xml" Id="Ra42dd147d8ea4c11" /><Relationship Type="http://schemas.openxmlformats.org/officeDocument/2006/relationships/slide" Target="/ppt/slides/slide14.xml" Id="R85e20dc93b8643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1be9a12f8544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61a002011d4c55" /><Relationship Type="http://schemas.openxmlformats.org/officeDocument/2006/relationships/notesMaster" Target="/ppt/notesMasters/notesMaster1.xml" Id="R0bbca80d3f204e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b4d6453c12468c" /><Relationship Type="http://schemas.openxmlformats.org/officeDocument/2006/relationships/notesMaster" Target="/ppt/notesMasters/notesMaster1.xml" Id="R4356588960f845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a267407b864033" /><Relationship Type="http://schemas.openxmlformats.org/officeDocument/2006/relationships/notesMaster" Target="/ppt/notesMasters/notesMaster1.xml" Id="Rf132b0469dcf4f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5c2d7198ab4248" /><Relationship Type="http://schemas.openxmlformats.org/officeDocument/2006/relationships/notesMaster" Target="/ppt/notesMasters/notesMaster1.xml" Id="Rdf57047cb08549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c3068562f24f57" /><Relationship Type="http://schemas.openxmlformats.org/officeDocument/2006/relationships/notesMaster" Target="/ppt/notesMasters/notesMaster1.xml" Id="R370aac1654aa4a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9bcece26b14b46" /><Relationship Type="http://schemas.openxmlformats.org/officeDocument/2006/relationships/notesMaster" Target="/ppt/notesMasters/notesMaster1.xml" Id="Raf5ca97d45a448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fd5b5bb3f448d1" /><Relationship Type="http://schemas.openxmlformats.org/officeDocument/2006/relationships/notesMaster" Target="/ppt/notesMasters/notesMaster1.xml" Id="Rf89994df973c4d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d6c78347954527" /><Relationship Type="http://schemas.openxmlformats.org/officeDocument/2006/relationships/notesMaster" Target="/ppt/notesMasters/notesMaster1.xml" Id="R5297af3a2e714c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adb759f4654599" /><Relationship Type="http://schemas.openxmlformats.org/officeDocument/2006/relationships/notesMaster" Target="/ppt/notesMasters/notesMaster1.xml" Id="Ra7b64d7de18f42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3a3fd4a7194094" /><Relationship Type="http://schemas.openxmlformats.org/officeDocument/2006/relationships/notesMaster" Target="/ppt/notesMasters/notesMaster1.xml" Id="Rfe4ba99bf98f43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cfe0665c8ca491b" /><Relationship Type="http://schemas.openxmlformats.org/officeDocument/2006/relationships/notesMaster" Target="/ppt/notesMasters/notesMaster1.xml" Id="R62456a34a6ff49e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cdde05835ea425e" /><Relationship Type="http://schemas.openxmlformats.org/officeDocument/2006/relationships/notesMaster" Target="/ppt/notesMasters/notesMaster1.xml" Id="Ra53420e2e84f4bb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7c9a7cbe6e4bd6" /><Relationship Type="http://schemas.openxmlformats.org/officeDocument/2006/relationships/notesMaster" Target="/ppt/notesMasters/notesMaster1.xml" Id="R659683d2fd3f4a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216d5c0e084b07" /><Relationship Type="http://schemas.openxmlformats.org/officeDocument/2006/relationships/notesMaster" Target="/ppt/notesMasters/notesMaster1.xml" Id="R747553daeef84d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 trình bày nội bộ về benchmark dự đoán runtime cho hai miền riêng: QPU lưu trữ và simulator local. Không chạy live QPU.</a:t>
            </a:r>
          </a:p>
          <a:p xmlns:a="http://schemas.openxmlformats.org/drawingml/2006/main">
            <a:r>
              <a:t/>
            </a:r>
          </a:p>
          <a:p xmlns:a="http://schemas.openxmlformats.org/drawingml/2006/main">
            <a:r>
              <a:t>Evidence:</a:t>
            </a:r>
          </a:p>
          <a:p xmlns:a="http://schemas.openxmlformats.org/drawingml/2006/main">
            <a:r>
              <a:t>- docs/presentation.md</a:t>
            </a:r>
          </a:p>
          <a:p xmlns:a="http://schemas.openxmlformats.org/drawingml/2006/main">
            <a:r>
              <a:t>- docs/results.md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8.767 là số quan sát runtime đã lưu, không phải 8.767 circuit duy nhất. Panel hiện tại chọn 7.350 rows có đầu vào logical đủ điều kiện theo chính sách đã công bố.</a:t>
            </a:r>
          </a:p>
          <a:p xmlns:a="http://schemas.openxmlformats.org/drawingml/2006/main">
            <a:r>
              <a:t/>
            </a:r>
          </a:p>
          <a:p xmlns:a="http://schemas.openxmlformats.org/drawingml/2006/main">
            <a:r>
              <a:t>Evidence:</a:t>
            </a:r>
          </a:p>
          <a:p xmlns:a="http://schemas.openxmlformats.org/drawingml/2006/main">
            <a:r>
              <a:t>- docs/methodology.md#data-and-reconstruction</a:t>
            </a:r>
          </a:p>
          <a:p xmlns:a="http://schemas.openxmlformats.org/drawingml/2006/main">
            <a:r>
              <a:t>- docs/real_qpu_benchmark.md</a:t>
            </a:r>
          </a:p>
          <a:p xmlns:a="http://schemas.openxmlformats.org/drawingml/2006/main">
            <a:r>
              <a:t>- artifacts/results/real_qpu/method_comparison.csv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Tái dựng chỉ cung cấp input cho estimator; không tạo nhãn runtime mới. Các mức exact, recipe-resolved và structure-reconstructed phải được giữ riêng.</a:t>
            </a:r>
          </a:p>
          <a:p xmlns:a="http://schemas.openxmlformats.org/drawingml/2006/main">
            <a:r>
              <a:t/>
            </a:r>
          </a:p>
          <a:p xmlns:a="http://schemas.openxmlformats.org/drawingml/2006/main">
            <a:r>
              <a:t>Evidence:</a:t>
            </a:r>
          </a:p>
          <a:p xmlns:a="http://schemas.openxmlformats.org/drawingml/2006/main">
            <a:r>
              <a:t>- docs/methodology.md#data-and-reconstruction</a:t>
            </a:r>
          </a:p>
          <a:p xmlns:a="http://schemas.openxmlformats.org/drawingml/2006/main">
            <a:r>
              <a:t>- docs/real_qpu_benchmark.md</a:t>
            </a:r>
          </a:p>
          <a:p xmlns:a="http://schemas.openxmlformats.org/drawingml/2006/main">
            <a:r>
              <a:t>- benchmark_v1/S39_QONDUCTOR_ARCHIVE_RECOVERY_ADDENDUM_20260928.md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Unified ở đây nghĩa là cùng panel, row identity và outer test split; không ép mọi paper dùng cùng representation nếu điều đó làm sai method contract.</a:t>
            </a:r>
          </a:p>
          <a:p xmlns:a="http://schemas.openxmlformats.org/drawingml/2006/main">
            <a:r>
              <a:t/>
            </a:r>
          </a:p>
          <a:p xmlns:a="http://schemas.openxmlformats.org/drawingml/2006/main">
            <a:r>
              <a:t>Evidence:</a:t>
            </a:r>
          </a:p>
          <a:p xmlns:a="http://schemas.openxmlformats.org/drawingml/2006/main">
            <a:r>
              <a:t>- docs/methodology.md#fitting-and-method-identity</a:t>
            </a:r>
          </a:p>
          <a:p xmlns:a="http://schemas.openxmlformats.org/drawingml/2006/main">
            <a:r>
              <a:t>- docs/data_and_feature_dictionary.md</a:t>
            </a:r>
          </a:p>
          <a:p xmlns:a="http://schemas.openxmlformats.org/drawingml/2006/main">
            <a:r>
              <a:t>- docs/real_qpu_benchmark.md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model direct-prediction dùng chung test population. Graph branch bao gồm node và calibration context; so sánh với MLP không cô lập topology đơn thuần.</a:t>
            </a:r>
          </a:p>
          <a:p xmlns:a="http://schemas.openxmlformats.org/drawingml/2006/main">
            <a:r>
              <a:t/>
            </a:r>
          </a:p>
          <a:p xmlns:a="http://schemas.openxmlformats.org/drawingml/2006/main">
            <a:r>
              <a:t>Evidence:</a:t>
            </a:r>
          </a:p>
          <a:p xmlns:a="http://schemas.openxmlformats.org/drawingml/2006/main">
            <a:r>
              <a:t>- artifacts/results/real_qpu/method_comparison.csv</a:t>
            </a:r>
          </a:p>
          <a:p xmlns:a="http://schemas.openxmlformats.org/drawingml/2006/main">
            <a:r>
              <a:t>- artifacts/real_qpu/common_panel/analysis/run_manifest.json</a:t>
            </a:r>
          </a:p>
          <a:p xmlns:a="http://schemas.openxmlformats.org/drawingml/2006/main">
            <a:r>
              <a:t>- docs/scientific_review.md#independently-verified-qpu-findings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breakdown của cùng một unified fit, không phải ba lần train riêng. QPack sáu workflow groups khiến uncertainty và generalization cần diễn giải thận trọng.</a:t>
            </a:r>
          </a:p>
          <a:p xmlns:a="http://schemas.openxmlformats.org/drawingml/2006/main">
            <a:r>
              <a:t/>
            </a:r>
          </a:p>
          <a:p xmlns:a="http://schemas.openxmlformats.org/drawingml/2006/main">
            <a:r>
              <a:t>Evidence:</a:t>
            </a:r>
          </a:p>
          <a:p xmlns:a="http://schemas.openxmlformats.org/drawingml/2006/main">
            <a:r>
              <a:t>- artifacts/real_qpu/common_panel/analysis/source_metrics.csv</a:t>
            </a:r>
          </a:p>
          <a:p xmlns:a="http://schemas.openxmlformats.org/drawingml/2006/main">
            <a:r>
              <a:t>- artifacts/real_qpu/common_panel/analysis/pairwise_comparisons.csv</a:t>
            </a:r>
          </a:p>
          <a:p xmlns:a="http://schemas.openxmlformats.org/drawingml/2006/main">
            <a:r>
              <a:t>- docs/scientific_review.md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Cột clock là thiết yếu. Scheduled time, throughput proxy và calibrated service prediction không phải cùng đại lượng. QCRE critical path và Qiskit estimate_duration trùng nhau dưới cùng Target; đây là cross-check của schedule, không phải hai model độc lập. R² của raw Scholten bị tail chi phối và không nên xếp ngang như service-time estimate.</a:t>
            </a:r>
          </a:p>
          <a:p xmlns:a="http://schemas.openxmlformats.org/drawingml/2006/main">
            <a:r>
              <a:t/>
            </a:r>
          </a:p>
          <a:p xmlns:a="http://schemas.openxmlformats.org/drawingml/2006/main">
            <a:r>
              <a:t>Evidence:</a:t>
            </a:r>
          </a:p>
          <a:p xmlns:a="http://schemas.openxmlformats.org/drawingml/2006/main">
            <a:r>
              <a:t>- artifacts/results/real_qpu/method_comparison.csv</a:t>
            </a:r>
          </a:p>
          <a:p xmlns:a="http://schemas.openxmlformats.org/drawingml/2006/main">
            <a:r>
              <a:t>- docs/real_qpu_benchmark.md</a:t>
            </a:r>
          </a:p>
          <a:p xmlns:a="http://schemas.openxmlformats.org/drawingml/2006/main">
            <a:r>
              <a:t>- docs/scientific_review.md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 QASM hashes, FakeSherbrooke noisy context, Opt-1, warm execution. Local Azizov-style adaptation; không phải full paper-scale reproduction. Deltas paired/bootstrap exploratory.</a:t>
            </a:r>
          </a:p>
          <a:p xmlns:a="http://schemas.openxmlformats.org/drawingml/2006/main">
            <a:r>
              <a:t/>
            </a:r>
          </a:p>
          <a:p xmlns:a="http://schemas.openxmlformats.org/drawingml/2006/main">
            <a:r>
              <a:t>Evidence:</a:t>
            </a:r>
          </a:p>
          <a:p xmlns:a="http://schemas.openxmlformats.org/drawingml/2006/main">
            <a:r>
              <a:t>- artifacts/results/simulator/method_comparison.csv</a:t>
            </a:r>
          </a:p>
          <a:p xmlns:a="http://schemas.openxmlformats.org/drawingml/2006/main">
            <a:r>
              <a:t>- benchmark_v1/protocol/azizov_common_core_gnn_v1.json</a:t>
            </a:r>
          </a:p>
          <a:p xmlns:a="http://schemas.openxmlformats.org/drawingml/2006/main">
            <a:r>
              <a:t>- docs/scientific_review.md#independently-verified-simulator-findings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Cùng 150 hashes và 32-shot warm sample target, FP32/FP64 được báo riêng. RF tối ưu MAE; work-scaled Ridge tối ưu R². Không diễn giải hệ số intercept như launch overhead vật lý.</a:t>
            </a:r>
          </a:p>
          <a:p xmlns:a="http://schemas.openxmlformats.org/drawingml/2006/main">
            <a:r>
              <a:t/>
            </a:r>
          </a:p>
          <a:p xmlns:a="http://schemas.openxmlformats.org/drawingml/2006/main">
            <a:r>
              <a:t>Evidence:</a:t>
            </a:r>
          </a:p>
          <a:p xmlns:a="http://schemas.openxmlformats.org/drawingml/2006/main">
            <a:r>
              <a:t>- artifacts/results/simulator/method_comparison.csv</a:t>
            </a:r>
          </a:p>
          <a:p xmlns:a="http://schemas.openxmlformats.org/drawingml/2006/main">
            <a:r>
              <a:t>- docs/scientific_review.md#independently-verified-simulator-findings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Fixed chi=16 R9: 150 assigned, 147 quality pass, 3 fail. Joint ladder: 900 hash×rung assigned, 840 measured, 60 technical targets unavailable. Quality head's rung violation makes it an unreliable selector.</a:t>
            </a:r>
          </a:p>
          <a:p xmlns:a="http://schemas.openxmlformats.org/drawingml/2006/main">
            <a:r>
              <a:t/>
            </a:r>
          </a:p>
          <a:p xmlns:a="http://schemas.openxmlformats.org/drawingml/2006/main">
            <a:r>
              <a:t>Evidence:</a:t>
            </a:r>
          </a:p>
          <a:p xmlns:a="http://schemas.openxmlformats.org/drawingml/2006/main">
            <a:r>
              <a:t>- artifacts/results/simulator/method_comparison.csv</a:t>
            </a:r>
          </a:p>
          <a:p xmlns:a="http://schemas.openxmlformats.org/drawingml/2006/main">
            <a:r>
              <a:t>- docs/scientific_review.md#independently-verified-simulator-findings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con số này không phải một leaderboard chung. TN so estimate với contraction cùng plan; Maestro component là fresh-process reported execution; Pasqal là analog companion.</a:t>
            </a:r>
          </a:p>
          <a:p xmlns:a="http://schemas.openxmlformats.org/drawingml/2006/main">
            <a:r>
              <a:t/>
            </a:r>
          </a:p>
          <a:p xmlns:a="http://schemas.openxmlformats.org/drawingml/2006/main">
            <a:r>
              <a:t>Evidence:</a:t>
            </a:r>
          </a:p>
          <a:p xmlns:a="http://schemas.openxmlformats.org/drawingml/2006/main">
            <a:r>
              <a:t>- artifacts/results/simulator/method_comparison.csv</a:t>
            </a:r>
          </a:p>
          <a:p xmlns:a="http://schemas.openxmlformats.org/drawingml/2006/main">
            <a:r>
              <a:t>- benchmark_v1/protocol/family_aware_joint_runtime_quality_mps_v1.json</a:t>
            </a:r>
          </a:p>
          <a:p xmlns:a="http://schemas.openxmlformats.org/drawingml/2006/main">
            <a:r>
              <a:t>- docs/scientific_review.md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Thông điệp của benchmark không phải một phương pháp thắng tất cả. Graph branch cải thiện so với matched MLP trên pooled common panel, nhưng graph-versus-polynomial chưa phân giải; source slices đảo chiều.</a:t>
            </a:r>
          </a:p>
          <a:p xmlns:a="http://schemas.openxmlformats.org/drawingml/2006/main">
            <a:r>
              <a:t/>
            </a:r>
          </a:p>
          <a:p xmlns:a="http://schemas.openxmlformats.org/drawingml/2006/main">
            <a:r>
              <a:t>Evidence:</a:t>
            </a:r>
          </a:p>
          <a:p xmlns:a="http://schemas.openxmlformats.org/drawingml/2006/main">
            <a:r>
              <a:t>- docs/scientific_review.md</a:t>
            </a:r>
          </a:p>
          <a:p xmlns:a="http://schemas.openxmlformats.org/drawingml/2006/main">
            <a:r>
              <a:t>- artifacts/real_qpu/common_panel/analysis/source_metrics.csv</a:t>
            </a:r>
          </a:p>
          <a:p xmlns:a="http://schemas.openxmlformats.org/drawingml/2006/main">
            <a:r>
              <a:t>- artifacts/results/simulator/method_comparison.csv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trạng thái evidence và replay của selected export; không phải public-release approval. Không sửa CURRENT, C4, các nhãn thô hay artifact lịch sử.</a:t>
            </a:r>
          </a:p>
          <a:p xmlns:a="http://schemas.openxmlformats.org/drawingml/2006/main">
            <a:r>
              <a:t/>
            </a:r>
          </a:p>
          <a:p xmlns:a="http://schemas.openxmlformats.org/drawingml/2006/main">
            <a:r>
              <a:t>Evidence:</a:t>
            </a:r>
          </a:p>
          <a:p xmlns:a="http://schemas.openxmlformats.org/drawingml/2006/main">
            <a:r>
              <a:t>- docs/reproduction.md</a:t>
            </a:r>
          </a:p>
          <a:p xmlns:a="http://schemas.openxmlformats.org/drawingml/2006/main">
            <a:r>
              <a:t>- docs/reproduction_validation.md</a:t>
            </a:r>
          </a:p>
          <a:p xmlns:a="http://schemas.openxmlformats.org/drawingml/2006/main">
            <a:r>
              <a:t>- docs/third_party_notices.md</a:t>
            </a:r>
          </a:p>
          <a:p xmlns:a="http://schemas.openxmlformats.org/drawingml/2006/main">
            <a:r>
              <a:t>- benchmark_v1/registry/CURRENT.json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dòng raw và calibrated được giữ riêng. predicted/assigned cho coverage; MAE/R² so với archived observed service-time target, trong khi output clock nêu rõ đại lượng phát ra. Không xếp hạng các clock khác nhau.</a:t>
            </a:r>
          </a:p>
          <a:p xmlns:a="http://schemas.openxmlformats.org/drawingml/2006/main">
            <a:r>
              <a:t/>
            </a:r>
          </a:p>
          <a:p xmlns:a="http://schemas.openxmlformats.org/drawingml/2006/main">
            <a:r>
              <a:t>Evidence:</a:t>
            </a:r>
          </a:p>
          <a:p xmlns:a="http://schemas.openxmlformats.org/drawingml/2006/main">
            <a:r>
              <a:t>- artifacts/results/real_qpu/method_comparison.csv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38a6d4bf6543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c1986288a74796" /><Relationship Type="http://schemas.openxmlformats.org/officeDocument/2006/relationships/slideLayout" Target="/ppt/slideLayouts/slideLayout1.xml" Id="R396da92a86d149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6da92a86d149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bebe2902c234897" /><Relationship Type="http://schemas.openxmlformats.org/officeDocument/2006/relationships/notesSlide" Target="/ppt/notesSlides/notesSlide1.xml" Id="R46a558091dea43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25b31b7be344fd" /><Relationship Type="http://schemas.openxmlformats.org/officeDocument/2006/relationships/notesSlide" Target="/ppt/notesSlides/notesSlide2.xml" Id="Raae031dd40d144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f3e3c43a864ff8" /><Relationship Type="http://schemas.openxmlformats.org/officeDocument/2006/relationships/notesSlide" Target="/ppt/notesSlides/notesSlide3.xml" Id="Rfffbafab4b9a4e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1c508b4a3a47a5" /><Relationship Type="http://schemas.openxmlformats.org/officeDocument/2006/relationships/notesSlide" Target="/ppt/notesSlides/notesSlide4.xml" Id="R44f491cd562941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b192ff2c3646c3" /><Relationship Type="http://schemas.openxmlformats.org/officeDocument/2006/relationships/notesSlide" Target="/ppt/notesSlides/notesSlide5.xml" Id="R52d17f03dc0d4c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81e21583084f3e" /><Relationship Type="http://schemas.openxmlformats.org/officeDocument/2006/relationships/notesSlide" Target="/ppt/notesSlides/notesSlide6.xml" Id="R3a98c3391fc144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57c64d2ce64fa9" /><Relationship Type="http://schemas.openxmlformats.org/officeDocument/2006/relationships/notesSlide" Target="/ppt/notesSlides/notesSlide7.xml" Id="Re610db61d05849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4427b73ea14bf2" /><Relationship Type="http://schemas.openxmlformats.org/officeDocument/2006/relationships/notesSlide" Target="/ppt/notesSlides/notesSlide8.xml" Id="Re433281d86bc4e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b5a9a6e4844ea5" /><Relationship Type="http://schemas.openxmlformats.org/officeDocument/2006/relationships/notesSlide" Target="/ppt/notesSlides/notesSlide9.xml" Id="Reea36b50f18940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4bb02df84042e1" /><Relationship Type="http://schemas.openxmlformats.org/officeDocument/2006/relationships/notesSlide" Target="/ppt/notesSlides/notesSlide10.xml" Id="R3d9aff93f0a548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7c1b3eb75f744ba" /><Relationship Type="http://schemas.openxmlformats.org/officeDocument/2006/relationships/notesSlide" Target="/ppt/notesSlides/notesSlide11.xml" Id="R0005987839534b4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385916e2899400b" /><Relationship Type="http://schemas.openxmlformats.org/officeDocument/2006/relationships/notesSlide" Target="/ppt/notesSlides/notesSlide12.xml" Id="R2066068f8dd545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c27810066784df4" /><Relationship Type="http://schemas.openxmlformats.org/officeDocument/2006/relationships/notesSlide" Target="/ppt/notesSlides/notesSlide13.xml" Id="R5817d170490e43f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6b667c8296845e4" /><Relationship Type="http://schemas.openxmlformats.org/officeDocument/2006/relationships/notesSlide" Target="/ppt/notesSlides/notesSlide14.xml" Id="R10e61aefc69941c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1B8F88-AD05-4E15-B6B3-F3A93B78384F}"/>
              </a:ext>
            </a:extLst>
          </p:cNvPr>
          <p:cNvSpPr>
            <a:spLocks xmlns:a="http://schemas.openxmlformats.org/drawingml/2006/main" noGrp="1"/>
          </p:cNvSpPr>
          <p:nvPr/>
        </p:nvSpPr>
        <p:spPr>
          <a:xfrm xmlns:a="http://schemas.openxmlformats.org/drawingml/2006/main">
            <a:off x="704850" y="11906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4350" b="1">
                <a:solidFill>
                  <a:srgbClr val="163444"/>
                </a:solidFill>
                <a:latin typeface="Noto Sans"/>
                <a:ea typeface="Noto Sans"/>
                <a:cs typeface="Noto Sans"/>
              </a:defRPr>
            </a:pPr>
            <a:r>
              <a:rPr sz="4350" b="1">
                <a:solidFill>
                  <a:srgbClr val="163444"/>
                </a:solidFill>
                <a:latin typeface="Noto Sans"/>
                <a:ea typeface="Noto Sans"/>
                <a:cs typeface="Noto Sans"/>
              </a:rPr>
              <a:t>Ước lượng runtime lượng tử</a:t>
            </a:r>
          </a:p>
        </p:txBody>
      </p:sp>
      <p:sp>
        <p:nvSpPr>
          <p:cNvPr id="2" name="">
            <a:extLst xmlns:a="http://schemas.openxmlformats.org/drawingml/2006/main">
              <a:ext uri="{FF2B5EF4-FFF2-40B4-BE49-F238E27FC236}">
                <a16:creationId xmlns:a16="http://schemas.microsoft.com/office/drawing/2014/main" id="{5C4C8EA5-5975-45B5-8F3F-E44EB7A0235E}"/>
              </a:ext>
            </a:extLst>
          </p:cNvPr>
          <p:cNvSpPr>
            <a:spLocks xmlns:a="http://schemas.openxmlformats.org/drawingml/2006/main" noGrp="1"/>
          </p:cNvSpPr>
          <p:nvPr/>
        </p:nvSpPr>
        <p:spPr>
          <a:xfrm xmlns:a="http://schemas.openxmlformats.org/drawingml/2006/main">
            <a:off x="742950" y="223837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a:solidFill>
                  <a:srgbClr val="007F78"/>
                </a:solidFill>
                <a:latin typeface="Noto Sans"/>
                <a:ea typeface="Noto Sans"/>
                <a:cs typeface="Noto Sans"/>
              </a:defRPr>
            </a:pPr>
            <a:r>
              <a:rPr sz="2325">
                <a:solidFill>
                  <a:srgbClr val="007F78"/>
                </a:solidFill>
                <a:latin typeface="Noto Sans"/>
                <a:ea typeface="Noto Sans"/>
                <a:cs typeface="Noto Sans"/>
              </a:rPr>
              <a:t>Benchmark trên QPU lưu trữ và simulator local</a:t>
            </a:r>
          </a:p>
        </p:txBody>
      </p:sp>
      <p:sp>
        <p:nvSpPr>
          <p:cNvPr id="3" name="">
            <a:extLst xmlns:a="http://schemas.openxmlformats.org/drawingml/2006/main">
              <a:ext uri="{FF2B5EF4-FFF2-40B4-BE49-F238E27FC236}">
                <a16:creationId xmlns:a16="http://schemas.microsoft.com/office/drawing/2014/main" id="{8CB4E8F5-50C4-4367-A145-4A5C02A38920}"/>
              </a:ext>
            </a:extLst>
          </p:cNvPr>
          <p:cNvSpPr>
            <a:spLocks xmlns:a="http://schemas.openxmlformats.org/drawingml/2006/main" noGrp="1"/>
          </p:cNvSpPr>
          <p:nvPr/>
        </p:nvSpPr>
        <p:spPr>
          <a:xfrm xmlns:a="http://schemas.openxmlformats.org/drawingml/2006/main">
            <a:off x="742950" y="3190875"/>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a:solidFill>
                  <a:srgbClr val="25495A"/>
                </a:solidFill>
                <a:latin typeface="Noto Sans"/>
                <a:ea typeface="Noto Sans"/>
                <a:cs typeface="Noto Sans"/>
              </a:defRPr>
            </a:pPr>
            <a:r>
              <a:rPr sz="2025">
                <a:solidFill>
                  <a:srgbClr val="25495A"/>
                </a:solidFill>
                <a:latin typeface="Noto Sans"/>
                <a:ea typeface="Noto Sans"/>
                <a:cs typeface="Noto Sans"/>
              </a:rPr>
              <a:t>Dữ liệu → biểu diễn → giao thức → kết quả → giới hạn</a:t>
            </a:r>
          </a:p>
        </p:txBody>
      </p:sp>
      <p:sp>
        <p:nvSpPr>
          <p:cNvPr id="4" name="">
            <a:extLst xmlns:a="http://schemas.openxmlformats.org/drawingml/2006/main">
              <a:ext uri="{FF2B5EF4-FFF2-40B4-BE49-F238E27FC236}">
                <a16:creationId xmlns:a16="http://schemas.microsoft.com/office/drawing/2014/main" id="{8E9E38C5-F4B3-4CD1-8A86-F62B8D780AD1}"/>
              </a:ext>
            </a:extLst>
          </p:cNvPr>
          <p:cNvSpPr>
            <a:spLocks xmlns:a="http://schemas.openxmlformats.org/drawingml/2006/main" noGrp="1"/>
          </p:cNvSpPr>
          <p:nvPr/>
        </p:nvSpPr>
        <p:spPr>
          <a:xfrm xmlns:a="http://schemas.openxmlformats.org/drawingml/2006/main">
            <a:off x="742950" y="4095750"/>
            <a:ext cx="10334625" cy="876300"/>
          </a:xfrm>
          <a:prstGeom xmlns:a="http://schemas.openxmlformats.org/drawingml/2006/main" prst="roundRect">
            <a:avLst>
              <a:gd name="adj" fmla="val 8696"/>
            </a:avLst>
          </a:prstGeom>
          <a:solidFill xmlns:a="http://schemas.openxmlformats.org/drawingml/2006/main">
            <a:srgbClr val="E4F2F0"/>
          </a:solidFill>
          <a:ln xmlns:a="http://schemas.openxmlformats.org/drawingml/2006/main" w="11430">
            <a:solidFill>
              <a:srgbClr val="007F78"/>
            </a:solidFill>
          </a:ln>
        </p:spPr>
      </p:sp>
      <p:sp>
        <p:nvSpPr>
          <p:cNvPr id="5" name="">
            <a:extLst xmlns:a="http://schemas.openxmlformats.org/drawingml/2006/main">
              <a:ext uri="{FF2B5EF4-FFF2-40B4-BE49-F238E27FC236}">
                <a16:creationId xmlns:a16="http://schemas.microsoft.com/office/drawing/2014/main" id="{3EB26EF5-8EF8-418F-B872-015977C208A3}"/>
              </a:ext>
            </a:extLst>
          </p:cNvPr>
          <p:cNvSpPr>
            <a:spLocks xmlns:a="http://schemas.openxmlformats.org/drawingml/2006/main" noGrp="1"/>
          </p:cNvSpPr>
          <p:nvPr/>
        </p:nvSpPr>
        <p:spPr>
          <a:xfrm xmlns:a="http://schemas.openxmlformats.org/drawingml/2006/main">
            <a:off x="895350" y="4181475"/>
            <a:ext cx="100298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25495A"/>
                </a:solidFill>
                <a:latin typeface="Noto Sans"/>
                <a:ea typeface="Noto Sans"/>
                <a:cs typeface="Noto Sans"/>
              </a:defRPr>
            </a:pPr>
            <a:r>
              <a:rPr sz="1725" b="1">
                <a:solidFill>
                  <a:srgbClr val="25495A"/>
                </a:solidFill>
                <a:latin typeface="Noto Sans"/>
                <a:ea typeface="Noto Sans"/>
                <a:cs typeface="Noto Sans"/>
              </a:rPr>
              <a:t>Kết luận có điều kiện: các clock và biểu diễn khác nhau không tạo thành một bảng xếp hạng chung.</a:t>
            </a:r>
          </a:p>
        </p:txBody>
      </p:sp>
      <p:sp>
        <p:nvSpPr>
          <p:cNvPr id="6" name="">
            <a:extLst xmlns:a="http://schemas.openxmlformats.org/drawingml/2006/main">
              <a:ext uri="{FF2B5EF4-FFF2-40B4-BE49-F238E27FC236}">
                <a16:creationId xmlns:a16="http://schemas.microsoft.com/office/drawing/2014/main" id="{2E3454C8-8259-429C-90EC-001C59FF90C7}"/>
              </a:ext>
            </a:extLst>
          </p:cNvPr>
          <p:cNvSpPr>
            <a:spLocks xmlns:a="http://schemas.openxmlformats.org/drawingml/2006/main" noGrp="1"/>
          </p:cNvSpPr>
          <p:nvPr/>
        </p:nvSpPr>
        <p:spPr>
          <a:xfrm xmlns:a="http://schemas.openxmlformats.org/drawingml/2006/main">
            <a:off x="742950" y="60483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a:solidFill>
                  <a:srgbClr val="526873"/>
                </a:solidFill>
                <a:latin typeface="Noto Sans"/>
                <a:ea typeface="Noto Sans"/>
                <a:cs typeface="Noto Sans"/>
              </a:defRPr>
            </a:pPr>
            <a:r>
              <a:rPr sz="1350">
                <a:solidFill>
                  <a:srgbClr val="526873"/>
                </a:solidFill>
                <a:latin typeface="Noto Sans"/>
                <a:ea typeface="Noto Sans"/>
                <a:cs typeface="Noto Sans"/>
              </a:rPr>
              <a:t>Bản rà soát nội bộ · 07.10.2026</a:t>
            </a:r>
          </a:p>
        </p:txBody>
      </p:sp>
    </p:spTree>
    <p:extLst>
      <p:ext uri="{BB962C8B-B14F-4D97-AF65-F5344CB8AC3E}">
        <p14:creationId xmlns:p14="http://schemas.microsoft.com/office/powerpoint/2010/main" val="7041759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155BEF-F0E3-4EFF-8918-7E5E5502AC58}"/>
              </a:ext>
            </a:extLst>
          </p:cNvPr>
          <p:cNvSpPr>
            <a:spLocks xmlns:a="http://schemas.openxmlformats.org/drawingml/2006/main" noGrp="1"/>
          </p:cNvSpPr>
          <p:nvPr/>
        </p:nvSpPr>
        <p:spPr>
          <a:xfrm xmlns:a="http://schemas.openxmlformats.org/drawingml/2006/main">
            <a:off x="609600" y="333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63444"/>
                </a:solidFill>
                <a:latin typeface="Noto Sans"/>
                <a:ea typeface="Noto Sans"/>
                <a:cs typeface="Noto Sans"/>
              </a:defRPr>
            </a:pPr>
            <a:r>
              <a:rPr sz="3000" b="1">
                <a:solidFill>
                  <a:srgbClr val="163444"/>
                </a:solidFill>
                <a:latin typeface="Noto Sans"/>
                <a:ea typeface="Noto Sans"/>
                <a:cs typeface="Noto Sans"/>
              </a:rPr>
              <a:t>1. Dataset: ba nguồn, một ledger có provenance</a:t>
            </a:r>
          </a:p>
        </p:txBody>
      </p:sp>
      <p:sp>
        <p:nvSpPr>
          <p:cNvPr id="2" name="">
            <a:extLst xmlns:a="http://schemas.openxmlformats.org/drawingml/2006/main">
              <a:ext uri="{FF2B5EF4-FFF2-40B4-BE49-F238E27FC236}">
                <a16:creationId xmlns:a16="http://schemas.microsoft.com/office/drawing/2014/main" id="{50CDACB4-8DFF-49FA-9B6F-8C8C37A43B8E}"/>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r">
              <a:defRPr sz="1125">
                <a:solidFill>
                  <a:srgbClr val="526873"/>
                </a:solidFill>
                <a:latin typeface="Noto Sans"/>
                <a:ea typeface="Noto Sans"/>
                <a:cs typeface="Noto Sans"/>
              </a:defRPr>
            </a:pPr>
            <a:r>
              <a:rPr sz="1125">
                <a:solidFill>
                  <a:srgbClr val="526873"/>
                </a:solidFill>
                <a:latin typeface="Noto Sans"/>
                <a:ea typeface="Noto Sans"/>
                <a:cs typeface="Noto Sans"/>
              </a:rPr>
              <a:t>02</a:t>
            </a:r>
          </a:p>
        </p:txBody>
      </p:sp>
      <p:graphicFrame>
        <p:nvGraphicFramePr>
          <p:cNvPr id="9" name=""/>
          <p:cNvGraphicFramePr/>
          <p:nvPr/>
        </p:nvGraphicFramePr>
        <p:xfrm>
          <a:off xmlns:a="http://schemas.openxmlformats.org/drawingml/2006/main" x="647700" y="1285875"/>
          <a:ext xmlns:a="http://schemas.openxmlformats.org/drawingml/2006/main" cx="10896600" cy="3429000"/>
        </p:xfrm>
        <a:graphic xmlns:a="http://schemas.openxmlformats.org/drawingml/2006/main">
          <a:graphicData uri="http://schemas.openxmlformats.org/drawingml/2006/table">
            <a:tbl>
              <a:tblPr/>
              <a:tblGrid>
                <a:gridCol w="2238375"/>
                <a:gridCol w="1524000"/>
                <a:gridCol w="7134225"/>
              </a:tblGrid>
              <a:tr h="685800">
                <a:tc>
                  <a:txBody>
                    <a:bodyPr>
                      <a:normAutofit/>
                    </a:bodyPr>
                    <a:lstStyle/>
                    <a:p>
                      <a:r>
                        <a:rPr sz="1500" b="1">
                          <a:solidFill>
                            <a:srgbClr val="FFFFFF"/>
                          </a:solidFill>
                          <a:latin typeface="Noto Sans"/>
                          <a:ea typeface="Noto Sans"/>
                          <a:cs typeface="Noto Sans"/>
                        </a:rPr>
                        <a:t>Nguồn</a:t>
                      </a:r>
                    </a:p>
                  </a:txBody>
                  <a:tcPr marL="91440" marR="91440" marT="45720" marB="45720">
                    <a:solidFill>
                      <a:srgbClr val="25495A"/>
                    </a:solidFill>
                  </a:tcPr>
                </a:tc>
                <a:tc>
                  <a:txBody>
                    <a:bodyPr>
                      <a:normAutofit/>
                    </a:bodyPr>
                    <a:lstStyle/>
                    <a:p>
                      <a:r>
                        <a:rPr sz="1500" b="1">
                          <a:solidFill>
                            <a:srgbClr val="FFFFFF"/>
                          </a:solidFill>
                          <a:latin typeface="Noto Sans"/>
                          <a:ea typeface="Noto Sans"/>
                          <a:cs typeface="Noto Sans"/>
                        </a:rPr>
                        <a:t>Ledger</a:t>
                      </a:r>
                    </a:p>
                  </a:txBody>
                  <a:tcPr marL="91440" marR="91440" marT="45720" marB="45720">
                    <a:solidFill>
                      <a:srgbClr val="25495A"/>
                    </a:solidFill>
                  </a:tcPr>
                </a:tc>
                <a:tc>
                  <a:txBody>
                    <a:bodyPr>
                      <a:normAutofit/>
                    </a:bodyPr>
                    <a:lstStyle/>
                    <a:p>
                      <a:r>
                        <a:rPr sz="1500" b="1">
                          <a:solidFill>
                            <a:srgbClr val="FFFFFF"/>
                          </a:solidFill>
                          <a:latin typeface="Noto Sans"/>
                          <a:ea typeface="Noto Sans"/>
                          <a:cs typeface="Noto Sans"/>
                        </a:rPr>
                        <a:t>Đầu vào gốc / label</a:t>
                      </a:r>
                    </a:p>
                  </a:txBody>
                  <a:tcPr marL="91440" marR="91440" marT="45720" marB="45720">
                    <a:solidFill>
                      <a:srgbClr val="25495A"/>
                    </a:solidFill>
                  </a:tcPr>
                </a:tc>
              </a:tr>
              <a:tr h="685800">
                <a:tc>
                  <a:txBody>
                    <a:bodyPr>
                      <a:normAutofit/>
                    </a:bodyPr>
                    <a:lstStyle/>
                    <a:p>
                      <a:r>
                        <a:rPr sz="1425" b="0">
                          <a:solidFill>
                            <a:srgbClr val="163444"/>
                          </a:solidFill>
                          <a:latin typeface="Noto Sans"/>
                          <a:ea typeface="Noto Sans"/>
                          <a:cs typeface="Noto Sans"/>
                        </a:rPr>
                        <a:t>Ma–Li</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340</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Logical QASM gốc; trung bình 3 thời gian Result.time_taken, 1.024 shots</a:t>
                      </a:r>
                    </a:p>
                  </a:txBody>
                  <a:tcPr marL="91440" marR="91440" marT="45720" marB="45720">
                    <a:solidFill>
                      <a:srgbClr val="FFFFFF"/>
                    </a:solidFill>
                  </a:tcPr>
                </a:tc>
              </a:tr>
              <a:tr h="685800">
                <a:tc>
                  <a:txBody>
                    <a:bodyPr>
                      <a:normAutofit/>
                    </a:bodyPr>
                    <a:lstStyle/>
                    <a:p>
                      <a:r>
                        <a:rPr sz="1425" b="0">
                          <a:solidFill>
                            <a:srgbClr val="163444"/>
                          </a:solidFill>
                          <a:latin typeface="Noto Sans"/>
                          <a:ea typeface="Noto Sans"/>
                          <a:cs typeface="Noto Sans"/>
                        </a:rPr>
                        <a:t>Qonductor</a:t>
                      </a:r>
                    </a:p>
                  </a:txBody>
                  <a:tcPr marL="91440" marR="91440" marT="45720" marB="45720">
                    <a:solidFill>
                      <a:srgbClr val="F4F7F8"/>
                    </a:solidFill>
                  </a:tcPr>
                </a:tc>
                <a:tc>
                  <a:txBody>
                    <a:bodyPr>
                      <a:normAutofit/>
                    </a:bodyPr>
                    <a:lstStyle/>
                    <a:p>
                      <a:r>
                        <a:rPr sz="1425" b="0">
                          <a:solidFill>
                            <a:srgbClr val="163444"/>
                          </a:solidFill>
                          <a:latin typeface="Noto Sans"/>
                          <a:ea typeface="Noto Sans"/>
                          <a:cs typeface="Noto Sans"/>
                        </a:rPr>
                        <a:t>4.482</a:t>
                      </a:r>
                    </a:p>
                  </a:txBody>
                  <a:tcPr marL="91440" marR="91440" marT="45720" marB="45720">
                    <a:solidFill>
                      <a:srgbClr val="F4F7F8"/>
                    </a:solidFill>
                  </a:tcPr>
                </a:tc>
                <a:tc>
                  <a:txBody>
                    <a:bodyPr>
                      <a:normAutofit/>
                    </a:bodyPr>
                    <a:lstStyle/>
                    <a:p>
                      <a:r>
                        <a:rPr sz="1425" b="0">
                          <a:solidFill>
                            <a:srgbClr val="163444"/>
                          </a:solidFill>
                          <a:latin typeface="Noto Sans"/>
                          <a:ea typeface="Noto Sans"/>
                          <a:cs typeface="Noto Sans"/>
                        </a:rPr>
                        <a:t>One-circuit jobs; submitted physical QASM và archived service time</a:t>
                      </a:r>
                    </a:p>
                  </a:txBody>
                  <a:tcPr marL="91440" marR="91440" marT="45720" marB="45720">
                    <a:solidFill>
                      <a:srgbClr val="F4F7F8"/>
                    </a:solidFill>
                  </a:tcPr>
                </a:tc>
              </a:tr>
              <a:tr h="685800">
                <a:tc>
                  <a:txBody>
                    <a:bodyPr>
                      <a:normAutofit/>
                    </a:bodyPr>
                    <a:lstStyle/>
                    <a:p>
                      <a:r>
                        <a:rPr sz="1425" b="0">
                          <a:solidFill>
                            <a:srgbClr val="163444"/>
                          </a:solidFill>
                          <a:latin typeface="Noto Sans"/>
                          <a:ea typeface="Noto Sans"/>
                          <a:cs typeface="Noto Sans"/>
                        </a:rPr>
                        <a:t>QPack MCP</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3.945</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Một circuit mỗi QAOA evaluation; 4.096 shots; label gốc đổi ms → s</a:t>
                      </a:r>
                    </a:p>
                  </a:txBody>
                  <a:tcPr marL="91440" marR="91440" marT="45720" marB="45720">
                    <a:solidFill>
                      <a:srgbClr val="FFFFFF"/>
                    </a:solidFill>
                  </a:tcPr>
                </a:tc>
              </a:tr>
              <a:tr h="685800">
                <a:tc>
                  <a:txBody>
                    <a:bodyPr>
                      <a:normAutofit/>
                    </a:bodyPr>
                    <a:lstStyle/>
                    <a:p>
                      <a:r>
                        <a:rPr sz="1425" b="0">
                          <a:solidFill>
                            <a:srgbClr val="163444"/>
                          </a:solidFill>
                          <a:latin typeface="Noto Sans"/>
                          <a:ea typeface="Noto Sans"/>
                          <a:cs typeface="Noto Sans"/>
                        </a:rPr>
                        <a:t>Ledger hợp nhất</a:t>
                      </a:r>
                    </a:p>
                  </a:txBody>
                  <a:tcPr marL="91440" marR="91440" marT="45720" marB="45720">
                    <a:solidFill>
                      <a:srgbClr val="F4F7F8"/>
                    </a:solidFill>
                  </a:tcPr>
                </a:tc>
                <a:tc>
                  <a:txBody>
                    <a:bodyPr>
                      <a:normAutofit/>
                    </a:bodyPr>
                    <a:lstStyle/>
                    <a:p>
                      <a:r>
                        <a:rPr sz="1425" b="0">
                          <a:solidFill>
                            <a:srgbClr val="163444"/>
                          </a:solidFill>
                          <a:latin typeface="Noto Sans"/>
                          <a:ea typeface="Noto Sans"/>
                          <a:cs typeface="Noto Sans"/>
                        </a:rPr>
                        <a:t>8.767</a:t>
                      </a:r>
                    </a:p>
                  </a:txBody>
                  <a:tcPr marL="91440" marR="91440" marT="45720" marB="45720">
                    <a:solidFill>
                      <a:srgbClr val="F4F7F8"/>
                    </a:solidFill>
                  </a:tcPr>
                </a:tc>
                <a:tc>
                  <a:txBody>
                    <a:bodyPr>
                      <a:normAutofit/>
                    </a:bodyPr>
                    <a:lstStyle/>
                    <a:p>
                      <a:r>
                        <a:rPr sz="1425" b="0">
                          <a:solidFill>
                            <a:srgbClr val="163444"/>
                          </a:solidFill>
                          <a:latin typeface="Noto Sans"/>
                          <a:ea typeface="Noto Sans"/>
                          <a:cs typeface="Noto Sans"/>
                        </a:rPr>
                        <a:t>Giữ row ID, nguồn, shots và semantics; không biến label thành cùng một runtime boundary</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2408827A-DE45-4115-8AF1-DF295F258658}"/>
              </a:ext>
            </a:extLst>
          </p:cNvPr>
          <p:cNvSpPr>
            <a:spLocks xmlns:a="http://schemas.openxmlformats.org/drawingml/2006/main" noGrp="1"/>
          </p:cNvSpPr>
          <p:nvPr/>
        </p:nvSpPr>
        <p:spPr>
          <a:xfrm xmlns:a="http://schemas.openxmlformats.org/drawingml/2006/main">
            <a:off x="685800" y="5095875"/>
            <a:ext cx="10810875" cy="628650"/>
          </a:xfrm>
          <a:prstGeom xmlns:a="http://schemas.openxmlformats.org/drawingml/2006/main" prst="roundRect">
            <a:avLst>
              <a:gd name="adj" fmla="val 12121"/>
            </a:avLst>
          </a:prstGeom>
          <a:solidFill xmlns:a="http://schemas.openxmlformats.org/drawingml/2006/main">
            <a:srgbClr val="E4F2F0"/>
          </a:solidFill>
          <a:ln xmlns:a="http://schemas.openxmlformats.org/drawingml/2006/main" w="11430">
            <a:solidFill>
              <a:srgbClr val="007F78"/>
            </a:solidFill>
          </a:ln>
        </p:spPr>
      </p:sp>
      <p:sp>
        <p:nvSpPr>
          <p:cNvPr id="5" name="">
            <a:extLst xmlns:a="http://schemas.openxmlformats.org/drawingml/2006/main">
              <a:ext uri="{FF2B5EF4-FFF2-40B4-BE49-F238E27FC236}">
                <a16:creationId xmlns:a16="http://schemas.microsoft.com/office/drawing/2014/main" id="{783ED502-CCC0-477D-9184-AB56AB85E3A7}"/>
              </a:ext>
            </a:extLst>
          </p:cNvPr>
          <p:cNvSpPr>
            <a:spLocks xmlns:a="http://schemas.openxmlformats.org/drawingml/2006/main" noGrp="1"/>
          </p:cNvSpPr>
          <p:nvPr/>
        </p:nvSpPr>
        <p:spPr>
          <a:xfrm xmlns:a="http://schemas.openxmlformats.org/drawingml/2006/main">
            <a:off x="838200" y="5181600"/>
            <a:ext cx="10506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25495A"/>
                </a:solidFill>
                <a:latin typeface="Noto Sans"/>
                <a:ea typeface="Noto Sans"/>
                <a:cs typeface="Noto Sans"/>
              </a:defRPr>
            </a:pPr>
            <a:r>
              <a:rPr sz="1575" b="1">
                <a:solidFill>
                  <a:srgbClr val="25495A"/>
                </a:solidFill>
                <a:latin typeface="Noto Sans"/>
                <a:ea typeface="Noto Sans"/>
                <a:cs typeface="Noto Sans"/>
              </a:rPr>
              <a:t>Panel QPU hiện tại: Ma–Li 340 + Qonductor 3.065 + QPack 3.945 = 7.350 observations.</a:t>
            </a:r>
          </a:p>
        </p:txBody>
      </p:sp>
      <p:sp>
        <p:nvSpPr>
          <p:cNvPr id="6" name="">
            <a:extLst xmlns:a="http://schemas.openxmlformats.org/drawingml/2006/main">
              <a:ext uri="{FF2B5EF4-FFF2-40B4-BE49-F238E27FC236}">
                <a16:creationId xmlns:a16="http://schemas.microsoft.com/office/drawing/2014/main" id="{D2D101D9-8DB5-4934-930C-72BA47C55B44}"/>
              </a:ext>
            </a:extLst>
          </p:cNvPr>
          <p:cNvSpPr>
            <a:spLocks xmlns:a="http://schemas.openxmlformats.org/drawingml/2006/main" noGrp="1"/>
          </p:cNvSpPr>
          <p:nvPr/>
        </p:nvSpPr>
        <p:spPr>
          <a:xfrm xmlns:a="http://schemas.openxmlformats.org/drawingml/2006/main">
            <a:off x="72390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25495A"/>
                </a:solidFill>
                <a:latin typeface="Noto Sans"/>
                <a:ea typeface="Noto Sans"/>
                <a:cs typeface="Noto Sans"/>
              </a:defRPr>
            </a:pPr>
            <a:r>
              <a:rPr sz="1575">
                <a:solidFill>
                  <a:srgbClr val="25495A"/>
                </a:solidFill>
                <a:latin typeface="Noto Sans"/>
                <a:ea typeface="Noto Sans"/>
                <a:cs typeface="Noto Sans"/>
              </a:rPr>
              <a:t>Simulator local: 204 members / 191 exact-QASM hashes; core 162, frontier 42; q2–q16.</a:t>
            </a:r>
          </a:p>
        </p:txBody>
      </p:sp>
    </p:spTree>
    <p:extLst>
      <p:ext uri="{BB962C8B-B14F-4D97-AF65-F5344CB8AC3E}">
        <p14:creationId xmlns:p14="http://schemas.microsoft.com/office/powerpoint/2010/main" val="425868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CB5667-5865-439B-AA21-9836381427AD}"/>
              </a:ext>
            </a:extLst>
          </p:cNvPr>
          <p:cNvSpPr>
            <a:spLocks xmlns:a="http://schemas.openxmlformats.org/drawingml/2006/main" noGrp="1"/>
          </p:cNvSpPr>
          <p:nvPr/>
        </p:nvSpPr>
        <p:spPr>
          <a:xfrm xmlns:a="http://schemas.openxmlformats.org/drawingml/2006/main">
            <a:off x="609600" y="333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929"/>
          </a:bodyPr>
          <a:lstStyle xmlns:a="http://schemas.openxmlformats.org/drawingml/2006/main"/>
          <a:p xmlns:a="http://schemas.openxmlformats.org/drawingml/2006/main">
            <a:pPr>
              <a:defRPr sz="3000" b="1">
                <a:solidFill>
                  <a:srgbClr val="163444"/>
                </a:solidFill>
                <a:latin typeface="Noto Sans"/>
                <a:ea typeface="Noto Sans"/>
                <a:cs typeface="Noto Sans"/>
              </a:defRPr>
            </a:pPr>
            <a:r>
              <a:rPr sz="3000" b="1">
                <a:solidFill>
                  <a:srgbClr val="163444"/>
                </a:solidFill>
                <a:latin typeface="Noto Sans"/>
                <a:ea typeface="Noto Sans"/>
                <a:cs typeface="Noto Sans"/>
              </a:rPr>
              <a:t>2. Ghép nguồn: circuit input và runtime label là hai việc riêng</a:t>
            </a:r>
          </a:p>
        </p:txBody>
      </p:sp>
      <p:sp>
        <p:nvSpPr>
          <p:cNvPr id="2" name="">
            <a:extLst xmlns:a="http://schemas.openxmlformats.org/drawingml/2006/main">
              <a:ext uri="{FF2B5EF4-FFF2-40B4-BE49-F238E27FC236}">
                <a16:creationId xmlns:a16="http://schemas.microsoft.com/office/drawing/2014/main" id="{A1791656-3104-4A3C-A2F8-F9A8D57A73DF}"/>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r">
              <a:defRPr sz="1125">
                <a:solidFill>
                  <a:srgbClr val="526873"/>
                </a:solidFill>
                <a:latin typeface="Noto Sans"/>
                <a:ea typeface="Noto Sans"/>
                <a:cs typeface="Noto Sans"/>
              </a:defRPr>
            </a:pPr>
            <a:r>
              <a:rPr sz="1125">
                <a:solidFill>
                  <a:srgbClr val="526873"/>
                </a:solidFill>
                <a:latin typeface="Noto Sans"/>
                <a:ea typeface="Noto Sans"/>
                <a:cs typeface="Noto Sans"/>
              </a:rPr>
              <a:t>03</a:t>
            </a:r>
          </a:p>
        </p:txBody>
      </p:sp>
      <p:graphicFrame>
        <p:nvGraphicFramePr>
          <p:cNvPr id="8" name=""/>
          <p:cNvGraphicFramePr/>
          <p:nvPr/>
        </p:nvGraphicFramePr>
        <p:xfrm>
          <a:off xmlns:a="http://schemas.openxmlformats.org/drawingml/2006/main" x="628650" y="1276350"/>
          <a:ext xmlns:a="http://schemas.openxmlformats.org/drawingml/2006/main" cx="10934700" cy="4143375"/>
        </p:xfrm>
        <a:graphic xmlns:a="http://schemas.openxmlformats.org/drawingml/2006/main">
          <a:graphicData uri="http://schemas.openxmlformats.org/drawingml/2006/table">
            <a:tbl>
              <a:tblPr/>
              <a:tblGrid>
                <a:gridCol w="2190750"/>
                <a:gridCol w="4286250"/>
                <a:gridCol w="4457700"/>
              </a:tblGrid>
              <a:tr h="690563">
                <a:tc>
                  <a:txBody>
                    <a:bodyPr>
                      <a:normAutofit/>
                    </a:bodyPr>
                    <a:lstStyle/>
                    <a:p>
                      <a:r>
                        <a:rPr sz="1425" b="1">
                          <a:solidFill>
                            <a:srgbClr val="FFFFFF"/>
                          </a:solidFill>
                          <a:latin typeface="Noto Sans"/>
                          <a:ea typeface="Noto Sans"/>
                          <a:cs typeface="Noto Sans"/>
                        </a:rPr>
                        <a:t>Nguồn</a:t>
                      </a:r>
                    </a:p>
                  </a:txBody>
                  <a:tcPr marL="91440" marR="91440" marT="45720" marB="45720">
                    <a:solidFill>
                      <a:srgbClr val="25495A"/>
                    </a:solidFill>
                  </a:tcPr>
                </a:tc>
                <a:tc>
                  <a:txBody>
                    <a:bodyPr>
                      <a:normAutofit/>
                    </a:bodyPr>
                    <a:lstStyle/>
                    <a:p>
                      <a:r>
                        <a:rPr sz="1425" b="1">
                          <a:solidFill>
                            <a:srgbClr val="FFFFFF"/>
                          </a:solidFill>
                          <a:latin typeface="Noto Sans"/>
                          <a:ea typeface="Noto Sans"/>
                          <a:cs typeface="Noto Sans"/>
                        </a:rPr>
                        <a:t>Cách đưa vào panel</a:t>
                      </a:r>
                    </a:p>
                  </a:txBody>
                  <a:tcPr marL="91440" marR="91440" marT="45720" marB="45720">
                    <a:solidFill>
                      <a:srgbClr val="25495A"/>
                    </a:solidFill>
                  </a:tcPr>
                </a:tc>
                <a:tc>
                  <a:txBody>
                    <a:bodyPr>
                      <a:normAutofit/>
                    </a:bodyPr>
                    <a:lstStyle/>
                    <a:p>
                      <a:r>
                        <a:rPr sz="1425" b="1">
                          <a:solidFill>
                            <a:srgbClr val="FFFFFF"/>
                          </a:solidFill>
                          <a:latin typeface="Noto Sans"/>
                          <a:ea typeface="Noto Sans"/>
                          <a:cs typeface="Noto Sans"/>
                        </a:rPr>
                        <a:t>Giới hạn identity</a:t>
                      </a:r>
                    </a:p>
                  </a:txBody>
                  <a:tcPr marL="91440" marR="91440" marT="45720" marB="45720">
                    <a:solidFill>
                      <a:srgbClr val="25495A"/>
                    </a:solidFill>
                  </a:tcPr>
                </a:tc>
              </a:tr>
              <a:tr h="690563">
                <a:tc>
                  <a:txBody>
                    <a:bodyPr>
                      <a:normAutofit/>
                    </a:bodyPr>
                    <a:lstStyle/>
                    <a:p>
                      <a:r>
                        <a:rPr sz="1350" b="0">
                          <a:solidFill>
                            <a:srgbClr val="163444"/>
                          </a:solidFill>
                          <a:latin typeface="Noto Sans"/>
                          <a:ea typeface="Noto Sans"/>
                          <a:cs typeface="Noto Sans"/>
                        </a:rPr>
                        <a:t>Ma–Li · 340</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Logical QASM nguồn</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Exact logical input; snapshot calibration không được xác nhận là ngày job</a:t>
                      </a:r>
                    </a:p>
                  </a:txBody>
                  <a:tcPr marL="91440" marR="91440" marT="45720" marB="45720">
                    <a:solidFill>
                      <a:srgbClr val="FFFFFF"/>
                    </a:solidFill>
                  </a:tcPr>
                </a:tc>
              </a:tr>
              <a:tr h="690563">
                <a:tc>
                  <a:txBody>
                    <a:bodyPr>
                      <a:normAutofit/>
                    </a:bodyPr>
                    <a:lstStyle/>
                    <a:p>
                      <a:r>
                        <a:rPr sz="1350" b="0">
                          <a:solidFill>
                            <a:srgbClr val="163444"/>
                          </a:solidFill>
                          <a:latin typeface="Noto Sans"/>
                          <a:ea typeface="Noto Sans"/>
                          <a:cs typeface="Noto Sans"/>
                        </a:rPr>
                        <a:t>Qonductor · 230</a:t>
                      </a:r>
                    </a:p>
                  </a:txBody>
                  <a:tcPr marL="91440" marR="91440" marT="45720" marB="45720">
                    <a:solidFill>
                      <a:srgbClr val="F4F7F8"/>
                    </a:solidFill>
                  </a:tcPr>
                </a:tc>
                <a:tc>
                  <a:txBody>
                    <a:bodyPr>
                      <a:normAutofit/>
                    </a:bodyPr>
                    <a:lstStyle/>
                    <a:p>
                      <a:r>
                        <a:rPr sz="1350" b="0">
                          <a:solidFill>
                            <a:srgbClr val="163444"/>
                          </a:solidFill>
                          <a:latin typeface="Noto Sans"/>
                          <a:ea typeface="Noto Sans"/>
                          <a:cs typeface="Noto Sans"/>
                        </a:rPr>
                        <a:t>Archive-supported logical recipe adaptations</a:t>
                      </a:r>
                    </a:p>
                  </a:txBody>
                  <a:tcPr marL="91440" marR="91440" marT="45720" marB="45720">
                    <a:solidFill>
                      <a:srgbClr val="F4F7F8"/>
                    </a:solidFill>
                  </a:tcPr>
                </a:tc>
                <a:tc>
                  <a:txBody>
                    <a:bodyPr>
                      <a:normAutofit/>
                    </a:bodyPr>
                    <a:lstStyle/>
                    <a:p>
                      <a:r>
                        <a:rPr sz="1350" b="0">
                          <a:solidFill>
                            <a:srgbClr val="163444"/>
                          </a:solidFill>
                          <a:latin typeface="Noto Sans"/>
                          <a:ea typeface="Noto Sans"/>
                          <a:cs typeface="Noto Sans"/>
                        </a:rPr>
                        <a:t>Đối chiếu archive, không chứng minh đúng instance logical lịch sử</a:t>
                      </a:r>
                    </a:p>
                  </a:txBody>
                  <a:tcPr marL="91440" marR="91440" marT="45720" marB="45720">
                    <a:solidFill>
                      <a:srgbClr val="F4F7F8"/>
                    </a:solidFill>
                  </a:tcPr>
                </a:tc>
              </a:tr>
              <a:tr h="690563">
                <a:tc>
                  <a:txBody>
                    <a:bodyPr>
                      <a:normAutofit/>
                    </a:bodyPr>
                    <a:lstStyle/>
                    <a:p>
                      <a:r>
                        <a:rPr sz="1350" b="0">
                          <a:solidFill>
                            <a:srgbClr val="163444"/>
                          </a:solidFill>
                          <a:latin typeface="Noto Sans"/>
                          <a:ea typeface="Noto Sans"/>
                          <a:cs typeface="Noto Sans"/>
                        </a:rPr>
                        <a:t>Qonductor · 2.835</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Candidate-recipe sensitivity</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Family/recipe candidate chưa xác minh exact instance</a:t>
                      </a:r>
                    </a:p>
                  </a:txBody>
                  <a:tcPr marL="91440" marR="91440" marT="45720" marB="45720">
                    <a:solidFill>
                      <a:srgbClr val="FFFFFF"/>
                    </a:solidFill>
                  </a:tcPr>
                </a:tc>
              </a:tr>
              <a:tr h="690563">
                <a:tc>
                  <a:txBody>
                    <a:bodyPr>
                      <a:normAutofit/>
                    </a:bodyPr>
                    <a:lstStyle/>
                    <a:p>
                      <a:r>
                        <a:rPr sz="1350" b="0">
                          <a:solidFill>
                            <a:srgbClr val="163444"/>
                          </a:solidFill>
                          <a:latin typeface="Noto Sans"/>
                          <a:ea typeface="Noto Sans"/>
                          <a:cs typeface="Noto Sans"/>
                        </a:rPr>
                        <a:t>Qonductor · 1.417</a:t>
                      </a:r>
                    </a:p>
                  </a:txBody>
                  <a:tcPr marL="91440" marR="91440" marT="45720" marB="45720">
                    <a:solidFill>
                      <a:srgbClr val="F4F7F8"/>
                    </a:solidFill>
                  </a:tcPr>
                </a:tc>
                <a:tc>
                  <a:txBody>
                    <a:bodyPr>
                      <a:normAutofit/>
                    </a:bodyPr>
                    <a:lstStyle/>
                    <a:p>
                      <a:r>
                        <a:rPr sz="1350" b="0">
                          <a:solidFill>
                            <a:srgbClr val="163444"/>
                          </a:solidFill>
                          <a:latin typeface="Noto Sans"/>
                          <a:ea typeface="Noto Sans"/>
                          <a:cs typeface="Noto Sans"/>
                        </a:rPr>
                        <a:t>Ngoài logical panel hiện tại</a:t>
                      </a:r>
                    </a:p>
                  </a:txBody>
                  <a:tcPr marL="91440" marR="91440" marT="45720" marB="45720">
                    <a:solidFill>
                      <a:srgbClr val="F4F7F8"/>
                    </a:solidFill>
                  </a:tcPr>
                </a:tc>
                <a:tc>
                  <a:txBody>
                    <a:bodyPr>
                      <a:normAutofit/>
                    </a:bodyPr>
                    <a:lstStyle/>
                    <a:p>
                      <a:r>
                        <a:rPr sz="1350" b="0">
                          <a:solidFill>
                            <a:srgbClr val="163444"/>
                          </a:solidFill>
                          <a:latin typeface="Noto Sans"/>
                          <a:ea typeface="Noto Sans"/>
                          <a:cs typeface="Noto Sans"/>
                        </a:rPr>
                        <a:t>Giữ compiled evidence cũ; không gán logical circuit</a:t>
                      </a:r>
                    </a:p>
                  </a:txBody>
                  <a:tcPr marL="91440" marR="91440" marT="45720" marB="45720">
                    <a:solidFill>
                      <a:srgbClr val="F4F7F8"/>
                    </a:solidFill>
                  </a:tcPr>
                </a:tc>
              </a:tr>
              <a:tr h="690563">
                <a:tc>
                  <a:txBody>
                    <a:bodyPr>
                      <a:normAutofit/>
                    </a:bodyPr>
                    <a:lstStyle/>
                    <a:p>
                      <a:r>
                        <a:rPr sz="1350" b="0">
                          <a:solidFill>
                            <a:srgbClr val="163444"/>
                          </a:solidFill>
                          <a:latin typeface="Noto Sans"/>
                          <a:ea typeface="Noto Sans"/>
                          <a:cs typeface="Noto Sans"/>
                        </a:rPr>
                        <a:t>QPack · 3.945</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6 cấu trúc QAOA tái dựng, góc đại diện</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Thiếu góc tối ưu, submitted QASM và routing gốc</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956458A-5E80-4B07-9BD1-9DE035D3637A}"/>
              </a:ext>
            </a:extLst>
          </p:cNvPr>
          <p:cNvSpPr>
            <a:spLocks xmlns:a="http://schemas.openxmlformats.org/drawingml/2006/main" noGrp="1"/>
          </p:cNvSpPr>
          <p:nvPr/>
        </p:nvSpPr>
        <p:spPr>
          <a:xfrm xmlns:a="http://schemas.openxmlformats.org/drawingml/2006/main">
            <a:off x="685800" y="5715000"/>
            <a:ext cx="10810875" cy="552450"/>
          </a:xfrm>
          <a:prstGeom xmlns:a="http://schemas.openxmlformats.org/drawingml/2006/main" prst="roundRect">
            <a:avLst>
              <a:gd name="adj" fmla="val 13793"/>
            </a:avLst>
          </a:prstGeom>
          <a:solidFill xmlns:a="http://schemas.openxmlformats.org/drawingml/2006/main">
            <a:srgbClr val="E4F2F0"/>
          </a:solidFill>
          <a:ln xmlns:a="http://schemas.openxmlformats.org/drawingml/2006/main" w="11430">
            <a:solidFill>
              <a:srgbClr val="007F78"/>
            </a:solidFill>
          </a:ln>
        </p:spPr>
      </p:sp>
      <p:sp>
        <p:nvSpPr>
          <p:cNvPr id="5" name="">
            <a:extLst xmlns:a="http://schemas.openxmlformats.org/drawingml/2006/main">
              <a:ext uri="{FF2B5EF4-FFF2-40B4-BE49-F238E27FC236}">
                <a16:creationId xmlns:a16="http://schemas.microsoft.com/office/drawing/2014/main" id="{E69BFF32-8A27-4F7B-BF4A-A75BA22D7068}"/>
              </a:ext>
            </a:extLst>
          </p:cNvPr>
          <p:cNvSpPr>
            <a:spLocks xmlns:a="http://schemas.openxmlformats.org/drawingml/2006/main" noGrp="1"/>
          </p:cNvSpPr>
          <p:nvPr/>
        </p:nvSpPr>
        <p:spPr>
          <a:xfrm xmlns:a="http://schemas.openxmlformats.org/drawingml/2006/main">
            <a:off x="838200" y="5800725"/>
            <a:ext cx="10506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25495A"/>
                </a:solidFill>
                <a:latin typeface="Noto Sans"/>
                <a:ea typeface="Noto Sans"/>
                <a:cs typeface="Noto Sans"/>
              </a:defRPr>
            </a:pPr>
            <a:r>
              <a:rPr sz="1650" b="1">
                <a:solidFill>
                  <a:srgbClr val="25495A"/>
                </a:solidFill>
                <a:latin typeface="Noto Sans"/>
                <a:ea typeface="Noto Sans"/>
                <a:cs typeface="Noto Sans"/>
              </a:rPr>
              <a:t>Không có circuit reconstruction nào thay thế archived runtime label.</a:t>
            </a:r>
          </a:p>
        </p:txBody>
      </p:sp>
    </p:spTree>
    <p:extLst>
      <p:ext uri="{BB962C8B-B14F-4D97-AF65-F5344CB8AC3E}">
        <p14:creationId xmlns:p14="http://schemas.microsoft.com/office/powerpoint/2010/main" val="3843818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C7BF5F-065A-40D8-852D-6358E6F9B646}"/>
              </a:ext>
            </a:extLst>
          </p:cNvPr>
          <p:cNvSpPr>
            <a:spLocks xmlns:a="http://schemas.openxmlformats.org/drawingml/2006/main" noGrp="1"/>
          </p:cNvSpPr>
          <p:nvPr/>
        </p:nvSpPr>
        <p:spPr>
          <a:xfrm xmlns:a="http://schemas.openxmlformats.org/drawingml/2006/main">
            <a:off x="609600" y="333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274"/>
          </a:bodyPr>
          <a:lstStyle xmlns:a="http://schemas.openxmlformats.org/drawingml/2006/main"/>
          <a:p xmlns:a="http://schemas.openxmlformats.org/drawingml/2006/main">
            <a:pPr>
              <a:defRPr sz="3000" b="1">
                <a:solidFill>
                  <a:srgbClr val="163444"/>
                </a:solidFill>
                <a:latin typeface="Noto Sans"/>
                <a:ea typeface="Noto Sans"/>
                <a:cs typeface="Noto Sans"/>
              </a:defRPr>
            </a:pPr>
            <a:r>
              <a:rPr sz="3000" b="1">
                <a:solidFill>
                  <a:srgbClr val="163444"/>
                </a:solidFill>
                <a:latin typeface="Noto Sans"/>
                <a:ea typeface="Noto Sans"/>
                <a:cs typeface="Noto Sans"/>
              </a:rPr>
              <a:t>3. Giao thức: cùng test rows, nhưng method giữ input riêng</a:t>
            </a:r>
          </a:p>
        </p:txBody>
      </p:sp>
      <p:sp>
        <p:nvSpPr>
          <p:cNvPr id="2" name="">
            <a:extLst xmlns:a="http://schemas.openxmlformats.org/drawingml/2006/main">
              <a:ext uri="{FF2B5EF4-FFF2-40B4-BE49-F238E27FC236}">
                <a16:creationId xmlns:a16="http://schemas.microsoft.com/office/drawing/2014/main" id="{6BC1FFB0-153B-4033-BA19-3B029E5203B8}"/>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r">
              <a:defRPr sz="1125">
                <a:solidFill>
                  <a:srgbClr val="526873"/>
                </a:solidFill>
                <a:latin typeface="Noto Sans"/>
                <a:ea typeface="Noto Sans"/>
                <a:cs typeface="Noto Sans"/>
              </a:defRPr>
            </a:pPr>
            <a:r>
              <a:rPr sz="1125">
                <a:solidFill>
                  <a:srgbClr val="526873"/>
                </a:solidFill>
                <a:latin typeface="Noto Sans"/>
                <a:ea typeface="Noto Sans"/>
                <a:cs typeface="Noto Sans"/>
              </a:rPr>
              <a:t>04</a:t>
            </a:r>
          </a:p>
        </p:txBody>
      </p:sp>
      <p:graphicFrame>
        <p:nvGraphicFramePr>
          <p:cNvPr id="8" name=""/>
          <p:cNvGraphicFramePr/>
          <p:nvPr/>
        </p:nvGraphicFramePr>
        <p:xfrm>
          <a:off xmlns:a="http://schemas.openxmlformats.org/drawingml/2006/main" x="666750" y="1333500"/>
          <a:ext xmlns:a="http://schemas.openxmlformats.org/drawingml/2006/main" cx="10858500" cy="4000500"/>
        </p:xfrm>
        <a:graphic xmlns:a="http://schemas.openxmlformats.org/drawingml/2006/main">
          <a:graphicData uri="http://schemas.openxmlformats.org/drawingml/2006/table">
            <a:tbl>
              <a:tblPr/>
              <a:tblGrid>
                <a:gridCol w="2381250"/>
                <a:gridCol w="8477250"/>
              </a:tblGrid>
              <a:tr h="571500">
                <a:tc>
                  <a:txBody>
                    <a:bodyPr>
                      <a:normAutofit/>
                    </a:bodyPr>
                    <a:lstStyle/>
                    <a:p>
                      <a:r>
                        <a:rPr sz="1500" b="1">
                          <a:solidFill>
                            <a:srgbClr val="FFFFFF"/>
                          </a:solidFill>
                          <a:latin typeface="Noto Sans"/>
                          <a:ea typeface="Noto Sans"/>
                          <a:cs typeface="Noto Sans"/>
                        </a:rPr>
                        <a:t>Thành phần</a:t>
                      </a:r>
                    </a:p>
                  </a:txBody>
                  <a:tcPr marL="91440" marR="91440" marT="45720" marB="45720">
                    <a:solidFill>
                      <a:srgbClr val="25495A"/>
                    </a:solidFill>
                  </a:tcPr>
                </a:tc>
                <a:tc>
                  <a:txBody>
                    <a:bodyPr>
                      <a:normAutofit/>
                    </a:bodyPr>
                    <a:lstStyle/>
                    <a:p>
                      <a:r>
                        <a:rPr sz="1500" b="1">
                          <a:solidFill>
                            <a:srgbClr val="FFFFFF"/>
                          </a:solidFill>
                          <a:latin typeface="Noto Sans"/>
                          <a:ea typeface="Noto Sans"/>
                          <a:cs typeface="Noto Sans"/>
                        </a:rPr>
                        <a:t>Quy định đã dùng</a:t>
                      </a:r>
                    </a:p>
                  </a:txBody>
                  <a:tcPr marL="91440" marR="91440" marT="45720" marB="45720">
                    <a:solidFill>
                      <a:srgbClr val="25495A"/>
                    </a:solidFill>
                  </a:tcPr>
                </a:tc>
              </a:tr>
              <a:tr h="571500">
                <a:tc>
                  <a:txBody>
                    <a:bodyPr>
                      <a:normAutofit/>
                    </a:bodyPr>
                    <a:lstStyle/>
                    <a:p>
                      <a:r>
                        <a:rPr sz="1350" b="0">
                          <a:solidFill>
                            <a:srgbClr val="163444"/>
                          </a:solidFill>
                          <a:latin typeface="Noto Sans"/>
                          <a:ea typeface="Noto Sans"/>
                          <a:cs typeface="Noto Sans"/>
                        </a:rPr>
                        <a:t>Nhóm / split</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206 transitive groups; grouped 5 outer folds, 4 inner folds</a:t>
                      </a:r>
                    </a:p>
                  </a:txBody>
                  <a:tcPr marL="91440" marR="91440" marT="45720" marB="45720">
                    <a:solidFill>
                      <a:srgbClr val="FFFFFF"/>
                    </a:solidFill>
                  </a:tcPr>
                </a:tc>
              </a:tr>
              <a:tr h="571500">
                <a:tc>
                  <a:txBody>
                    <a:bodyPr>
                      <a:normAutofit/>
                    </a:bodyPr>
                    <a:lstStyle/>
                    <a:p>
                      <a:r>
                        <a:rPr sz="1350" b="0">
                          <a:solidFill>
                            <a:srgbClr val="163444"/>
                          </a:solidFill>
                          <a:latin typeface="Noto Sans"/>
                          <a:ea typeface="Noto Sans"/>
                          <a:cs typeface="Noto Sans"/>
                        </a:rPr>
                        <a:t>Graph và MLP</a:t>
                      </a:r>
                    </a:p>
                  </a:txBody>
                  <a:tcPr marL="91440" marR="91440" marT="45720" marB="45720">
                    <a:solidFill>
                      <a:srgbClr val="F4F7F8"/>
                    </a:solidFill>
                  </a:tcPr>
                </a:tc>
                <a:tc>
                  <a:txBody>
                    <a:bodyPr>
                      <a:normAutofit/>
                    </a:bodyPr>
                    <a:lstStyle/>
                    <a:p>
                      <a:r>
                        <a:rPr sz="1350" b="0">
                          <a:solidFill>
                            <a:srgbClr val="163444"/>
                          </a:solidFill>
                          <a:latin typeface="Noto Sans"/>
                          <a:ea typeface="Noto Sans"/>
                          <a:cs typeface="Noto Sans"/>
                        </a:rPr>
                        <a:t>Inner folds 1–3 fit; inner fold 0 chọn epoch trong 500 epoch; không refit validation</a:t>
                      </a:r>
                    </a:p>
                  </a:txBody>
                  <a:tcPr marL="91440" marR="91440" marT="45720" marB="45720">
                    <a:solidFill>
                      <a:srgbClr val="F4F7F8"/>
                    </a:solidFill>
                  </a:tcPr>
                </a:tc>
              </a:tr>
              <a:tr h="571500">
                <a:tc>
                  <a:txBody>
                    <a:bodyPr>
                      <a:normAutofit/>
                    </a:bodyPr>
                    <a:lstStyle/>
                    <a:p>
                      <a:r>
                        <a:rPr sz="1350" b="0">
                          <a:solidFill>
                            <a:srgbClr val="163444"/>
                          </a:solidFill>
                          <a:latin typeface="Noto Sans"/>
                          <a:ea typeface="Noto Sans"/>
                          <a:cs typeface="Noto Sans"/>
                        </a:rPr>
                        <a:t>Seeds</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42, 1234, 31415; lấy median prediction theo row</a:t>
                      </a:r>
                    </a:p>
                  </a:txBody>
                  <a:tcPr marL="91440" marR="91440" marT="45720" marB="45720">
                    <a:solidFill>
                      <a:srgbClr val="FFFFFF"/>
                    </a:solidFill>
                  </a:tcPr>
                </a:tc>
              </a:tr>
              <a:tr h="571500">
                <a:tc>
                  <a:txBody>
                    <a:bodyPr>
                      <a:normAutofit/>
                    </a:bodyPr>
                    <a:lstStyle/>
                    <a:p>
                      <a:r>
                        <a:rPr sz="1350" b="0">
                          <a:solidFill>
                            <a:srgbClr val="163444"/>
                          </a:solidFill>
                          <a:latin typeface="Noto Sans"/>
                          <a:ea typeface="Noto Sans"/>
                          <a:cs typeface="Noto Sans"/>
                        </a:rPr>
                        <a:t>Graph inputs</a:t>
                      </a:r>
                    </a:p>
                  </a:txBody>
                  <a:tcPr marL="91440" marR="91440" marT="45720" marB="45720">
                    <a:solidFill>
                      <a:srgbClr val="F4F7F8"/>
                    </a:solidFill>
                  </a:tcPr>
                </a:tc>
                <a:tc>
                  <a:txBody>
                    <a:bodyPr>
                      <a:normAutofit/>
                    </a:bodyPr>
                    <a:lstStyle/>
                    <a:p>
                      <a:r>
                        <a:rPr sz="1350" b="0">
                          <a:solidFill>
                            <a:srgbClr val="163444"/>
                          </a:solidFill>
                          <a:latin typeface="Noto Sans"/>
                          <a:ea typeface="Noto Sans"/>
                          <a:cs typeface="Noto Sans"/>
                        </a:rPr>
                        <a:t>178 node fields (167 biến thiên) + 40 global fields; nominal-index T1/T2</a:t>
                      </a:r>
                    </a:p>
                  </a:txBody>
                  <a:tcPr marL="91440" marR="91440" marT="45720" marB="45720">
                    <a:solidFill>
                      <a:srgbClr val="F4F7F8"/>
                    </a:solidFill>
                  </a:tcPr>
                </a:tc>
              </a:tr>
              <a:tr h="571500">
                <a:tc>
                  <a:txBody>
                    <a:bodyPr>
                      <a:normAutofit/>
                    </a:bodyPr>
                    <a:lstStyle/>
                    <a:p>
                      <a:r>
                        <a:rPr sz="1350" b="0">
                          <a:solidFill>
                            <a:srgbClr val="163444"/>
                          </a:solidFill>
                          <a:latin typeface="Noto Sans"/>
                          <a:ea typeface="Noto Sans"/>
                          <a:cs typeface="Noto Sans"/>
                        </a:rPr>
                        <a:t>Polynomial inputs</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CX/CZ/ECR count (upstream tên swap), stack-depth, touched width, shots, circuit_count=1</a:t>
                      </a:r>
                    </a:p>
                  </a:txBody>
                  <a:tcPr marL="91440" marR="91440" marT="45720" marB="45720">
                    <a:solidFill>
                      <a:srgbClr val="FFFFFF"/>
                    </a:solidFill>
                  </a:tcPr>
                </a:tc>
              </a:tr>
              <a:tr h="571500">
                <a:tc>
                  <a:txBody>
                    <a:bodyPr>
                      <a:normAutofit/>
                    </a:bodyPr>
                    <a:lstStyle/>
                    <a:p>
                      <a:r>
                        <a:rPr sz="1350" b="0">
                          <a:solidFill>
                            <a:srgbClr val="163444"/>
                          </a:solidFill>
                          <a:latin typeface="Noto Sans"/>
                          <a:ea typeface="Noto Sans"/>
                          <a:cs typeface="Noto Sans"/>
                        </a:rPr>
                        <a:t>Không dùng</a:t>
                      </a:r>
                    </a:p>
                  </a:txBody>
                  <a:tcPr marL="91440" marR="91440" marT="45720" marB="45720">
                    <a:solidFill>
                      <a:srgbClr val="F4F7F8"/>
                    </a:solidFill>
                  </a:tcPr>
                </a:tc>
                <a:tc>
                  <a:txBody>
                    <a:bodyPr>
                      <a:normAutofit/>
                    </a:bodyPr>
                    <a:lstStyle/>
                    <a:p>
                      <a:r>
                        <a:rPr sz="1350" b="0">
                          <a:solidFill>
                            <a:srgbClr val="163444"/>
                          </a:solidFill>
                          <a:latin typeface="Noto Sans"/>
                          <a:ea typeface="Noto Sans"/>
                          <a:cs typeface="Noto Sans"/>
                        </a:rPr>
                        <a:t>Source/backend ID, shots ngoài polynomial, gate error/duration trong graph; không trộn clocks</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CD535C5C-CBE7-43DB-97C4-7BCE2B4D6D68}"/>
              </a:ext>
            </a:extLst>
          </p:cNvPr>
          <p:cNvSpPr>
            <a:spLocks xmlns:a="http://schemas.openxmlformats.org/drawingml/2006/main" noGrp="1"/>
          </p:cNvSpPr>
          <p:nvPr/>
        </p:nvSpPr>
        <p:spPr>
          <a:xfrm xmlns:a="http://schemas.openxmlformats.org/drawingml/2006/main">
            <a:off x="723900" y="5619750"/>
            <a:ext cx="10744200" cy="628650"/>
          </a:xfrm>
          <a:prstGeom xmlns:a="http://schemas.openxmlformats.org/drawingml/2006/main" prst="roundRect">
            <a:avLst>
              <a:gd name="adj" fmla="val 12121"/>
            </a:avLst>
          </a:prstGeom>
          <a:solidFill xmlns:a="http://schemas.openxmlformats.org/drawingml/2006/main">
            <a:srgbClr val="E4F2F0"/>
          </a:solidFill>
          <a:ln xmlns:a="http://schemas.openxmlformats.org/drawingml/2006/main" w="11430">
            <a:solidFill>
              <a:srgbClr val="007F78"/>
            </a:solidFill>
          </a:ln>
        </p:spPr>
      </p:sp>
      <p:sp>
        <p:nvSpPr>
          <p:cNvPr id="5" name="">
            <a:extLst xmlns:a="http://schemas.openxmlformats.org/drawingml/2006/main">
              <a:ext uri="{FF2B5EF4-FFF2-40B4-BE49-F238E27FC236}">
                <a16:creationId xmlns:a16="http://schemas.microsoft.com/office/drawing/2014/main" id="{9B788F32-52AD-4145-9D9A-49B9268C8FF4}"/>
              </a:ext>
            </a:extLst>
          </p:cNvPr>
          <p:cNvSpPr>
            <a:spLocks xmlns:a="http://schemas.openxmlformats.org/drawingml/2006/main" noGrp="1"/>
          </p:cNvSpPr>
          <p:nvPr/>
        </p:nvSpPr>
        <p:spPr>
          <a:xfrm xmlns:a="http://schemas.openxmlformats.org/drawingml/2006/main">
            <a:off x="876300" y="5705475"/>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25495A"/>
                </a:solidFill>
                <a:latin typeface="Noto Sans"/>
                <a:ea typeface="Noto Sans"/>
                <a:cs typeface="Noto Sans"/>
              </a:defRPr>
            </a:pPr>
            <a:r>
              <a:rPr sz="1575" b="1">
                <a:solidFill>
                  <a:srgbClr val="25495A"/>
                </a:solidFill>
                <a:latin typeface="Noto Sans"/>
                <a:ea typeface="Noto Sans"/>
                <a:cs typeface="Noto Sans"/>
              </a:rPr>
              <a:t>Cùng outer test rows không đồng nghĩa cùng feature contract hoặc faithful reproduction.</a:t>
            </a:r>
          </a:p>
        </p:txBody>
      </p:sp>
    </p:spTree>
    <p:extLst>
      <p:ext uri="{BB962C8B-B14F-4D97-AF65-F5344CB8AC3E}">
        <p14:creationId xmlns:p14="http://schemas.microsoft.com/office/powerpoint/2010/main" val="6264658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1A1929-7388-4413-9CFB-DB84429F4928}"/>
              </a:ext>
            </a:extLst>
          </p:cNvPr>
          <p:cNvSpPr>
            <a:spLocks xmlns:a="http://schemas.openxmlformats.org/drawingml/2006/main" noGrp="1"/>
          </p:cNvSpPr>
          <p:nvPr/>
        </p:nvSpPr>
        <p:spPr>
          <a:xfrm xmlns:a="http://schemas.openxmlformats.org/drawingml/2006/main">
            <a:off x="609600" y="333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63444"/>
                </a:solidFill>
                <a:latin typeface="Noto Sans"/>
                <a:ea typeface="Noto Sans"/>
                <a:cs typeface="Noto Sans"/>
              </a:defRPr>
            </a:pPr>
            <a:r>
              <a:rPr sz="3000" b="1">
                <a:solidFill>
                  <a:srgbClr val="163444"/>
                </a:solidFill>
                <a:latin typeface="Noto Sans"/>
                <a:ea typeface="Noto Sans"/>
                <a:cs typeface="Noto Sans"/>
              </a:rPr>
              <a:t>4. Real QPU: kết quả learned trên 7.350 rows</a:t>
            </a:r>
          </a:p>
        </p:txBody>
      </p:sp>
      <p:sp>
        <p:nvSpPr>
          <p:cNvPr id="2" name="">
            <a:extLst xmlns:a="http://schemas.openxmlformats.org/drawingml/2006/main">
              <a:ext uri="{FF2B5EF4-FFF2-40B4-BE49-F238E27FC236}">
                <a16:creationId xmlns:a16="http://schemas.microsoft.com/office/drawing/2014/main" id="{CB65A905-5CFA-48C9-AB1E-4645BE316E28}"/>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r">
              <a:defRPr sz="1125">
                <a:solidFill>
                  <a:srgbClr val="526873"/>
                </a:solidFill>
                <a:latin typeface="Noto Sans"/>
                <a:ea typeface="Noto Sans"/>
                <a:cs typeface="Noto Sans"/>
              </a:defRPr>
            </a:pPr>
            <a:r>
              <a:rPr sz="1125">
                <a:solidFill>
                  <a:srgbClr val="526873"/>
                </a:solidFill>
                <a:latin typeface="Noto Sans"/>
                <a:ea typeface="Noto Sans"/>
                <a:cs typeface="Noto Sans"/>
              </a:rPr>
              <a:t>05</a:t>
            </a:r>
          </a:p>
        </p:txBody>
      </p:sp>
      <p:graphicFrame>
        <p:nvGraphicFramePr>
          <p:cNvPr id="11" name=""/>
          <p:cNvGraphicFramePr/>
          <p:nvPr/>
        </p:nvGraphicFramePr>
        <p:xfrm>
          <a:off xmlns:a="http://schemas.openxmlformats.org/drawingml/2006/main" x="819150" y="1476375"/>
          <a:ext xmlns:a="http://schemas.openxmlformats.org/drawingml/2006/main" cx="10553700" cy="2428875"/>
        </p:xfrm>
        <a:graphic xmlns:a="http://schemas.openxmlformats.org/drawingml/2006/main">
          <a:graphicData uri="http://schemas.openxmlformats.org/drawingml/2006/table">
            <a:tbl>
              <a:tblPr/>
              <a:tblGrid>
                <a:gridCol w="4857750"/>
                <a:gridCol w="2190750"/>
                <a:gridCol w="1714500"/>
                <a:gridCol w="1790700"/>
              </a:tblGrid>
              <a:tr h="607219">
                <a:tc>
                  <a:txBody>
                    <a:bodyPr>
                      <a:normAutofit/>
                    </a:bodyPr>
                    <a:lstStyle/>
                    <a:p>
                      <a:r>
                        <a:rPr sz="1575" b="1">
                          <a:solidFill>
                            <a:srgbClr val="FFFFFF"/>
                          </a:solidFill>
                          <a:latin typeface="Noto Sans"/>
                          <a:ea typeface="Noto Sans"/>
                          <a:cs typeface="Noto Sans"/>
                        </a:rPr>
                        <a:t>Method</a:t>
                      </a:r>
                    </a:p>
                  </a:txBody>
                  <a:tcPr marL="91440" marR="91440" marT="45720" marB="45720">
                    <a:solidFill>
                      <a:srgbClr val="25495A"/>
                    </a:solidFill>
                  </a:tcPr>
                </a:tc>
                <a:tc>
                  <a:txBody>
                    <a:bodyPr>
                      <a:normAutofit/>
                    </a:bodyPr>
                    <a:lstStyle/>
                    <a:p>
                      <a:r>
                        <a:rPr sz="1575" b="1">
                          <a:solidFill>
                            <a:srgbClr val="FFFFFF"/>
                          </a:solidFill>
                          <a:latin typeface="Noto Sans"/>
                          <a:ea typeface="Noto Sans"/>
                          <a:cs typeface="Noto Sans"/>
                        </a:rPr>
                        <a:t>Dự đoán / panel</a:t>
                      </a:r>
                    </a:p>
                  </a:txBody>
                  <a:tcPr marL="91440" marR="91440" marT="45720" marB="45720">
                    <a:solidFill>
                      <a:srgbClr val="25495A"/>
                    </a:solidFill>
                  </a:tcPr>
                </a:tc>
                <a:tc>
                  <a:txBody>
                    <a:bodyPr>
                      <a:normAutofit/>
                    </a:bodyPr>
                    <a:lstStyle/>
                    <a:p>
                      <a:r>
                        <a:rPr sz="1575" b="1">
                          <a:solidFill>
                            <a:srgbClr val="FFFFFF"/>
                          </a:solidFill>
                          <a:latin typeface="Noto Sans"/>
                          <a:ea typeface="Noto Sans"/>
                          <a:cs typeface="Noto Sans"/>
                        </a:rPr>
                        <a:t>MAE (s)</a:t>
                      </a:r>
                    </a:p>
                  </a:txBody>
                  <a:tcPr marL="91440" marR="91440" marT="45720" marB="45720">
                    <a:solidFill>
                      <a:srgbClr val="25495A"/>
                    </a:solidFill>
                  </a:tcPr>
                </a:tc>
                <a:tc>
                  <a:txBody>
                    <a:bodyPr>
                      <a:normAutofit/>
                    </a:bodyPr>
                    <a:lstStyle/>
                    <a:p>
                      <a:r>
                        <a:rPr sz="1575" b="1">
                          <a:solidFill>
                            <a:srgbClr val="FFFFFF"/>
                          </a:solidFill>
                          <a:latin typeface="Noto Sans"/>
                          <a:ea typeface="Noto Sans"/>
                          <a:cs typeface="Noto Sans"/>
                        </a:rPr>
                        <a:t>R²</a:t>
                      </a:r>
                    </a:p>
                  </a:txBody>
                  <a:tcPr marL="91440" marR="91440" marT="45720" marB="45720">
                    <a:solidFill>
                      <a:srgbClr val="25495A"/>
                    </a:solidFill>
                  </a:tcPr>
                </a:tc>
              </a:tr>
              <a:tr h="607219">
                <a:tc>
                  <a:txBody>
                    <a:bodyPr>
                      <a:normAutofit/>
                    </a:bodyPr>
                    <a:lstStyle/>
                    <a:p>
                      <a:r>
                        <a:rPr sz="1575" b="0">
                          <a:solidFill>
                            <a:srgbClr val="163444"/>
                          </a:solidFill>
                          <a:latin typeface="Noto Sans"/>
                          <a:ea typeface="Noto Sans"/>
                          <a:cs typeface="Noto Sans"/>
                        </a:rPr>
                        <a:t>Ma–Li-style graph adaptation</a:t>
                      </a:r>
                    </a:p>
                  </a:txBody>
                  <a:tcPr marL="91440" marR="91440" marT="45720" marB="45720">
                    <a:solidFill>
                      <a:srgbClr val="FFFFFF"/>
                    </a:solidFill>
                  </a:tcPr>
                </a:tc>
                <a:tc>
                  <a:txBody>
                    <a:bodyPr>
                      <a:normAutofit/>
                    </a:bodyPr>
                    <a:lstStyle/>
                    <a:p>
                      <a:r>
                        <a:rPr sz="1575" b="0">
                          <a:solidFill>
                            <a:srgbClr val="163444"/>
                          </a:solidFill>
                          <a:latin typeface="Noto Sans"/>
                          <a:ea typeface="Noto Sans"/>
                          <a:cs typeface="Noto Sans"/>
                        </a:rPr>
                        <a:t>7.350 / 7.350</a:t>
                      </a:r>
                    </a:p>
                  </a:txBody>
                  <a:tcPr marL="91440" marR="91440" marT="45720" marB="45720">
                    <a:solidFill>
                      <a:srgbClr val="FFFFFF"/>
                    </a:solidFill>
                  </a:tcPr>
                </a:tc>
                <a:tc>
                  <a:txBody>
                    <a:bodyPr>
                      <a:normAutofit/>
                    </a:bodyPr>
                    <a:lstStyle/>
                    <a:p>
                      <a:r>
                        <a:rPr sz="1575" b="0">
                          <a:solidFill>
                            <a:srgbClr val="163444"/>
                          </a:solidFill>
                          <a:latin typeface="Noto Sans"/>
                          <a:ea typeface="Noto Sans"/>
                          <a:cs typeface="Noto Sans"/>
                        </a:rPr>
                        <a:t>1.219</a:t>
                      </a:r>
                    </a:p>
                  </a:txBody>
                  <a:tcPr marL="91440" marR="91440" marT="45720" marB="45720">
                    <a:solidFill>
                      <a:srgbClr val="FFFFFF"/>
                    </a:solidFill>
                  </a:tcPr>
                </a:tc>
                <a:tc>
                  <a:txBody>
                    <a:bodyPr>
                      <a:normAutofit/>
                    </a:bodyPr>
                    <a:lstStyle/>
                    <a:p>
                      <a:r>
                        <a:rPr sz="1575" b="0">
                          <a:solidFill>
                            <a:srgbClr val="163444"/>
                          </a:solidFill>
                          <a:latin typeface="Noto Sans"/>
                          <a:ea typeface="Noto Sans"/>
                          <a:cs typeface="Noto Sans"/>
                        </a:rPr>
                        <a:t>0.429</a:t>
                      </a:r>
                    </a:p>
                  </a:txBody>
                  <a:tcPr marL="91440" marR="91440" marT="45720" marB="45720">
                    <a:solidFill>
                      <a:srgbClr val="FFFFFF"/>
                    </a:solidFill>
                  </a:tcPr>
                </a:tc>
              </a:tr>
              <a:tr h="607219">
                <a:tc>
                  <a:txBody>
                    <a:bodyPr>
                      <a:normAutofit/>
                    </a:bodyPr>
                    <a:lstStyle/>
                    <a:p>
                      <a:r>
                        <a:rPr sz="1575" b="0">
                          <a:solidFill>
                            <a:srgbClr val="163444"/>
                          </a:solidFill>
                          <a:latin typeface="Noto Sans"/>
                          <a:ea typeface="Noto Sans"/>
                          <a:cs typeface="Noto Sans"/>
                        </a:rPr>
                        <a:t>Matched global MLP</a:t>
                      </a:r>
                    </a:p>
                  </a:txBody>
                  <a:tcPr marL="91440" marR="91440" marT="45720" marB="45720">
                    <a:solidFill>
                      <a:srgbClr val="F4F7F8"/>
                    </a:solidFill>
                  </a:tcPr>
                </a:tc>
                <a:tc>
                  <a:txBody>
                    <a:bodyPr>
                      <a:normAutofit/>
                    </a:bodyPr>
                    <a:lstStyle/>
                    <a:p>
                      <a:r>
                        <a:rPr sz="1575" b="0">
                          <a:solidFill>
                            <a:srgbClr val="163444"/>
                          </a:solidFill>
                          <a:latin typeface="Noto Sans"/>
                          <a:ea typeface="Noto Sans"/>
                          <a:cs typeface="Noto Sans"/>
                        </a:rPr>
                        <a:t>7.350 / 7.350</a:t>
                      </a:r>
                    </a:p>
                  </a:txBody>
                  <a:tcPr marL="91440" marR="91440" marT="45720" marB="45720">
                    <a:solidFill>
                      <a:srgbClr val="F4F7F8"/>
                    </a:solidFill>
                  </a:tcPr>
                </a:tc>
                <a:tc>
                  <a:txBody>
                    <a:bodyPr>
                      <a:normAutofit/>
                    </a:bodyPr>
                    <a:lstStyle/>
                    <a:p>
                      <a:r>
                        <a:rPr sz="1575" b="0">
                          <a:solidFill>
                            <a:srgbClr val="163444"/>
                          </a:solidFill>
                          <a:latin typeface="Noto Sans"/>
                          <a:ea typeface="Noto Sans"/>
                          <a:cs typeface="Noto Sans"/>
                        </a:rPr>
                        <a:t>1.732</a:t>
                      </a:r>
                    </a:p>
                  </a:txBody>
                  <a:tcPr marL="91440" marR="91440" marT="45720" marB="45720">
                    <a:solidFill>
                      <a:srgbClr val="F4F7F8"/>
                    </a:solidFill>
                  </a:tcPr>
                </a:tc>
                <a:tc>
                  <a:txBody>
                    <a:bodyPr>
                      <a:normAutofit/>
                    </a:bodyPr>
                    <a:lstStyle/>
                    <a:p>
                      <a:r>
                        <a:rPr sz="1575" b="0">
                          <a:solidFill>
                            <a:srgbClr val="163444"/>
                          </a:solidFill>
                          <a:latin typeface="Noto Sans"/>
                          <a:ea typeface="Noto Sans"/>
                          <a:cs typeface="Noto Sans"/>
                        </a:rPr>
                        <a:t>0.187</a:t>
                      </a:r>
                    </a:p>
                  </a:txBody>
                  <a:tcPr marL="91440" marR="91440" marT="45720" marB="45720">
                    <a:solidFill>
                      <a:srgbClr val="F4F7F8"/>
                    </a:solidFill>
                  </a:tcPr>
                </a:tc>
              </a:tr>
              <a:tr h="607219">
                <a:tc>
                  <a:txBody>
                    <a:bodyPr>
                      <a:normAutofit/>
                    </a:bodyPr>
                    <a:lstStyle/>
                    <a:p>
                      <a:r>
                        <a:rPr sz="1575" b="0">
                          <a:solidFill>
                            <a:srgbClr val="163444"/>
                          </a:solidFill>
                          <a:latin typeface="Noto Sans"/>
                          <a:ea typeface="Noto Sans"/>
                          <a:cs typeface="Noto Sans"/>
                        </a:rPr>
                        <a:t>Qonductor-style polynomial adaptation</a:t>
                      </a:r>
                    </a:p>
                  </a:txBody>
                  <a:tcPr marL="91440" marR="91440" marT="45720" marB="45720">
                    <a:solidFill>
                      <a:srgbClr val="FFFFFF"/>
                    </a:solidFill>
                  </a:tcPr>
                </a:tc>
                <a:tc>
                  <a:txBody>
                    <a:bodyPr>
                      <a:normAutofit/>
                    </a:bodyPr>
                    <a:lstStyle/>
                    <a:p>
                      <a:r>
                        <a:rPr sz="1575" b="0">
                          <a:solidFill>
                            <a:srgbClr val="163444"/>
                          </a:solidFill>
                          <a:latin typeface="Noto Sans"/>
                          <a:ea typeface="Noto Sans"/>
                          <a:cs typeface="Noto Sans"/>
                        </a:rPr>
                        <a:t>7.350 / 7.350</a:t>
                      </a:r>
                    </a:p>
                  </a:txBody>
                  <a:tcPr marL="91440" marR="91440" marT="45720" marB="45720">
                    <a:solidFill>
                      <a:srgbClr val="FFFFFF"/>
                    </a:solidFill>
                  </a:tcPr>
                </a:tc>
                <a:tc>
                  <a:txBody>
                    <a:bodyPr>
                      <a:normAutofit/>
                    </a:bodyPr>
                    <a:lstStyle/>
                    <a:p>
                      <a:r>
                        <a:rPr sz="1575" b="0">
                          <a:solidFill>
                            <a:srgbClr val="163444"/>
                          </a:solidFill>
                          <a:latin typeface="Noto Sans"/>
                          <a:ea typeface="Noto Sans"/>
                          <a:cs typeface="Noto Sans"/>
                        </a:rPr>
                        <a:t>1.401</a:t>
                      </a:r>
                    </a:p>
                  </a:txBody>
                  <a:tcPr marL="91440" marR="91440" marT="45720" marB="45720">
                    <a:solidFill>
                      <a:srgbClr val="FFFFFF"/>
                    </a:solidFill>
                  </a:tcPr>
                </a:tc>
                <a:tc>
                  <a:txBody>
                    <a:bodyPr>
                      <a:normAutofit/>
                    </a:bodyPr>
                    <a:lstStyle/>
                    <a:p>
                      <a:r>
                        <a:rPr sz="1575" b="0">
                          <a:solidFill>
                            <a:srgbClr val="163444"/>
                          </a:solidFill>
                          <a:latin typeface="Noto Sans"/>
                          <a:ea typeface="Noto Sans"/>
                          <a:cs typeface="Noto Sans"/>
                        </a:rPr>
                        <a:t>−0.587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C3308E2-35DD-41FB-ABB3-C68D9F861E6C}"/>
              </a:ext>
            </a:extLst>
          </p:cNvPr>
          <p:cNvSpPr>
            <a:spLocks xmlns:a="http://schemas.openxmlformats.org/drawingml/2006/main" noGrp="1"/>
          </p:cNvSpPr>
          <p:nvPr/>
        </p:nvSpPr>
        <p:spPr>
          <a:xfrm xmlns:a="http://schemas.openxmlformats.org/drawingml/2006/main">
            <a:off x="838200" y="4267200"/>
            <a:ext cx="10515600" cy="619125"/>
          </a:xfrm>
          <a:prstGeom xmlns:a="http://schemas.openxmlformats.org/drawingml/2006/main" prst="roundRect">
            <a:avLst>
              <a:gd name="adj" fmla="val 12308"/>
            </a:avLst>
          </a:prstGeom>
          <a:solidFill xmlns:a="http://schemas.openxmlformats.org/drawingml/2006/main">
            <a:srgbClr val="E4F2F0"/>
          </a:solidFill>
          <a:ln xmlns:a="http://schemas.openxmlformats.org/drawingml/2006/main" w="11430">
            <a:solidFill>
              <a:srgbClr val="007F78"/>
            </a:solidFill>
          </a:ln>
        </p:spPr>
      </p:sp>
      <p:sp>
        <p:nvSpPr>
          <p:cNvPr id="5" name="">
            <a:extLst xmlns:a="http://schemas.openxmlformats.org/drawingml/2006/main">
              <a:ext uri="{FF2B5EF4-FFF2-40B4-BE49-F238E27FC236}">
                <a16:creationId xmlns:a16="http://schemas.microsoft.com/office/drawing/2014/main" id="{9A44A44D-DEB5-482E-85F3-4F1E29420F26}"/>
              </a:ext>
            </a:extLst>
          </p:cNvPr>
          <p:cNvSpPr>
            <a:spLocks xmlns:a="http://schemas.openxmlformats.org/drawingml/2006/main" noGrp="1"/>
          </p:cNvSpPr>
          <p:nvPr/>
        </p:nvSpPr>
        <p:spPr>
          <a:xfrm xmlns:a="http://schemas.openxmlformats.org/drawingml/2006/main">
            <a:off x="990600" y="4352925"/>
            <a:ext cx="10210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25495A"/>
                </a:solidFill>
                <a:latin typeface="Noto Sans"/>
                <a:ea typeface="Noto Sans"/>
                <a:cs typeface="Noto Sans"/>
              </a:defRPr>
            </a:pPr>
            <a:r>
              <a:rPr sz="1575" b="1">
                <a:solidFill>
                  <a:srgbClr val="25495A"/>
                </a:solidFill>
                <a:latin typeface="Noto Sans"/>
                <a:ea typeface="Noto Sans"/>
                <a:cs typeface="Noto Sans"/>
              </a:rPr>
              <a:t>Graph − MLP MAE: −0.514 s; grouped 95% interval [−0.907, −0.175].</a:t>
            </a:r>
          </a:p>
        </p:txBody>
      </p:sp>
      <p:sp>
        <p:nvSpPr>
          <p:cNvPr id="6" name="">
            <a:extLst xmlns:a="http://schemas.openxmlformats.org/drawingml/2006/main">
              <a:ext uri="{FF2B5EF4-FFF2-40B4-BE49-F238E27FC236}">
                <a16:creationId xmlns:a16="http://schemas.microsoft.com/office/drawing/2014/main" id="{5335D878-6764-4DC1-A687-E5977993F56A}"/>
              </a:ext>
            </a:extLst>
          </p:cNvPr>
          <p:cNvSpPr>
            <a:spLocks xmlns:a="http://schemas.openxmlformats.org/drawingml/2006/main" noGrp="1"/>
          </p:cNvSpPr>
          <p:nvPr/>
        </p:nvSpPr>
        <p:spPr>
          <a:xfrm xmlns:a="http://schemas.openxmlformats.org/drawingml/2006/main">
            <a:off x="838200" y="5086350"/>
            <a:ext cx="10515600" cy="619125"/>
          </a:xfrm>
          <a:prstGeom xmlns:a="http://schemas.openxmlformats.org/drawingml/2006/main" prst="roundRect">
            <a:avLst>
              <a:gd name="adj" fmla="val 12308"/>
            </a:avLst>
          </a:prstGeom>
          <a:solidFill xmlns:a="http://schemas.openxmlformats.org/drawingml/2006/main">
            <a:srgbClr val="FBF0E1"/>
          </a:solidFill>
          <a:ln xmlns:a="http://schemas.openxmlformats.org/drawingml/2006/main" w="11430">
            <a:solidFill>
              <a:srgbClr val="B66A18"/>
            </a:solidFill>
          </a:ln>
        </p:spPr>
      </p:sp>
      <p:sp>
        <p:nvSpPr>
          <p:cNvPr id="7" name="">
            <a:extLst xmlns:a="http://schemas.openxmlformats.org/drawingml/2006/main">
              <a:ext uri="{FF2B5EF4-FFF2-40B4-BE49-F238E27FC236}">
                <a16:creationId xmlns:a16="http://schemas.microsoft.com/office/drawing/2014/main" id="{B4AA6C14-7CCF-4821-8E5E-E950E49ABF64}"/>
              </a:ext>
            </a:extLst>
          </p:cNvPr>
          <p:cNvSpPr>
            <a:spLocks xmlns:a="http://schemas.openxmlformats.org/drawingml/2006/main" noGrp="1"/>
          </p:cNvSpPr>
          <p:nvPr/>
        </p:nvSpPr>
        <p:spPr>
          <a:xfrm xmlns:a="http://schemas.openxmlformats.org/drawingml/2006/main">
            <a:off x="990600" y="5172075"/>
            <a:ext cx="10210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25495A"/>
                </a:solidFill>
                <a:latin typeface="Noto Sans"/>
                <a:ea typeface="Noto Sans"/>
                <a:cs typeface="Noto Sans"/>
              </a:defRPr>
            </a:pPr>
            <a:r>
              <a:rPr sz="1575" b="1">
                <a:solidFill>
                  <a:srgbClr val="25495A"/>
                </a:solidFill>
                <a:latin typeface="Noto Sans"/>
                <a:ea typeface="Noto Sans"/>
                <a:cs typeface="Noto Sans"/>
              </a:rPr>
              <a:t>Graph − polynomial: −0.182 s; interval [−0.488, +0.197] crosses zero.</a:t>
            </a:r>
          </a:p>
        </p:txBody>
      </p:sp>
      <p:sp>
        <p:nvSpPr>
          <p:cNvPr id="8" name="">
            <a:extLst xmlns:a="http://schemas.openxmlformats.org/drawingml/2006/main">
              <a:ext uri="{FF2B5EF4-FFF2-40B4-BE49-F238E27FC236}">
                <a16:creationId xmlns:a16="http://schemas.microsoft.com/office/drawing/2014/main" id="{0AE595F5-FF58-434A-AD5F-CF1014899EFE}"/>
              </a:ext>
            </a:extLst>
          </p:cNvPr>
          <p:cNvSpPr>
            <a:spLocks xmlns:a="http://schemas.openxmlformats.org/drawingml/2006/main" noGrp="1"/>
          </p:cNvSpPr>
          <p:nvPr/>
        </p:nvSpPr>
        <p:spPr>
          <a:xfrm xmlns:a="http://schemas.openxmlformats.org/drawingml/2006/main">
            <a:off x="876300" y="5953125"/>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873"/>
                </a:solidFill>
                <a:latin typeface="Noto Sans"/>
                <a:ea typeface="Noto Sans"/>
                <a:cs typeface="Noto Sans"/>
              </a:defRPr>
            </a:pPr>
            <a:r>
              <a:rPr sz="1350">
                <a:solidFill>
                  <a:srgbClr val="526873"/>
                </a:solidFill>
                <a:latin typeface="Noto Sans"/>
                <a:ea typeface="Noto Sans"/>
                <a:cs typeface="Noto Sans"/>
              </a:rPr>
              <a:t>Intervals condition on saved predictions; no refit uncertainty or multiplicity adjustment.</a:t>
            </a:r>
          </a:p>
        </p:txBody>
      </p:sp>
    </p:spTree>
    <p:extLst>
      <p:ext uri="{BB962C8B-B14F-4D97-AF65-F5344CB8AC3E}">
        <p14:creationId xmlns:p14="http://schemas.microsoft.com/office/powerpoint/2010/main" val="10162242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D696C8-AC92-46A9-B9E9-6972DF4B3AFF}"/>
              </a:ext>
            </a:extLst>
          </p:cNvPr>
          <p:cNvSpPr>
            <a:spLocks xmlns:a="http://schemas.openxmlformats.org/drawingml/2006/main" noGrp="1"/>
          </p:cNvSpPr>
          <p:nvPr/>
        </p:nvSpPr>
        <p:spPr>
          <a:xfrm xmlns:a="http://schemas.openxmlformats.org/drawingml/2006/main">
            <a:off x="609600" y="333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63444"/>
                </a:solidFill>
                <a:latin typeface="Noto Sans"/>
                <a:ea typeface="Noto Sans"/>
                <a:cs typeface="Noto Sans"/>
              </a:defRPr>
            </a:pPr>
            <a:r>
              <a:rPr sz="3000" b="1">
                <a:solidFill>
                  <a:srgbClr val="163444"/>
                </a:solidFill>
                <a:latin typeface="Noto Sans"/>
                <a:ea typeface="Noto Sans"/>
                <a:cs typeface="Noto Sans"/>
              </a:rPr>
              <a:t>5. Breakdown theo nguồn: lợi thế đổi chiều</a:t>
            </a:r>
          </a:p>
        </p:txBody>
      </p:sp>
      <p:sp>
        <p:nvSpPr>
          <p:cNvPr id="2" name="">
            <a:extLst xmlns:a="http://schemas.openxmlformats.org/drawingml/2006/main">
              <a:ext uri="{FF2B5EF4-FFF2-40B4-BE49-F238E27FC236}">
                <a16:creationId xmlns:a16="http://schemas.microsoft.com/office/drawing/2014/main" id="{79C39EB3-5086-4C98-904D-1E16A00C7E07}"/>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r">
              <a:defRPr sz="1125">
                <a:solidFill>
                  <a:srgbClr val="526873"/>
                </a:solidFill>
                <a:latin typeface="Noto Sans"/>
                <a:ea typeface="Noto Sans"/>
                <a:cs typeface="Noto Sans"/>
              </a:defRPr>
            </a:pPr>
            <a:r>
              <a:rPr sz="1125">
                <a:solidFill>
                  <a:srgbClr val="526873"/>
                </a:solidFill>
                <a:latin typeface="Noto Sans"/>
                <a:ea typeface="Noto Sans"/>
                <a:cs typeface="Noto Sans"/>
              </a:rPr>
              <a:t>06</a:t>
            </a:r>
          </a:p>
        </p:txBody>
      </p:sp>
      <p:graphicFrame>
        <p:nvGraphicFramePr>
          <p:cNvPr id="9" name=""/>
          <p:cNvGraphicFramePr/>
          <p:nvPr/>
        </p:nvGraphicFramePr>
        <p:xfrm>
          <a:off xmlns:a="http://schemas.openxmlformats.org/drawingml/2006/main" x="762000" y="1619250"/>
          <a:ext xmlns:a="http://schemas.openxmlformats.org/drawingml/2006/main" cx="10668000" cy="2381250"/>
        </p:xfrm>
        <a:graphic xmlns:a="http://schemas.openxmlformats.org/drawingml/2006/main">
          <a:graphicData uri="http://schemas.openxmlformats.org/drawingml/2006/table">
            <a:tbl>
              <a:tblPr/>
              <a:tblGrid>
                <a:gridCol w="3810000"/>
                <a:gridCol w="2286000"/>
                <a:gridCol w="2286000"/>
                <a:gridCol w="2286000"/>
              </a:tblGrid>
              <a:tr h="595313">
                <a:tc>
                  <a:txBody>
                    <a:bodyPr>
                      <a:normAutofit/>
                    </a:bodyPr>
                    <a:lstStyle/>
                    <a:p>
                      <a:r>
                        <a:rPr sz="1575" b="1">
                          <a:solidFill>
                            <a:srgbClr val="FFFFFF"/>
                          </a:solidFill>
                          <a:latin typeface="Noto Sans"/>
                          <a:ea typeface="Noto Sans"/>
                          <a:cs typeface="Noto Sans"/>
                        </a:rPr>
                        <a:t>Nguồn / n</a:t>
                      </a:r>
                    </a:p>
                  </a:txBody>
                  <a:tcPr marL="91440" marR="91440" marT="45720" marB="45720">
                    <a:solidFill>
                      <a:srgbClr val="25495A"/>
                    </a:solidFill>
                  </a:tcPr>
                </a:tc>
                <a:tc>
                  <a:txBody>
                    <a:bodyPr>
                      <a:normAutofit/>
                    </a:bodyPr>
                    <a:lstStyle/>
                    <a:p>
                      <a:r>
                        <a:rPr sz="1575" b="1">
                          <a:solidFill>
                            <a:srgbClr val="FFFFFF"/>
                          </a:solidFill>
                          <a:latin typeface="Noto Sans"/>
                          <a:ea typeface="Noto Sans"/>
                          <a:cs typeface="Noto Sans"/>
                        </a:rPr>
                        <a:t>Graph MAE (s)</a:t>
                      </a:r>
                    </a:p>
                  </a:txBody>
                  <a:tcPr marL="91440" marR="91440" marT="45720" marB="45720">
                    <a:solidFill>
                      <a:srgbClr val="25495A"/>
                    </a:solidFill>
                  </a:tcPr>
                </a:tc>
                <a:tc>
                  <a:txBody>
                    <a:bodyPr>
                      <a:normAutofit/>
                    </a:bodyPr>
                    <a:lstStyle/>
                    <a:p>
                      <a:r>
                        <a:rPr sz="1575" b="1">
                          <a:solidFill>
                            <a:srgbClr val="FFFFFF"/>
                          </a:solidFill>
                          <a:latin typeface="Noto Sans"/>
                          <a:ea typeface="Noto Sans"/>
                          <a:cs typeface="Noto Sans"/>
                        </a:rPr>
                        <a:t>MLP MAE (s)</a:t>
                      </a:r>
                    </a:p>
                  </a:txBody>
                  <a:tcPr marL="91440" marR="91440" marT="45720" marB="45720">
                    <a:solidFill>
                      <a:srgbClr val="25495A"/>
                    </a:solidFill>
                  </a:tcPr>
                </a:tc>
                <a:tc>
                  <a:txBody>
                    <a:bodyPr>
                      <a:normAutofit/>
                    </a:bodyPr>
                    <a:lstStyle/>
                    <a:p>
                      <a:r>
                        <a:rPr sz="1575" b="1">
                          <a:solidFill>
                            <a:srgbClr val="FFFFFF"/>
                          </a:solidFill>
                          <a:latin typeface="Noto Sans"/>
                          <a:ea typeface="Noto Sans"/>
                          <a:cs typeface="Noto Sans"/>
                        </a:rPr>
                        <a:t>Polynomial MAE (s)</a:t>
                      </a:r>
                    </a:p>
                  </a:txBody>
                  <a:tcPr marL="91440" marR="91440" marT="45720" marB="45720">
                    <a:solidFill>
                      <a:srgbClr val="25495A"/>
                    </a:solidFill>
                  </a:tcPr>
                </a:tc>
              </a:tr>
              <a:tr h="595313">
                <a:tc>
                  <a:txBody>
                    <a:bodyPr>
                      <a:normAutofit/>
                    </a:bodyPr>
                    <a:lstStyle/>
                    <a:p>
                      <a:r>
                        <a:rPr sz="1650" b="0">
                          <a:solidFill>
                            <a:srgbClr val="163444"/>
                          </a:solidFill>
                          <a:latin typeface="Noto Sans"/>
                          <a:ea typeface="Noto Sans"/>
                          <a:cs typeface="Noto Sans"/>
                        </a:rPr>
                        <a:t>Ma–Li · 340</a:t>
                      </a:r>
                    </a:p>
                  </a:txBody>
                  <a:tcPr marL="91440" marR="91440" marT="45720" marB="45720">
                    <a:solidFill>
                      <a:srgbClr val="FFFFFF"/>
                    </a:solidFill>
                  </a:tcPr>
                </a:tc>
                <a:tc>
                  <a:txBody>
                    <a:bodyPr>
                      <a:normAutofit/>
                    </a:bodyPr>
                    <a:lstStyle/>
                    <a:p>
                      <a:r>
                        <a:rPr sz="1650" b="0">
                          <a:solidFill>
                            <a:srgbClr val="163444"/>
                          </a:solidFill>
                          <a:latin typeface="Noto Sans"/>
                          <a:ea typeface="Noto Sans"/>
                          <a:cs typeface="Noto Sans"/>
                        </a:rPr>
                        <a:t>0.761</a:t>
                      </a:r>
                    </a:p>
                  </a:txBody>
                  <a:tcPr marL="91440" marR="91440" marT="45720" marB="45720">
                    <a:solidFill>
                      <a:srgbClr val="FFFFFF"/>
                    </a:solidFill>
                  </a:tcPr>
                </a:tc>
                <a:tc>
                  <a:txBody>
                    <a:bodyPr>
                      <a:normAutofit/>
                    </a:bodyPr>
                    <a:lstStyle/>
                    <a:p>
                      <a:r>
                        <a:rPr sz="1650" b="0">
                          <a:solidFill>
                            <a:srgbClr val="163444"/>
                          </a:solidFill>
                          <a:latin typeface="Noto Sans"/>
                          <a:ea typeface="Noto Sans"/>
                          <a:cs typeface="Noto Sans"/>
                        </a:rPr>
                        <a:t>1.065</a:t>
                      </a:r>
                    </a:p>
                  </a:txBody>
                  <a:tcPr marL="91440" marR="91440" marT="45720" marB="45720">
                    <a:solidFill>
                      <a:srgbClr val="FFFFFF"/>
                    </a:solidFill>
                  </a:tcPr>
                </a:tc>
                <a:tc>
                  <a:txBody>
                    <a:bodyPr>
                      <a:normAutofit/>
                    </a:bodyPr>
                    <a:lstStyle/>
                    <a:p>
                      <a:r>
                        <a:rPr sz="1650" b="0">
                          <a:solidFill>
                            <a:srgbClr val="163444"/>
                          </a:solidFill>
                          <a:latin typeface="Noto Sans"/>
                          <a:ea typeface="Noto Sans"/>
                          <a:cs typeface="Noto Sans"/>
                        </a:rPr>
                        <a:t>0.627</a:t>
                      </a:r>
                    </a:p>
                  </a:txBody>
                  <a:tcPr marL="91440" marR="91440" marT="45720" marB="45720">
                    <a:solidFill>
                      <a:srgbClr val="FFFFFF"/>
                    </a:solidFill>
                  </a:tcPr>
                </a:tc>
              </a:tr>
              <a:tr h="595313">
                <a:tc>
                  <a:txBody>
                    <a:bodyPr>
                      <a:normAutofit/>
                    </a:bodyPr>
                    <a:lstStyle/>
                    <a:p>
                      <a:r>
                        <a:rPr sz="1650" b="0">
                          <a:solidFill>
                            <a:srgbClr val="163444"/>
                          </a:solidFill>
                          <a:latin typeface="Noto Sans"/>
                          <a:ea typeface="Noto Sans"/>
                          <a:cs typeface="Noto Sans"/>
                        </a:rPr>
                        <a:t>Qonductor · 3.065</a:t>
                      </a:r>
                    </a:p>
                  </a:txBody>
                  <a:tcPr marL="91440" marR="91440" marT="45720" marB="45720">
                    <a:solidFill>
                      <a:srgbClr val="F4F7F8"/>
                    </a:solidFill>
                  </a:tcPr>
                </a:tc>
                <a:tc>
                  <a:txBody>
                    <a:bodyPr>
                      <a:normAutofit/>
                    </a:bodyPr>
                    <a:lstStyle/>
                    <a:p>
                      <a:r>
                        <a:rPr sz="1650" b="0">
                          <a:solidFill>
                            <a:srgbClr val="163444"/>
                          </a:solidFill>
                          <a:latin typeface="Noto Sans"/>
                          <a:ea typeface="Noto Sans"/>
                          <a:cs typeface="Noto Sans"/>
                        </a:rPr>
                        <a:t>1.969</a:t>
                      </a:r>
                    </a:p>
                  </a:txBody>
                  <a:tcPr marL="91440" marR="91440" marT="45720" marB="45720">
                    <a:solidFill>
                      <a:srgbClr val="F4F7F8"/>
                    </a:solidFill>
                  </a:tcPr>
                </a:tc>
                <a:tc>
                  <a:txBody>
                    <a:bodyPr>
                      <a:normAutofit/>
                    </a:bodyPr>
                    <a:lstStyle/>
                    <a:p>
                      <a:r>
                        <a:rPr sz="1650" b="0">
                          <a:solidFill>
                            <a:srgbClr val="163444"/>
                          </a:solidFill>
                          <a:latin typeface="Noto Sans"/>
                          <a:ea typeface="Noto Sans"/>
                          <a:cs typeface="Noto Sans"/>
                        </a:rPr>
                        <a:t>2.286</a:t>
                      </a:r>
                    </a:p>
                  </a:txBody>
                  <a:tcPr marL="91440" marR="91440" marT="45720" marB="45720">
                    <a:solidFill>
                      <a:srgbClr val="F4F7F8"/>
                    </a:solidFill>
                  </a:tcPr>
                </a:tc>
                <a:tc>
                  <a:txBody>
                    <a:bodyPr>
                      <a:normAutofit/>
                    </a:bodyPr>
                    <a:lstStyle/>
                    <a:p>
                      <a:r>
                        <a:rPr sz="1650" b="0">
                          <a:solidFill>
                            <a:srgbClr val="163444"/>
                          </a:solidFill>
                          <a:latin typeface="Noto Sans"/>
                          <a:ea typeface="Noto Sans"/>
                          <a:cs typeface="Noto Sans"/>
                        </a:rPr>
                        <a:t>1.776</a:t>
                      </a:r>
                    </a:p>
                  </a:txBody>
                  <a:tcPr marL="91440" marR="91440" marT="45720" marB="45720">
                    <a:solidFill>
                      <a:srgbClr val="F4F7F8"/>
                    </a:solidFill>
                  </a:tcPr>
                </a:tc>
              </a:tr>
              <a:tr h="595313">
                <a:tc>
                  <a:txBody>
                    <a:bodyPr>
                      <a:normAutofit/>
                    </a:bodyPr>
                    <a:lstStyle/>
                    <a:p>
                      <a:r>
                        <a:rPr sz="1650" b="0">
                          <a:solidFill>
                            <a:srgbClr val="163444"/>
                          </a:solidFill>
                          <a:latin typeface="Noto Sans"/>
                          <a:ea typeface="Noto Sans"/>
                          <a:cs typeface="Noto Sans"/>
                        </a:rPr>
                        <a:t>QPack · 3.945</a:t>
                      </a:r>
                    </a:p>
                  </a:txBody>
                  <a:tcPr marL="91440" marR="91440" marT="45720" marB="45720">
                    <a:solidFill>
                      <a:srgbClr val="FFFFFF"/>
                    </a:solidFill>
                  </a:tcPr>
                </a:tc>
                <a:tc>
                  <a:txBody>
                    <a:bodyPr>
                      <a:normAutofit/>
                    </a:bodyPr>
                    <a:lstStyle/>
                    <a:p>
                      <a:r>
                        <a:rPr sz="1650" b="0">
                          <a:solidFill>
                            <a:srgbClr val="163444"/>
                          </a:solidFill>
                          <a:latin typeface="Noto Sans"/>
                          <a:ea typeface="Noto Sans"/>
                          <a:cs typeface="Noto Sans"/>
                        </a:rPr>
                        <a:t>0.675</a:t>
                      </a:r>
                    </a:p>
                  </a:txBody>
                  <a:tcPr marL="91440" marR="91440" marT="45720" marB="45720">
                    <a:solidFill>
                      <a:srgbClr val="FFFFFF"/>
                    </a:solidFill>
                  </a:tcPr>
                </a:tc>
                <a:tc>
                  <a:txBody>
                    <a:bodyPr>
                      <a:normAutofit/>
                    </a:bodyPr>
                    <a:lstStyle/>
                    <a:p>
                      <a:r>
                        <a:rPr sz="1650" b="0">
                          <a:solidFill>
                            <a:srgbClr val="163444"/>
                          </a:solidFill>
                          <a:latin typeface="Noto Sans"/>
                          <a:ea typeface="Noto Sans"/>
                          <a:cs typeface="Noto Sans"/>
                        </a:rPr>
                        <a:t>1.359</a:t>
                      </a:r>
                    </a:p>
                  </a:txBody>
                  <a:tcPr marL="91440" marR="91440" marT="45720" marB="45720">
                    <a:solidFill>
                      <a:srgbClr val="FFFFFF"/>
                    </a:solidFill>
                  </a:tcPr>
                </a:tc>
                <a:tc>
                  <a:txBody>
                    <a:bodyPr>
                      <a:normAutofit/>
                    </a:bodyPr>
                    <a:lstStyle/>
                    <a:p>
                      <a:r>
                        <a:rPr sz="1650" b="0">
                          <a:solidFill>
                            <a:srgbClr val="163444"/>
                          </a:solidFill>
                          <a:latin typeface="Noto Sans"/>
                          <a:ea typeface="Noto Sans"/>
                          <a:cs typeface="Noto Sans"/>
                        </a:rPr>
                        <a:t>1.175</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64BFAFF-55FC-4213-854F-3948A841A06B}"/>
              </a:ext>
            </a:extLst>
          </p:cNvPr>
          <p:cNvSpPr>
            <a:spLocks xmlns:a="http://schemas.openxmlformats.org/drawingml/2006/main" noGrp="1"/>
          </p:cNvSpPr>
          <p:nvPr/>
        </p:nvSpPr>
        <p:spPr>
          <a:xfrm xmlns:a="http://schemas.openxmlformats.org/drawingml/2006/main">
            <a:off x="762000" y="4524375"/>
            <a:ext cx="10668000" cy="781050"/>
          </a:xfrm>
          <a:prstGeom xmlns:a="http://schemas.openxmlformats.org/drawingml/2006/main" prst="roundRect">
            <a:avLst>
              <a:gd name="adj" fmla="val 9756"/>
            </a:avLst>
          </a:prstGeom>
          <a:solidFill xmlns:a="http://schemas.openxmlformats.org/drawingml/2006/main">
            <a:srgbClr val="E4F2F0"/>
          </a:solidFill>
          <a:ln xmlns:a="http://schemas.openxmlformats.org/drawingml/2006/main" w="11430">
            <a:solidFill>
              <a:srgbClr val="007F78"/>
            </a:solidFill>
          </a:ln>
        </p:spPr>
      </p:sp>
      <p:sp>
        <p:nvSpPr>
          <p:cNvPr id="5" name="">
            <a:extLst xmlns:a="http://schemas.openxmlformats.org/drawingml/2006/main">
              <a:ext uri="{FF2B5EF4-FFF2-40B4-BE49-F238E27FC236}">
                <a16:creationId xmlns:a16="http://schemas.microsoft.com/office/drawing/2014/main" id="{BBE9270D-DB49-47EA-83AE-6CB1114CF0FD}"/>
              </a:ext>
            </a:extLst>
          </p:cNvPr>
          <p:cNvSpPr>
            <a:spLocks xmlns:a="http://schemas.openxmlformats.org/drawingml/2006/main" noGrp="1"/>
          </p:cNvSpPr>
          <p:nvPr/>
        </p:nvSpPr>
        <p:spPr>
          <a:xfrm xmlns:a="http://schemas.openxmlformats.org/drawingml/2006/main">
            <a:off x="914400" y="4610100"/>
            <a:ext cx="1036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25495A"/>
                </a:solidFill>
                <a:latin typeface="Noto Sans"/>
                <a:ea typeface="Noto Sans"/>
                <a:cs typeface="Noto Sans"/>
              </a:defRPr>
            </a:pPr>
            <a:r>
              <a:rPr sz="1650" b="1">
                <a:solidFill>
                  <a:srgbClr val="25495A"/>
                </a:solidFill>
                <a:latin typeface="Noto Sans"/>
                <a:ea typeface="Noto Sans"/>
                <a:cs typeface="Noto Sans"/>
              </a:rPr>
              <a:t>Polynomial MAE thấp hơn trên Ma–Li và Qonductor; graph thấp hơn trên QPack. Không có winner phổ quát.</a:t>
            </a:r>
          </a:p>
        </p:txBody>
      </p:sp>
      <p:sp>
        <p:nvSpPr>
          <p:cNvPr id="6" name="">
            <a:extLst xmlns:a="http://schemas.openxmlformats.org/drawingml/2006/main">
              <a:ext uri="{FF2B5EF4-FFF2-40B4-BE49-F238E27FC236}">
                <a16:creationId xmlns:a16="http://schemas.microsoft.com/office/drawing/2014/main" id="{5772088E-217F-462A-8013-1A9DF5B64E6D}"/>
              </a:ext>
            </a:extLst>
          </p:cNvPr>
          <p:cNvSpPr>
            <a:spLocks xmlns:a="http://schemas.openxmlformats.org/drawingml/2006/main" noGrp="1"/>
          </p:cNvSpPr>
          <p:nvPr/>
        </p:nvSpPr>
        <p:spPr>
          <a:xfrm xmlns:a="http://schemas.openxmlformats.org/drawingml/2006/main">
            <a:off x="819150" y="5619750"/>
            <a:ext cx="10525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25495A"/>
                </a:solidFill>
                <a:latin typeface="Noto Sans"/>
                <a:ea typeface="Noto Sans"/>
                <a:cs typeface="Noto Sans"/>
              </a:defRPr>
            </a:pPr>
            <a:r>
              <a:rPr sz="1500">
                <a:solidFill>
                  <a:srgbClr val="25495A"/>
                </a:solidFill>
                <a:latin typeface="Noto Sans"/>
                <a:ea typeface="Noto Sans"/>
                <a:cs typeface="Noto Sans"/>
              </a:rPr>
              <a:t>QPack: graph/polynomial R² lần lượt −0.095 / −0.632; MAE tốt hơn không có nghĩa giải thích tốt biến thiên.</a:t>
            </a:r>
          </a:p>
        </p:txBody>
      </p:sp>
    </p:spTree>
    <p:extLst>
      <p:ext uri="{BB962C8B-B14F-4D97-AF65-F5344CB8AC3E}">
        <p14:creationId xmlns:p14="http://schemas.microsoft.com/office/powerpoint/2010/main" val="15725441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323657-5764-46BC-85EB-8A17BBB15788}"/>
              </a:ext>
            </a:extLst>
          </p:cNvPr>
          <p:cNvSpPr>
            <a:spLocks xmlns:a="http://schemas.openxmlformats.org/drawingml/2006/main" noGrp="1"/>
          </p:cNvSpPr>
          <p:nvPr/>
        </p:nvSpPr>
        <p:spPr>
          <a:xfrm xmlns:a="http://schemas.openxmlformats.org/drawingml/2006/main">
            <a:off x="609600" y="333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63444"/>
                </a:solidFill>
                <a:latin typeface="Noto Sans"/>
                <a:ea typeface="Noto Sans"/>
                <a:cs typeface="Noto Sans"/>
              </a:defRPr>
            </a:pPr>
            <a:r>
              <a:rPr sz="3000" b="1">
                <a:solidFill>
                  <a:srgbClr val="163444"/>
                </a:solidFill>
                <a:latin typeface="Noto Sans"/>
                <a:ea typeface="Noto Sans"/>
                <a:cs typeface="Noto Sans"/>
              </a:rPr>
              <a:t>6. Analytical QPU methods: output thô khác target</a:t>
            </a:r>
          </a:p>
        </p:txBody>
      </p:sp>
      <p:sp>
        <p:nvSpPr>
          <p:cNvPr id="2" name="">
            <a:extLst xmlns:a="http://schemas.openxmlformats.org/drawingml/2006/main">
              <a:ext uri="{FF2B5EF4-FFF2-40B4-BE49-F238E27FC236}">
                <a16:creationId xmlns:a16="http://schemas.microsoft.com/office/drawing/2014/main" id="{26E468F3-DC02-4F7D-8853-9DA7C044B390}"/>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r">
              <a:defRPr sz="1125">
                <a:solidFill>
                  <a:srgbClr val="526873"/>
                </a:solidFill>
                <a:latin typeface="Noto Sans"/>
                <a:ea typeface="Noto Sans"/>
                <a:cs typeface="Noto Sans"/>
              </a:defRPr>
            </a:pPr>
            <a:r>
              <a:rPr sz="1125">
                <a:solidFill>
                  <a:srgbClr val="526873"/>
                </a:solidFill>
                <a:latin typeface="Noto Sans"/>
                <a:ea typeface="Noto Sans"/>
                <a:cs typeface="Noto Sans"/>
              </a:rPr>
              <a:t>07</a:t>
            </a:r>
          </a:p>
        </p:txBody>
      </p:sp>
      <p:graphicFrame>
        <p:nvGraphicFramePr>
          <p:cNvPr id="7" name=""/>
          <p:cNvGraphicFramePr/>
          <p:nvPr/>
        </p:nvGraphicFramePr>
        <p:xfrm>
          <a:off xmlns:a="http://schemas.openxmlformats.org/drawingml/2006/main" x="457200" y="1219200"/>
          <a:ext xmlns:a="http://schemas.openxmlformats.org/drawingml/2006/main" cx="11277600" cy="4476750"/>
        </p:xfrm>
        <a:graphic xmlns:a="http://schemas.openxmlformats.org/drawingml/2006/main">
          <a:graphicData uri="http://schemas.openxmlformats.org/drawingml/2006/table">
            <a:tbl>
              <a:tblPr/>
              <a:tblGrid>
                <a:gridCol w="3238500"/>
                <a:gridCol w="1809750"/>
                <a:gridCol w="1285875"/>
                <a:gridCol w="1285875"/>
                <a:gridCol w="3657600"/>
              </a:tblGrid>
              <a:tr h="639536">
                <a:tc>
                  <a:txBody>
                    <a:bodyPr>
                      <a:normAutofit/>
                    </a:bodyPr>
                    <a:lstStyle/>
                    <a:p>
                      <a:r>
                        <a:rPr sz="1275" b="1">
                          <a:solidFill>
                            <a:srgbClr val="FFFFFF"/>
                          </a:solidFill>
                          <a:latin typeface="Noto Sans"/>
                          <a:ea typeface="Noto Sans"/>
                          <a:cs typeface="Noto Sans"/>
                        </a:rPr>
                        <a:t>Biến thể</a:t>
                      </a:r>
                    </a:p>
                  </a:txBody>
                  <a:tcPr marL="91440" marR="91440" marT="45720" marB="45720">
                    <a:solidFill>
                      <a:srgbClr val="25495A"/>
                    </a:solidFill>
                  </a:tcPr>
                </a:tc>
                <a:tc>
                  <a:txBody>
                    <a:bodyPr>
                      <a:normAutofit/>
                    </a:bodyPr>
                    <a:lstStyle/>
                    <a:p>
                      <a:r>
                        <a:rPr sz="1275" b="1">
                          <a:solidFill>
                            <a:srgbClr val="FFFFFF"/>
                          </a:solidFill>
                          <a:latin typeface="Noto Sans"/>
                          <a:ea typeface="Noto Sans"/>
                          <a:cs typeface="Noto Sans"/>
                        </a:rPr>
                        <a:t>Dự đoán / 7.350</a:t>
                      </a:r>
                    </a:p>
                  </a:txBody>
                  <a:tcPr marL="91440" marR="91440" marT="45720" marB="45720">
                    <a:solidFill>
                      <a:srgbClr val="25495A"/>
                    </a:solidFill>
                  </a:tcPr>
                </a:tc>
                <a:tc>
                  <a:txBody>
                    <a:bodyPr>
                      <a:normAutofit/>
                    </a:bodyPr>
                    <a:lstStyle/>
                    <a:p>
                      <a:r>
                        <a:rPr sz="1275" b="1">
                          <a:solidFill>
                            <a:srgbClr val="FFFFFF"/>
                          </a:solidFill>
                          <a:latin typeface="Noto Sans"/>
                          <a:ea typeface="Noto Sans"/>
                          <a:cs typeface="Noto Sans"/>
                        </a:rPr>
                        <a:t>MAE (s)</a:t>
                      </a:r>
                    </a:p>
                  </a:txBody>
                  <a:tcPr marL="91440" marR="91440" marT="45720" marB="45720">
                    <a:solidFill>
                      <a:srgbClr val="25495A"/>
                    </a:solidFill>
                  </a:tcPr>
                </a:tc>
                <a:tc>
                  <a:txBody>
                    <a:bodyPr>
                      <a:normAutofit/>
                    </a:bodyPr>
                    <a:lstStyle/>
                    <a:p>
                      <a:r>
                        <a:rPr sz="1275" b="1">
                          <a:solidFill>
                            <a:srgbClr val="FFFFFF"/>
                          </a:solidFill>
                          <a:latin typeface="Noto Sans"/>
                          <a:ea typeface="Noto Sans"/>
                          <a:cs typeface="Noto Sans"/>
                        </a:rPr>
                        <a:t>R²</a:t>
                      </a:r>
                    </a:p>
                  </a:txBody>
                  <a:tcPr marL="91440" marR="91440" marT="45720" marB="45720">
                    <a:solidFill>
                      <a:srgbClr val="25495A"/>
                    </a:solidFill>
                  </a:tcPr>
                </a:tc>
                <a:tc>
                  <a:txBody>
                    <a:bodyPr>
                      <a:normAutofit/>
                    </a:bodyPr>
                    <a:lstStyle/>
                    <a:p>
                      <a:r>
                        <a:rPr sz="1275" b="1">
                          <a:solidFill>
                            <a:srgbClr val="FFFFFF"/>
                          </a:solidFill>
                          <a:latin typeface="Noto Sans"/>
                          <a:ea typeface="Noto Sans"/>
                          <a:cs typeface="Noto Sans"/>
                        </a:rPr>
                        <a:t>Output</a:t>
                      </a:r>
                    </a:p>
                  </a:txBody>
                  <a:tcPr marL="91440" marR="91440" marT="45720" marB="45720">
                    <a:solidFill>
                      <a:srgbClr val="25495A"/>
                    </a:solidFill>
                  </a:tcPr>
                </a:tc>
              </a:tr>
              <a:tr h="639536">
                <a:tc>
                  <a:txBody>
                    <a:bodyPr>
                      <a:normAutofit/>
                    </a:bodyPr>
                    <a:lstStyle/>
                    <a:p>
                      <a:r>
                        <a:rPr sz="1200" b="0">
                          <a:solidFill>
                            <a:srgbClr val="163444"/>
                          </a:solidFill>
                          <a:latin typeface="Noto Sans"/>
                          <a:ea typeface="Noto Sans"/>
                          <a:cs typeface="Noto Sans"/>
                        </a:rPr>
                        <a:t>QCRE shot schedule · calibrated</a:t>
                      </a:r>
                    </a:p>
                  </a:txBody>
                  <a:tcPr marL="91440" marR="91440" marT="45720" marB="45720">
                    <a:solidFill>
                      <a:srgbClr val="FFFFFF"/>
                    </a:solidFill>
                  </a:tcPr>
                </a:tc>
                <a:tc>
                  <a:txBody>
                    <a:bodyPr>
                      <a:normAutofit/>
                    </a:bodyPr>
                    <a:lstStyle/>
                    <a:p>
                      <a:r>
                        <a:rPr sz="1200" b="0">
                          <a:solidFill>
                            <a:srgbClr val="163444"/>
                          </a:solidFill>
                          <a:latin typeface="Noto Sans"/>
                          <a:ea typeface="Noto Sans"/>
                          <a:cs typeface="Noto Sans"/>
                        </a:rPr>
                        <a:t>7.350</a:t>
                      </a:r>
                    </a:p>
                  </a:txBody>
                  <a:tcPr marL="91440" marR="91440" marT="45720" marB="45720">
                    <a:solidFill>
                      <a:srgbClr val="FFFFFF"/>
                    </a:solidFill>
                  </a:tcPr>
                </a:tc>
                <a:tc>
                  <a:txBody>
                    <a:bodyPr>
                      <a:normAutofit/>
                    </a:bodyPr>
                    <a:lstStyle/>
                    <a:p>
                      <a:r>
                        <a:rPr sz="1200" b="0">
                          <a:solidFill>
                            <a:srgbClr val="163444"/>
                          </a:solidFill>
                          <a:latin typeface="Noto Sans"/>
                          <a:ea typeface="Noto Sans"/>
                          <a:cs typeface="Noto Sans"/>
                        </a:rPr>
                        <a:t>1.555</a:t>
                      </a:r>
                    </a:p>
                  </a:txBody>
                  <a:tcPr marL="91440" marR="91440" marT="45720" marB="45720">
                    <a:solidFill>
                      <a:srgbClr val="FFFFFF"/>
                    </a:solidFill>
                  </a:tcPr>
                </a:tc>
                <a:tc>
                  <a:txBody>
                    <a:bodyPr>
                      <a:normAutofit/>
                    </a:bodyPr>
                    <a:lstStyle/>
                    <a:p>
                      <a:r>
                        <a:rPr sz="1200" b="0">
                          <a:solidFill>
                            <a:srgbClr val="163444"/>
                          </a:solidFill>
                          <a:latin typeface="Noto Sans"/>
                          <a:ea typeface="Noto Sans"/>
                          <a:cs typeface="Noto Sans"/>
                        </a:rPr>
                        <a:t>0.675</a:t>
                      </a:r>
                    </a:p>
                  </a:txBody>
                  <a:tcPr marL="91440" marR="91440" marT="45720" marB="45720">
                    <a:solidFill>
                      <a:srgbClr val="FFFFFF"/>
                    </a:solidFill>
                  </a:tcPr>
                </a:tc>
                <a:tc>
                  <a:txBody>
                    <a:bodyPr>
                      <a:normAutofit/>
                    </a:bodyPr>
                    <a:lstStyle/>
                    <a:p>
                      <a:r>
                        <a:rPr sz="1200" b="0">
                          <a:solidFill>
                            <a:srgbClr val="163444"/>
                          </a:solidFill>
                          <a:latin typeface="Noto Sans"/>
                          <a:ea typeface="Noto Sans"/>
                          <a:cs typeface="Noto Sans"/>
                        </a:rPr>
                        <a:t>Calibrated service</a:t>
                      </a:r>
                    </a:p>
                  </a:txBody>
                  <a:tcPr marL="91440" marR="91440" marT="45720" marB="45720">
                    <a:solidFill>
                      <a:srgbClr val="FFFFFF"/>
                    </a:solidFill>
                  </a:tcPr>
                </a:tc>
              </a:tr>
              <a:tr h="639536">
                <a:tc>
                  <a:txBody>
                    <a:bodyPr>
                      <a:normAutofit/>
                    </a:bodyPr>
                    <a:lstStyle/>
                    <a:p>
                      <a:r>
                        <a:rPr sz="1200" b="0">
                          <a:solidFill>
                            <a:srgbClr val="163444"/>
                          </a:solidFill>
                          <a:latin typeface="Noto Sans"/>
                          <a:ea typeface="Noto Sans"/>
                          <a:cs typeface="Noto Sans"/>
                        </a:rPr>
                        <a:t>Qiskit duration · raw</a:t>
                      </a:r>
                    </a:p>
                  </a:txBody>
                  <a:tcPr marL="91440" marR="91440" marT="45720" marB="45720">
                    <a:solidFill>
                      <a:srgbClr val="F4F7F8"/>
                    </a:solidFill>
                  </a:tcPr>
                </a:tc>
                <a:tc>
                  <a:txBody>
                    <a:bodyPr>
                      <a:normAutofit/>
                    </a:bodyPr>
                    <a:lstStyle/>
                    <a:p>
                      <a:r>
                        <a:rPr sz="1200" b="0">
                          <a:solidFill>
                            <a:srgbClr val="163444"/>
                          </a:solidFill>
                          <a:latin typeface="Noto Sans"/>
                          <a:ea typeface="Noto Sans"/>
                          <a:cs typeface="Noto Sans"/>
                        </a:rPr>
                        <a:t>7.350</a:t>
                      </a:r>
                    </a:p>
                  </a:txBody>
                  <a:tcPr marL="91440" marR="91440" marT="45720" marB="45720">
                    <a:solidFill>
                      <a:srgbClr val="F4F7F8"/>
                    </a:solidFill>
                  </a:tcPr>
                </a:tc>
                <a:tc>
                  <a:txBody>
                    <a:bodyPr>
                      <a:normAutofit/>
                    </a:bodyPr>
                    <a:lstStyle/>
                    <a:p>
                      <a:r>
                        <a:rPr sz="1200" b="0">
                          <a:solidFill>
                            <a:srgbClr val="163444"/>
                          </a:solidFill>
                          <a:latin typeface="Noto Sans"/>
                          <a:ea typeface="Noto Sans"/>
                          <a:cs typeface="Noto Sans"/>
                        </a:rPr>
                        <a:t>5.739</a:t>
                      </a:r>
                    </a:p>
                  </a:txBody>
                  <a:tcPr marL="91440" marR="91440" marT="45720" marB="45720">
                    <a:solidFill>
                      <a:srgbClr val="F4F7F8"/>
                    </a:solidFill>
                  </a:tcPr>
                </a:tc>
                <a:tc>
                  <a:txBody>
                    <a:bodyPr>
                      <a:normAutofit/>
                    </a:bodyPr>
                    <a:lstStyle/>
                    <a:p>
                      <a:r>
                        <a:rPr sz="1200" b="0">
                          <a:solidFill>
                            <a:srgbClr val="163444"/>
                          </a:solidFill>
                          <a:latin typeface="Noto Sans"/>
                          <a:ea typeface="Noto Sans"/>
                          <a:cs typeface="Noto Sans"/>
                        </a:rPr>
                        <a:t>−3.103</a:t>
                      </a:r>
                    </a:p>
                  </a:txBody>
                  <a:tcPr marL="91440" marR="91440" marT="45720" marB="45720">
                    <a:solidFill>
                      <a:srgbClr val="F4F7F8"/>
                    </a:solidFill>
                  </a:tcPr>
                </a:tc>
                <a:tc>
                  <a:txBody>
                    <a:bodyPr>
                      <a:normAutofit/>
                    </a:bodyPr>
                    <a:lstStyle/>
                    <a:p>
                      <a:r>
                        <a:rPr sz="1200" b="0">
                          <a:solidFill>
                            <a:srgbClr val="163444"/>
                          </a:solidFill>
                          <a:latin typeface="Noto Sans"/>
                          <a:ea typeface="Noto Sans"/>
                          <a:cs typeface="Noto Sans"/>
                        </a:rPr>
                        <a:t>Scheduled 1-shot</a:t>
                      </a:r>
                    </a:p>
                  </a:txBody>
                  <a:tcPr marL="91440" marR="91440" marT="45720" marB="45720">
                    <a:solidFill>
                      <a:srgbClr val="F4F7F8"/>
                    </a:solidFill>
                  </a:tcPr>
                </a:tc>
              </a:tr>
              <a:tr h="639536">
                <a:tc>
                  <a:txBody>
                    <a:bodyPr>
                      <a:normAutofit/>
                    </a:bodyPr>
                    <a:lstStyle/>
                    <a:p>
                      <a:r>
                        <a:rPr sz="1200" b="0">
                          <a:solidFill>
                            <a:srgbClr val="163444"/>
                          </a:solidFill>
                          <a:latin typeface="Noto Sans"/>
                          <a:ea typeface="Noto Sans"/>
                          <a:cs typeface="Noto Sans"/>
                        </a:rPr>
                        <a:t>QCRE shot-scaled · raw</a:t>
                      </a:r>
                    </a:p>
                  </a:txBody>
                  <a:tcPr marL="91440" marR="91440" marT="45720" marB="45720">
                    <a:solidFill>
                      <a:srgbClr val="FFFFFF"/>
                    </a:solidFill>
                  </a:tcPr>
                </a:tc>
                <a:tc>
                  <a:txBody>
                    <a:bodyPr>
                      <a:normAutofit/>
                    </a:bodyPr>
                    <a:lstStyle/>
                    <a:p>
                      <a:r>
                        <a:rPr sz="1200" b="0">
                          <a:solidFill>
                            <a:srgbClr val="163444"/>
                          </a:solidFill>
                          <a:latin typeface="Noto Sans"/>
                          <a:ea typeface="Noto Sans"/>
                          <a:cs typeface="Noto Sans"/>
                        </a:rPr>
                        <a:t>7.350</a:t>
                      </a:r>
                    </a:p>
                  </a:txBody>
                  <a:tcPr marL="91440" marR="91440" marT="45720" marB="45720">
                    <a:solidFill>
                      <a:srgbClr val="FFFFFF"/>
                    </a:solidFill>
                  </a:tcPr>
                </a:tc>
                <a:tc>
                  <a:txBody>
                    <a:bodyPr>
                      <a:normAutofit/>
                    </a:bodyPr>
                    <a:lstStyle/>
                    <a:p>
                      <a:r>
                        <a:rPr sz="1200" b="0">
                          <a:solidFill>
                            <a:srgbClr val="163444"/>
                          </a:solidFill>
                          <a:latin typeface="Noto Sans"/>
                          <a:ea typeface="Noto Sans"/>
                          <a:cs typeface="Noto Sans"/>
                        </a:rPr>
                        <a:t>5.141</a:t>
                      </a:r>
                    </a:p>
                  </a:txBody>
                  <a:tcPr marL="91440" marR="91440" marT="45720" marB="45720">
                    <a:solidFill>
                      <a:srgbClr val="FFFFFF"/>
                    </a:solidFill>
                  </a:tcPr>
                </a:tc>
                <a:tc>
                  <a:txBody>
                    <a:bodyPr>
                      <a:normAutofit/>
                    </a:bodyPr>
                    <a:lstStyle/>
                    <a:p>
                      <a:r>
                        <a:rPr sz="1200" b="0">
                          <a:solidFill>
                            <a:srgbClr val="163444"/>
                          </a:solidFill>
                          <a:latin typeface="Noto Sans"/>
                          <a:ea typeface="Noto Sans"/>
                          <a:cs typeface="Noto Sans"/>
                        </a:rPr>
                        <a:t>−1.812</a:t>
                      </a:r>
                    </a:p>
                  </a:txBody>
                  <a:tcPr marL="91440" marR="91440" marT="45720" marB="45720">
                    <a:solidFill>
                      <a:srgbClr val="FFFFFF"/>
                    </a:solidFill>
                  </a:tcPr>
                </a:tc>
                <a:tc>
                  <a:txBody>
                    <a:bodyPr>
                      <a:normAutofit/>
                    </a:bodyPr>
                    <a:lstStyle/>
                    <a:p>
                      <a:r>
                        <a:rPr sz="1200" b="0">
                          <a:solidFill>
                            <a:srgbClr val="163444"/>
                          </a:solidFill>
                          <a:latin typeface="Noto Sans"/>
                          <a:ea typeface="Noto Sans"/>
                          <a:cs typeface="Noto Sans"/>
                        </a:rPr>
                        <a:t>Shot-scaled schedule</a:t>
                      </a:r>
                    </a:p>
                  </a:txBody>
                  <a:tcPr marL="91440" marR="91440" marT="45720" marB="45720">
                    <a:solidFill>
                      <a:srgbClr val="FFFFFF"/>
                    </a:solidFill>
                  </a:tcPr>
                </a:tc>
              </a:tr>
              <a:tr h="639536">
                <a:tc>
                  <a:txBody>
                    <a:bodyPr>
                      <a:normAutofit/>
                    </a:bodyPr>
                    <a:lstStyle/>
                    <a:p>
                      <a:r>
                        <a:rPr sz="1200" b="0">
                          <a:solidFill>
                            <a:srgbClr val="163444"/>
                          </a:solidFill>
                          <a:latin typeface="Noto Sans"/>
                          <a:ea typeface="Noto Sans"/>
                          <a:cs typeface="Noto Sans"/>
                        </a:rPr>
                        <a:t>Hyb Kyoto composite · gate-time</a:t>
                      </a:r>
                    </a:p>
                  </a:txBody>
                  <a:tcPr marL="91440" marR="91440" marT="45720" marB="45720">
                    <a:solidFill>
                      <a:srgbClr val="F4F7F8"/>
                    </a:solidFill>
                  </a:tcPr>
                </a:tc>
                <a:tc>
                  <a:txBody>
                    <a:bodyPr>
                      <a:normAutofit/>
                    </a:bodyPr>
                    <a:lstStyle/>
                    <a:p>
                      <a:r>
                        <a:rPr sz="1200" b="0">
                          <a:solidFill>
                            <a:srgbClr val="163444"/>
                          </a:solidFill>
                          <a:latin typeface="Noto Sans"/>
                          <a:ea typeface="Noto Sans"/>
                          <a:cs typeface="Noto Sans"/>
                        </a:rPr>
                        <a:t>7.350</a:t>
                      </a:r>
                    </a:p>
                  </a:txBody>
                  <a:tcPr marL="91440" marR="91440" marT="45720" marB="45720">
                    <a:solidFill>
                      <a:srgbClr val="F4F7F8"/>
                    </a:solidFill>
                  </a:tcPr>
                </a:tc>
                <a:tc>
                  <a:txBody>
                    <a:bodyPr>
                      <a:normAutofit/>
                    </a:bodyPr>
                    <a:lstStyle/>
                    <a:p>
                      <a:r>
                        <a:rPr sz="1200" b="0">
                          <a:solidFill>
                            <a:srgbClr val="163444"/>
                          </a:solidFill>
                          <a:latin typeface="Noto Sans"/>
                          <a:ea typeface="Noto Sans"/>
                          <a:cs typeface="Noto Sans"/>
                        </a:rPr>
                        <a:t>1.371</a:t>
                      </a:r>
                    </a:p>
                  </a:txBody>
                  <a:tcPr marL="91440" marR="91440" marT="45720" marB="45720">
                    <a:solidFill>
                      <a:srgbClr val="F4F7F8"/>
                    </a:solidFill>
                  </a:tcPr>
                </a:tc>
                <a:tc>
                  <a:txBody>
                    <a:bodyPr>
                      <a:normAutofit/>
                    </a:bodyPr>
                    <a:lstStyle/>
                    <a:p>
                      <a:r>
                        <a:rPr sz="1200" b="0">
                          <a:solidFill>
                            <a:srgbClr val="163444"/>
                          </a:solidFill>
                          <a:latin typeface="Noto Sans"/>
                          <a:ea typeface="Noto Sans"/>
                          <a:cs typeface="Noto Sans"/>
                        </a:rPr>
                        <a:t>0.416</a:t>
                      </a:r>
                    </a:p>
                  </a:txBody>
                  <a:tcPr marL="91440" marR="91440" marT="45720" marB="45720">
                    <a:solidFill>
                      <a:srgbClr val="F4F7F8"/>
                    </a:solidFill>
                  </a:tcPr>
                </a:tc>
                <a:tc>
                  <a:txBody>
                    <a:bodyPr>
                      <a:normAutofit/>
                    </a:bodyPr>
                    <a:lstStyle/>
                    <a:p>
                      <a:r>
                        <a:rPr sz="1200" b="0">
                          <a:solidFill>
                            <a:srgbClr val="163444"/>
                          </a:solidFill>
                          <a:latin typeface="Noto Sans"/>
                          <a:ea typeface="Noto Sans"/>
                          <a:cs typeface="Noto Sans"/>
                        </a:rPr>
                        <a:t>Calibrated service</a:t>
                      </a:r>
                    </a:p>
                  </a:txBody>
                  <a:tcPr marL="91440" marR="91440" marT="45720" marB="45720">
                    <a:solidFill>
                      <a:srgbClr val="F4F7F8"/>
                    </a:solidFill>
                  </a:tcPr>
                </a:tc>
              </a:tr>
              <a:tr h="639536">
                <a:tc>
                  <a:txBody>
                    <a:bodyPr>
                      <a:normAutofit/>
                    </a:bodyPr>
                    <a:lstStyle/>
                    <a:p>
                      <a:r>
                        <a:rPr sz="1200" b="0">
                          <a:solidFill>
                            <a:srgbClr val="163444"/>
                          </a:solidFill>
                          <a:latin typeface="Noto Sans"/>
                          <a:ea typeface="Noto Sans"/>
                          <a:cs typeface="Noto Sans"/>
                        </a:rPr>
                        <a:t>Scholten nominal · calibrated</a:t>
                      </a:r>
                    </a:p>
                  </a:txBody>
                  <a:tcPr marL="91440" marR="91440" marT="45720" marB="45720">
                    <a:solidFill>
                      <a:srgbClr val="FFFFFF"/>
                    </a:solidFill>
                  </a:tcPr>
                </a:tc>
                <a:tc>
                  <a:txBody>
                    <a:bodyPr>
                      <a:normAutofit/>
                    </a:bodyPr>
                    <a:lstStyle/>
                    <a:p>
                      <a:r>
                        <a:rPr sz="1200" b="0">
                          <a:solidFill>
                            <a:srgbClr val="163444"/>
                          </a:solidFill>
                          <a:latin typeface="Noto Sans"/>
                          <a:ea typeface="Noto Sans"/>
                          <a:cs typeface="Noto Sans"/>
                        </a:rPr>
                        <a:t>5.199</a:t>
                      </a:r>
                    </a:p>
                  </a:txBody>
                  <a:tcPr marL="91440" marR="91440" marT="45720" marB="45720">
                    <a:solidFill>
                      <a:srgbClr val="FFFFFF"/>
                    </a:solidFill>
                  </a:tcPr>
                </a:tc>
                <a:tc>
                  <a:txBody>
                    <a:bodyPr>
                      <a:normAutofit/>
                    </a:bodyPr>
                    <a:lstStyle/>
                    <a:p>
                      <a:r>
                        <a:rPr sz="1200" b="0">
                          <a:solidFill>
                            <a:srgbClr val="163444"/>
                          </a:solidFill>
                          <a:latin typeface="Noto Sans"/>
                          <a:ea typeface="Noto Sans"/>
                          <a:cs typeface="Noto Sans"/>
                        </a:rPr>
                        <a:t>1.364</a:t>
                      </a:r>
                    </a:p>
                  </a:txBody>
                  <a:tcPr marL="91440" marR="91440" marT="45720" marB="45720">
                    <a:solidFill>
                      <a:srgbClr val="FFFFFF"/>
                    </a:solidFill>
                  </a:tcPr>
                </a:tc>
                <a:tc>
                  <a:txBody>
                    <a:bodyPr>
                      <a:normAutofit/>
                    </a:bodyPr>
                    <a:lstStyle/>
                    <a:p>
                      <a:r>
                        <a:rPr sz="1200" b="0">
                          <a:solidFill>
                            <a:srgbClr val="163444"/>
                          </a:solidFill>
                          <a:latin typeface="Noto Sans"/>
                          <a:ea typeface="Noto Sans"/>
                          <a:cs typeface="Noto Sans"/>
                        </a:rPr>
                        <a:t>0.708</a:t>
                      </a:r>
                    </a:p>
                  </a:txBody>
                  <a:tcPr marL="91440" marR="91440" marT="45720" marB="45720">
                    <a:solidFill>
                      <a:srgbClr val="FFFFFF"/>
                    </a:solidFill>
                  </a:tcPr>
                </a:tc>
                <a:tc>
                  <a:txBody>
                    <a:bodyPr>
                      <a:normAutofit/>
                    </a:bodyPr>
                    <a:lstStyle/>
                    <a:p>
                      <a:r>
                        <a:rPr sz="1200" b="0">
                          <a:solidFill>
                            <a:srgbClr val="163444"/>
                          </a:solidFill>
                          <a:latin typeface="Noto Sans"/>
                          <a:ea typeface="Noto Sans"/>
                          <a:cs typeface="Noto Sans"/>
                        </a:rPr>
                        <a:t>Calibrated service</a:t>
                      </a:r>
                    </a:p>
                  </a:txBody>
                  <a:tcPr marL="91440" marR="91440" marT="45720" marB="45720">
                    <a:solidFill>
                      <a:srgbClr val="FFFFFF"/>
                    </a:solidFill>
                  </a:tcPr>
                </a:tc>
              </a:tr>
              <a:tr h="639536">
                <a:tc>
                  <a:txBody>
                    <a:bodyPr>
                      <a:normAutofit/>
                    </a:bodyPr>
                    <a:lstStyle/>
                    <a:p>
                      <a:r>
                        <a:rPr sz="1200" b="0">
                          <a:solidFill>
                            <a:srgbClr val="163444"/>
                          </a:solidFill>
                          <a:latin typeface="Noto Sans"/>
                          <a:ea typeface="Noto Sans"/>
                          <a:cs typeface="Noto Sans"/>
                        </a:rPr>
                        <a:t>Scholten nominal · raw</a:t>
                      </a:r>
                    </a:p>
                  </a:txBody>
                  <a:tcPr marL="91440" marR="91440" marT="45720" marB="45720">
                    <a:solidFill>
                      <a:srgbClr val="F4F7F8"/>
                    </a:solidFill>
                  </a:tcPr>
                </a:tc>
                <a:tc>
                  <a:txBody>
                    <a:bodyPr>
                      <a:normAutofit/>
                    </a:bodyPr>
                    <a:lstStyle/>
                    <a:p>
                      <a:r>
                        <a:rPr sz="1200" b="0">
                          <a:solidFill>
                            <a:srgbClr val="163444"/>
                          </a:solidFill>
                          <a:latin typeface="Noto Sans"/>
                          <a:ea typeface="Noto Sans"/>
                          <a:cs typeface="Noto Sans"/>
                        </a:rPr>
                        <a:t>5.199</a:t>
                      </a:r>
                    </a:p>
                  </a:txBody>
                  <a:tcPr marL="91440" marR="91440" marT="45720" marB="45720">
                    <a:solidFill>
                      <a:srgbClr val="F4F7F8"/>
                    </a:solidFill>
                  </a:tcPr>
                </a:tc>
                <a:tc>
                  <a:txBody>
                    <a:bodyPr>
                      <a:normAutofit/>
                    </a:bodyPr>
                    <a:lstStyle/>
                    <a:p>
                      <a:r>
                        <a:rPr sz="1200" b="0">
                          <a:solidFill>
                            <a:srgbClr val="163444"/>
                          </a:solidFill>
                          <a:latin typeface="Noto Sans"/>
                          <a:ea typeface="Noto Sans"/>
                          <a:cs typeface="Noto Sans"/>
                        </a:rPr>
                        <a:t>1036.641</a:t>
                      </a:r>
                    </a:p>
                  </a:txBody>
                  <a:tcPr marL="91440" marR="91440" marT="45720" marB="45720">
                    <a:solidFill>
                      <a:srgbClr val="F4F7F8"/>
                    </a:solidFill>
                  </a:tcPr>
                </a:tc>
                <a:tc>
                  <a:txBody>
                    <a:bodyPr>
                      <a:normAutofit/>
                    </a:bodyPr>
                    <a:lstStyle/>
                    <a:p>
                      <a:r>
                        <a:rPr sz="1200" b="0">
                          <a:solidFill>
                            <a:srgbClr val="163444"/>
                          </a:solidFill>
                          <a:latin typeface="Noto Sans"/>
                          <a:ea typeface="Noto Sans"/>
                          <a:cs typeface="Noto Sans"/>
                        </a:rPr>
                        <a:t>−1,533,206</a:t>
                      </a:r>
                    </a:p>
                  </a:txBody>
                  <a:tcPr marL="91440" marR="91440" marT="45720" marB="45720">
                    <a:solidFill>
                      <a:srgbClr val="F4F7F8"/>
                    </a:solidFill>
                  </a:tcPr>
                </a:tc>
                <a:tc>
                  <a:txBody>
                    <a:bodyPr>
                      <a:normAutofit/>
                    </a:bodyPr>
                    <a:lstStyle/>
                    <a:p>
                      <a:r>
                        <a:rPr sz="1200" b="0">
                          <a:solidFill>
                            <a:srgbClr val="163444"/>
                          </a:solidFill>
                          <a:latin typeface="Noto Sans"/>
                          <a:ea typeface="Noto Sans"/>
                          <a:cs typeface="Noto Sans"/>
                        </a:rPr>
                        <a:t>Throughput proxy</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EC0CA3D6-ACF3-4A27-B604-5729E3EEFA6B}"/>
              </a:ext>
            </a:extLst>
          </p:cNvPr>
          <p:cNvSpPr>
            <a:spLocks xmlns:a="http://schemas.openxmlformats.org/drawingml/2006/main" noGrp="1"/>
          </p:cNvSpPr>
          <p:nvPr/>
        </p:nvSpPr>
        <p:spPr>
          <a:xfrm xmlns:a="http://schemas.openxmlformats.org/drawingml/2006/main">
            <a:off x="590550" y="59055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1">
                <a:solidFill>
                  <a:srgbClr val="007F78"/>
                </a:solidFill>
                <a:latin typeface="Noto Sans"/>
                <a:ea typeface="Noto Sans"/>
                <a:cs typeface="Noto Sans"/>
              </a:defRPr>
            </a:pPr>
            <a:r>
              <a:rPr sz="1425" b="1">
                <a:solidFill>
                  <a:srgbClr val="007F78"/>
                </a:solidFill>
                <a:latin typeface="Noto Sans"/>
                <a:ea typeface="Noto Sans"/>
                <a:cs typeface="Noto Sans"/>
              </a:rPr>
              <a:t>Calibration chỉ fit trên outer-train. Raw proxy accuracy và coverage luôn được giữ riêng.</a:t>
            </a:r>
          </a:p>
        </p:txBody>
      </p:sp>
    </p:spTree>
    <p:extLst>
      <p:ext uri="{BB962C8B-B14F-4D97-AF65-F5344CB8AC3E}">
        <p14:creationId xmlns:p14="http://schemas.microsoft.com/office/powerpoint/2010/main" val="12253046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E1A54F-E16C-461F-BF8B-16FADD2D4E59}"/>
              </a:ext>
            </a:extLst>
          </p:cNvPr>
          <p:cNvSpPr>
            <a:spLocks xmlns:a="http://schemas.openxmlformats.org/drawingml/2006/main" noGrp="1"/>
          </p:cNvSpPr>
          <p:nvPr/>
        </p:nvSpPr>
        <p:spPr>
          <a:xfrm xmlns:a="http://schemas.openxmlformats.org/drawingml/2006/main">
            <a:off x="609600" y="333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3944"/>
          </a:bodyPr>
          <a:lstStyle xmlns:a="http://schemas.openxmlformats.org/drawingml/2006/main"/>
          <a:p xmlns:a="http://schemas.openxmlformats.org/drawingml/2006/main">
            <a:pPr>
              <a:defRPr sz="3000" b="1">
                <a:solidFill>
                  <a:srgbClr val="163444"/>
                </a:solidFill>
                <a:latin typeface="Noto Sans"/>
                <a:ea typeface="Noto Sans"/>
                <a:cs typeface="Noto Sans"/>
              </a:defRPr>
            </a:pPr>
            <a:r>
              <a:rPr sz="3000" b="1">
                <a:solidFill>
                  <a:srgbClr val="163444"/>
                </a:solidFill>
                <a:latin typeface="Noto Sans"/>
                <a:ea typeface="Noto Sans"/>
                <a:cs typeface="Noto Sans"/>
              </a:rPr>
              <a:t>7. Simulator · Aer: compiled view có ích, nhưng chưa thắng baseline</a:t>
            </a:r>
          </a:p>
        </p:txBody>
      </p:sp>
      <p:sp>
        <p:nvSpPr>
          <p:cNvPr id="2" name="">
            <a:extLst xmlns:a="http://schemas.openxmlformats.org/drawingml/2006/main">
              <a:ext uri="{FF2B5EF4-FFF2-40B4-BE49-F238E27FC236}">
                <a16:creationId xmlns:a16="http://schemas.microsoft.com/office/drawing/2014/main" id="{3B145583-88D3-41F3-994A-0928CA3EBC98}"/>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r">
              <a:defRPr sz="1125">
                <a:solidFill>
                  <a:srgbClr val="526873"/>
                </a:solidFill>
                <a:latin typeface="Noto Sans"/>
                <a:ea typeface="Noto Sans"/>
                <a:cs typeface="Noto Sans"/>
              </a:defRPr>
            </a:pPr>
            <a:r>
              <a:rPr sz="1125">
                <a:solidFill>
                  <a:srgbClr val="526873"/>
                </a:solidFill>
                <a:latin typeface="Noto Sans"/>
                <a:ea typeface="Noto Sans"/>
                <a:cs typeface="Noto Sans"/>
              </a:rPr>
              <a:t>08</a:t>
            </a:r>
          </a:p>
        </p:txBody>
      </p:sp>
      <p:graphicFrame>
        <p:nvGraphicFramePr>
          <p:cNvPr id="9" name=""/>
          <p:cNvGraphicFramePr/>
          <p:nvPr/>
        </p:nvGraphicFramePr>
        <p:xfrm>
          <a:off xmlns:a="http://schemas.openxmlformats.org/drawingml/2006/main" x="952500" y="1428750"/>
          <a:ext xmlns:a="http://schemas.openxmlformats.org/drawingml/2006/main" cx="10287000" cy="3143250"/>
        </p:xfrm>
        <a:graphic xmlns:a="http://schemas.openxmlformats.org/drawingml/2006/main">
          <a:graphicData uri="http://schemas.openxmlformats.org/drawingml/2006/table">
            <a:tbl>
              <a:tblPr/>
              <a:tblGrid>
                <a:gridCol w="5238750"/>
                <a:gridCol w="2524125"/>
                <a:gridCol w="2524125"/>
              </a:tblGrid>
              <a:tr h="628650">
                <a:tc>
                  <a:txBody>
                    <a:bodyPr>
                      <a:normAutofit/>
                    </a:bodyPr>
                    <a:lstStyle/>
                    <a:p>
                      <a:r>
                        <a:rPr sz="1650" b="1">
                          <a:solidFill>
                            <a:srgbClr val="FFFFFF"/>
                          </a:solidFill>
                          <a:latin typeface="Noto Sans"/>
                          <a:ea typeface="Noto Sans"/>
                          <a:cs typeface="Noto Sans"/>
                        </a:rPr>
                        <a:t>Model view</a:t>
                      </a:r>
                    </a:p>
                  </a:txBody>
                  <a:tcPr marL="91440" marR="91440" marT="45720" marB="45720">
                    <a:solidFill>
                      <a:srgbClr val="25495A"/>
                    </a:solidFill>
                  </a:tcPr>
                </a:tc>
                <a:tc>
                  <a:txBody>
                    <a:bodyPr>
                      <a:normAutofit/>
                    </a:bodyPr>
                    <a:lstStyle/>
                    <a:p>
                      <a:r>
                        <a:rPr sz="1650" b="1">
                          <a:solidFill>
                            <a:srgbClr val="FFFFFF"/>
                          </a:solidFill>
                          <a:latin typeface="Noto Sans"/>
                          <a:ea typeface="Noto Sans"/>
                          <a:cs typeface="Noto Sans"/>
                        </a:rPr>
                        <a:t>MAE (s)</a:t>
                      </a:r>
                    </a:p>
                  </a:txBody>
                  <a:tcPr marL="91440" marR="91440" marT="45720" marB="45720">
                    <a:solidFill>
                      <a:srgbClr val="25495A"/>
                    </a:solidFill>
                  </a:tcPr>
                </a:tc>
                <a:tc>
                  <a:txBody>
                    <a:bodyPr>
                      <a:normAutofit/>
                    </a:bodyPr>
                    <a:lstStyle/>
                    <a:p>
                      <a:r>
                        <a:rPr sz="1650" b="1">
                          <a:solidFill>
                            <a:srgbClr val="FFFFFF"/>
                          </a:solidFill>
                          <a:latin typeface="Noto Sans"/>
                          <a:ea typeface="Noto Sans"/>
                          <a:cs typeface="Noto Sans"/>
                        </a:rPr>
                        <a:t>R²</a:t>
                      </a:r>
                    </a:p>
                  </a:txBody>
                  <a:tcPr marL="91440" marR="91440" marT="45720" marB="45720">
                    <a:solidFill>
                      <a:srgbClr val="25495A"/>
                    </a:solidFill>
                  </a:tcPr>
                </a:tc>
              </a:tr>
              <a:tr h="628650">
                <a:tc>
                  <a:txBody>
                    <a:bodyPr>
                      <a:normAutofit/>
                    </a:bodyPr>
                    <a:lstStyle/>
                    <a:p>
                      <a:r>
                        <a:rPr sz="1650" b="0">
                          <a:solidFill>
                            <a:srgbClr val="163444"/>
                          </a:solidFill>
                          <a:latin typeface="Noto Sans"/>
                          <a:ea typeface="Noto Sans"/>
                          <a:cs typeface="Noto Sans"/>
                        </a:rPr>
                        <a:t>GNN · source</a:t>
                      </a:r>
                    </a:p>
                  </a:txBody>
                  <a:tcPr marL="91440" marR="91440" marT="45720" marB="45720">
                    <a:solidFill>
                      <a:srgbClr val="FFFFFF"/>
                    </a:solidFill>
                  </a:tcPr>
                </a:tc>
                <a:tc>
                  <a:txBody>
                    <a:bodyPr>
                      <a:normAutofit/>
                    </a:bodyPr>
                    <a:lstStyle/>
                    <a:p>
                      <a:r>
                        <a:rPr sz="1650" b="0">
                          <a:solidFill>
                            <a:srgbClr val="163444"/>
                          </a:solidFill>
                          <a:latin typeface="Noto Sans"/>
                          <a:ea typeface="Noto Sans"/>
                          <a:cs typeface="Noto Sans"/>
                        </a:rPr>
                        <a:t>0.450</a:t>
                      </a:r>
                    </a:p>
                  </a:txBody>
                  <a:tcPr marL="91440" marR="91440" marT="45720" marB="45720">
                    <a:solidFill>
                      <a:srgbClr val="FFFFFF"/>
                    </a:solidFill>
                  </a:tcPr>
                </a:tc>
                <a:tc>
                  <a:txBody>
                    <a:bodyPr>
                      <a:normAutofit/>
                    </a:bodyPr>
                    <a:lstStyle/>
                    <a:p>
                      <a:r>
                        <a:rPr sz="1650" b="0">
                          <a:solidFill>
                            <a:srgbClr val="163444"/>
                          </a:solidFill>
                          <a:latin typeface="Noto Sans"/>
                          <a:ea typeface="Noto Sans"/>
                          <a:cs typeface="Noto Sans"/>
                        </a:rPr>
                        <a:t>0.093</a:t>
                      </a:r>
                    </a:p>
                  </a:txBody>
                  <a:tcPr marL="91440" marR="91440" marT="45720" marB="45720">
                    <a:solidFill>
                      <a:srgbClr val="FFFFFF"/>
                    </a:solidFill>
                  </a:tcPr>
                </a:tc>
              </a:tr>
              <a:tr h="628650">
                <a:tc>
                  <a:txBody>
                    <a:bodyPr>
                      <a:normAutofit/>
                    </a:bodyPr>
                    <a:lstStyle/>
                    <a:p>
                      <a:r>
                        <a:rPr sz="1650" b="0">
                          <a:solidFill>
                            <a:srgbClr val="163444"/>
                          </a:solidFill>
                          <a:latin typeface="Noto Sans"/>
                          <a:ea typeface="Noto Sans"/>
                          <a:cs typeface="Noto Sans"/>
                        </a:rPr>
                        <a:t>GNN · hybrid</a:t>
                      </a:r>
                    </a:p>
                  </a:txBody>
                  <a:tcPr marL="91440" marR="91440" marT="45720" marB="45720">
                    <a:solidFill>
                      <a:srgbClr val="F4F7F8"/>
                    </a:solidFill>
                  </a:tcPr>
                </a:tc>
                <a:tc>
                  <a:txBody>
                    <a:bodyPr>
                      <a:normAutofit/>
                    </a:bodyPr>
                    <a:lstStyle/>
                    <a:p>
                      <a:r>
                        <a:rPr sz="1650" b="0">
                          <a:solidFill>
                            <a:srgbClr val="163444"/>
                          </a:solidFill>
                          <a:latin typeface="Noto Sans"/>
                          <a:ea typeface="Noto Sans"/>
                          <a:cs typeface="Noto Sans"/>
                        </a:rPr>
                        <a:t>0.406</a:t>
                      </a:r>
                    </a:p>
                  </a:txBody>
                  <a:tcPr marL="91440" marR="91440" marT="45720" marB="45720">
                    <a:solidFill>
                      <a:srgbClr val="F4F7F8"/>
                    </a:solidFill>
                  </a:tcPr>
                </a:tc>
                <a:tc>
                  <a:txBody>
                    <a:bodyPr>
                      <a:normAutofit/>
                    </a:bodyPr>
                    <a:lstStyle/>
                    <a:p>
                      <a:r>
                        <a:rPr sz="1650" b="0">
                          <a:solidFill>
                            <a:srgbClr val="163444"/>
                          </a:solidFill>
                          <a:latin typeface="Noto Sans"/>
                          <a:ea typeface="Noto Sans"/>
                          <a:cs typeface="Noto Sans"/>
                        </a:rPr>
                        <a:t>0.091</a:t>
                      </a:r>
                    </a:p>
                  </a:txBody>
                  <a:tcPr marL="91440" marR="91440" marT="45720" marB="45720">
                    <a:solidFill>
                      <a:srgbClr val="F4F7F8"/>
                    </a:solidFill>
                  </a:tcPr>
                </a:tc>
              </a:tr>
              <a:tr h="628650">
                <a:tc>
                  <a:txBody>
                    <a:bodyPr>
                      <a:normAutofit/>
                    </a:bodyPr>
                    <a:lstStyle/>
                    <a:p>
                      <a:r>
                        <a:rPr sz="1650" b="0">
                          <a:solidFill>
                            <a:srgbClr val="163444"/>
                          </a:solidFill>
                          <a:latin typeface="Noto Sans"/>
                          <a:ea typeface="Noto Sans"/>
                          <a:cs typeface="Noto Sans"/>
                        </a:rPr>
                        <a:t>GNN · transpiled</a:t>
                      </a:r>
                    </a:p>
                  </a:txBody>
                  <a:tcPr marL="91440" marR="91440" marT="45720" marB="45720">
                    <a:solidFill>
                      <a:srgbClr val="FFFFFF"/>
                    </a:solidFill>
                  </a:tcPr>
                </a:tc>
                <a:tc>
                  <a:txBody>
                    <a:bodyPr>
                      <a:normAutofit/>
                    </a:bodyPr>
                    <a:lstStyle/>
                    <a:p>
                      <a:r>
                        <a:rPr sz="1650" b="0">
                          <a:solidFill>
                            <a:srgbClr val="163444"/>
                          </a:solidFill>
                          <a:latin typeface="Noto Sans"/>
                          <a:ea typeface="Noto Sans"/>
                          <a:cs typeface="Noto Sans"/>
                        </a:rPr>
                        <a:t>0.301</a:t>
                      </a:r>
                    </a:p>
                  </a:txBody>
                  <a:tcPr marL="91440" marR="91440" marT="45720" marB="45720">
                    <a:solidFill>
                      <a:srgbClr val="FFFFFF"/>
                    </a:solidFill>
                  </a:tcPr>
                </a:tc>
                <a:tc>
                  <a:txBody>
                    <a:bodyPr>
                      <a:normAutofit/>
                    </a:bodyPr>
                    <a:lstStyle/>
                    <a:p>
                      <a:r>
                        <a:rPr sz="1650" b="0">
                          <a:solidFill>
                            <a:srgbClr val="163444"/>
                          </a:solidFill>
                          <a:latin typeface="Noto Sans"/>
                          <a:ea typeface="Noto Sans"/>
                          <a:cs typeface="Noto Sans"/>
                        </a:rPr>
                        <a:t>0.521</a:t>
                      </a:r>
                    </a:p>
                  </a:txBody>
                  <a:tcPr marL="91440" marR="91440" marT="45720" marB="45720">
                    <a:solidFill>
                      <a:srgbClr val="FFFFFF"/>
                    </a:solidFill>
                  </a:tcPr>
                </a:tc>
              </a:tr>
              <a:tr h="628650">
                <a:tc>
                  <a:txBody>
                    <a:bodyPr>
                      <a:normAutofit/>
                    </a:bodyPr>
                    <a:lstStyle/>
                    <a:p>
                      <a:r>
                        <a:rPr sz="1650" b="0">
                          <a:solidFill>
                            <a:srgbClr val="163444"/>
                          </a:solidFill>
                          <a:latin typeface="Noto Sans"/>
                          <a:ea typeface="Noto Sans"/>
                          <a:cs typeface="Noto Sans"/>
                        </a:rPr>
                        <a:t>XGBoost · transpiled</a:t>
                      </a:r>
                    </a:p>
                  </a:txBody>
                  <a:tcPr marL="91440" marR="91440" marT="45720" marB="45720">
                    <a:solidFill>
                      <a:srgbClr val="F4F7F8"/>
                    </a:solidFill>
                  </a:tcPr>
                </a:tc>
                <a:tc>
                  <a:txBody>
                    <a:bodyPr>
                      <a:normAutofit/>
                    </a:bodyPr>
                    <a:lstStyle/>
                    <a:p>
                      <a:r>
                        <a:rPr sz="1650" b="0">
                          <a:solidFill>
                            <a:srgbClr val="163444"/>
                          </a:solidFill>
                          <a:latin typeface="Noto Sans"/>
                          <a:ea typeface="Noto Sans"/>
                          <a:cs typeface="Noto Sans"/>
                        </a:rPr>
                        <a:t>0.297</a:t>
                      </a:r>
                    </a:p>
                  </a:txBody>
                  <a:tcPr marL="91440" marR="91440" marT="45720" marB="45720">
                    <a:solidFill>
                      <a:srgbClr val="F4F7F8"/>
                    </a:solidFill>
                  </a:tcPr>
                </a:tc>
                <a:tc>
                  <a:txBody>
                    <a:bodyPr>
                      <a:normAutofit/>
                    </a:bodyPr>
                    <a:lstStyle/>
                    <a:p>
                      <a:r>
                        <a:rPr sz="1650" b="0">
                          <a:solidFill>
                            <a:srgbClr val="163444"/>
                          </a:solidFill>
                          <a:latin typeface="Noto Sans"/>
                          <a:ea typeface="Noto Sans"/>
                          <a:cs typeface="Noto Sans"/>
                        </a:rPr>
                        <a:t>0.289</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7CDC836E-1911-46D4-80B9-27525A1AE633}"/>
              </a:ext>
            </a:extLst>
          </p:cNvPr>
          <p:cNvSpPr>
            <a:spLocks xmlns:a="http://schemas.openxmlformats.org/drawingml/2006/main" noGrp="1"/>
          </p:cNvSpPr>
          <p:nvPr/>
        </p:nvSpPr>
        <p:spPr>
          <a:xfrm xmlns:a="http://schemas.openxmlformats.org/drawingml/2006/main">
            <a:off x="876300" y="5095875"/>
            <a:ext cx="10439400" cy="742950"/>
          </a:xfrm>
          <a:prstGeom xmlns:a="http://schemas.openxmlformats.org/drawingml/2006/main" prst="roundRect">
            <a:avLst>
              <a:gd name="adj" fmla="val 10256"/>
            </a:avLst>
          </a:prstGeom>
          <a:solidFill xmlns:a="http://schemas.openxmlformats.org/drawingml/2006/main">
            <a:srgbClr val="FBF0E1"/>
          </a:solidFill>
          <a:ln xmlns:a="http://schemas.openxmlformats.org/drawingml/2006/main" w="11430">
            <a:solidFill>
              <a:srgbClr val="B66A18"/>
            </a:solidFill>
          </a:ln>
        </p:spPr>
      </p:sp>
      <p:sp>
        <p:nvSpPr>
          <p:cNvPr id="5" name="">
            <a:extLst xmlns:a="http://schemas.openxmlformats.org/drawingml/2006/main">
              <a:ext uri="{FF2B5EF4-FFF2-40B4-BE49-F238E27FC236}">
                <a16:creationId xmlns:a16="http://schemas.microsoft.com/office/drawing/2014/main" id="{7AB8ECF2-DE88-47B2-8F8F-DF8971A4F9F3}"/>
              </a:ext>
            </a:extLst>
          </p:cNvPr>
          <p:cNvSpPr>
            <a:spLocks xmlns:a="http://schemas.openxmlformats.org/drawingml/2006/main" noGrp="1"/>
          </p:cNvSpPr>
          <p:nvPr/>
        </p:nvSpPr>
        <p:spPr>
          <a:xfrm xmlns:a="http://schemas.openxmlformats.org/drawingml/2006/main">
            <a:off x="1028700" y="5181600"/>
            <a:ext cx="10134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25495A"/>
                </a:solidFill>
                <a:latin typeface="Noto Sans"/>
                <a:ea typeface="Noto Sans"/>
                <a:cs typeface="Noto Sans"/>
              </a:defRPr>
            </a:pPr>
            <a:r>
              <a:rPr sz="1500" b="1">
                <a:solidFill>
                  <a:srgbClr val="25495A"/>
                </a:solidFill>
                <a:latin typeface="Noto Sans"/>
                <a:ea typeface="Noto Sans"/>
                <a:cs typeface="Noto Sans"/>
              </a:rPr>
              <a:t>GNN transpiled − XGBoost MAE = +0.0037 s; 95% paired interval [−0.1726, +0.1324], chưa phân giải.</a:t>
            </a:r>
          </a:p>
        </p:txBody>
      </p:sp>
      <p:sp>
        <p:nvSpPr>
          <p:cNvPr id="6" name="">
            <a:extLst xmlns:a="http://schemas.openxmlformats.org/drawingml/2006/main">
              <a:ext uri="{FF2B5EF4-FFF2-40B4-BE49-F238E27FC236}">
                <a16:creationId xmlns:a16="http://schemas.microsoft.com/office/drawing/2014/main" id="{107D678E-DB20-42F1-9441-E743757FAD1E}"/>
              </a:ext>
            </a:extLst>
          </p:cNvPr>
          <p:cNvSpPr>
            <a:spLocks xmlns:a="http://schemas.openxmlformats.org/drawingml/2006/main" noGrp="1"/>
          </p:cNvSpPr>
          <p:nvPr/>
        </p:nvSpPr>
        <p:spPr>
          <a:xfrm xmlns:a="http://schemas.openxmlformats.org/drawingml/2006/main">
            <a:off x="952500" y="60007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a:solidFill>
                  <a:srgbClr val="526873"/>
                </a:solidFill>
                <a:latin typeface="Noto Sans"/>
                <a:ea typeface="Noto Sans"/>
                <a:cs typeface="Noto Sans"/>
              </a:defRPr>
            </a:pPr>
            <a:r>
              <a:rPr sz="1350">
                <a:solidFill>
                  <a:srgbClr val="526873"/>
                </a:solidFill>
                <a:latin typeface="Noto Sans"/>
                <a:ea typeface="Noto Sans"/>
                <a:cs typeface="Noto Sans"/>
              </a:rPr>
              <a:t>n=150 hashes · 3-seed median cho GNN · một local Aer configuration.</a:t>
            </a:r>
          </a:p>
        </p:txBody>
      </p:sp>
    </p:spTree>
    <p:extLst>
      <p:ext uri="{BB962C8B-B14F-4D97-AF65-F5344CB8AC3E}">
        <p14:creationId xmlns:p14="http://schemas.microsoft.com/office/powerpoint/2010/main" val="8444245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B8C368-61BD-42AD-ADDC-2FCC8E752C43}"/>
              </a:ext>
            </a:extLst>
          </p:cNvPr>
          <p:cNvSpPr>
            <a:spLocks xmlns:a="http://schemas.openxmlformats.org/drawingml/2006/main" noGrp="1"/>
          </p:cNvSpPr>
          <p:nvPr/>
        </p:nvSpPr>
        <p:spPr>
          <a:xfrm xmlns:a="http://schemas.openxmlformats.org/drawingml/2006/main">
            <a:off x="609600" y="333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189"/>
          </a:bodyPr>
          <a:lstStyle xmlns:a="http://schemas.openxmlformats.org/drawingml/2006/main"/>
          <a:p xmlns:a="http://schemas.openxmlformats.org/drawingml/2006/main">
            <a:pPr>
              <a:defRPr sz="3000" b="1">
                <a:solidFill>
                  <a:srgbClr val="163444"/>
                </a:solidFill>
                <a:latin typeface="Noto Sans"/>
                <a:ea typeface="Noto Sans"/>
                <a:cs typeface="Noto Sans"/>
              </a:defRPr>
            </a:pPr>
            <a:r>
              <a:rPr sz="3000" b="1">
                <a:solidFill>
                  <a:srgbClr val="163444"/>
                </a:solidFill>
                <a:latin typeface="Noto Sans"/>
                <a:ea typeface="Noto Sans"/>
                <a:cs typeface="Noto Sans"/>
              </a:rPr>
              <a:t>8. Simulator · CUDA-Q dense statevector: RF và work-scaled Ridge</a:t>
            </a:r>
          </a:p>
        </p:txBody>
      </p:sp>
      <p:sp>
        <p:nvSpPr>
          <p:cNvPr id="2" name="">
            <a:extLst xmlns:a="http://schemas.openxmlformats.org/drawingml/2006/main">
              <a:ext uri="{FF2B5EF4-FFF2-40B4-BE49-F238E27FC236}">
                <a16:creationId xmlns:a16="http://schemas.microsoft.com/office/drawing/2014/main" id="{87B2F754-8D54-4046-AE92-EC4726E3FDE8}"/>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r">
              <a:defRPr sz="1125">
                <a:solidFill>
                  <a:srgbClr val="526873"/>
                </a:solidFill>
                <a:latin typeface="Noto Sans"/>
                <a:ea typeface="Noto Sans"/>
                <a:cs typeface="Noto Sans"/>
              </a:defRPr>
            </a:pPr>
            <a:r>
              <a:rPr sz="1125">
                <a:solidFill>
                  <a:srgbClr val="526873"/>
                </a:solidFill>
                <a:latin typeface="Noto Sans"/>
                <a:ea typeface="Noto Sans"/>
                <a:cs typeface="Noto Sans"/>
              </a:rPr>
              <a:t>09</a:t>
            </a:r>
          </a:p>
        </p:txBody>
      </p:sp>
      <p:graphicFrame>
        <p:nvGraphicFramePr>
          <p:cNvPr id="8" name=""/>
          <p:cNvGraphicFramePr/>
          <p:nvPr/>
        </p:nvGraphicFramePr>
        <p:xfrm>
          <a:off xmlns:a="http://schemas.openxmlformats.org/drawingml/2006/main" x="571500" y="1381125"/>
          <a:ext xmlns:a="http://schemas.openxmlformats.org/drawingml/2006/main" cx="11049000" cy="3714750"/>
        </p:xfrm>
        <a:graphic xmlns:a="http://schemas.openxmlformats.org/drawingml/2006/main">
          <a:graphicData uri="http://schemas.openxmlformats.org/drawingml/2006/table">
            <a:tbl>
              <a:tblPr/>
              <a:tblGrid>
                <a:gridCol w="1428750"/>
                <a:gridCol w="2667000"/>
                <a:gridCol w="2000250"/>
                <a:gridCol w="1714500"/>
                <a:gridCol w="3238500"/>
              </a:tblGrid>
              <a:tr h="619125">
                <a:tc>
                  <a:txBody>
                    <a:bodyPr>
                      <a:normAutofit/>
                    </a:bodyPr>
                    <a:lstStyle/>
                    <a:p>
                      <a:r>
                        <a:rPr sz="1425" b="1">
                          <a:solidFill>
                            <a:srgbClr val="FFFFFF"/>
                          </a:solidFill>
                          <a:latin typeface="Noto Sans"/>
                          <a:ea typeface="Noto Sans"/>
                          <a:cs typeface="Noto Sans"/>
                        </a:rPr>
                        <a:t>Precision</a:t>
                      </a:r>
                    </a:p>
                  </a:txBody>
                  <a:tcPr marL="91440" marR="91440" marT="45720" marB="45720">
                    <a:solidFill>
                      <a:srgbClr val="25495A"/>
                    </a:solidFill>
                  </a:tcPr>
                </a:tc>
                <a:tc>
                  <a:txBody>
                    <a:bodyPr>
                      <a:normAutofit/>
                    </a:bodyPr>
                    <a:lstStyle/>
                    <a:p>
                      <a:r>
                        <a:rPr sz="1425" b="1">
                          <a:solidFill>
                            <a:srgbClr val="FFFFFF"/>
                          </a:solidFill>
                          <a:latin typeface="Noto Sans"/>
                          <a:ea typeface="Noto Sans"/>
                          <a:cs typeface="Noto Sans"/>
                        </a:rPr>
                        <a:t>Phương pháp</a:t>
                      </a:r>
                    </a:p>
                  </a:txBody>
                  <a:tcPr marL="91440" marR="91440" marT="45720" marB="45720">
                    <a:solidFill>
                      <a:srgbClr val="25495A"/>
                    </a:solidFill>
                  </a:tcPr>
                </a:tc>
                <a:tc>
                  <a:txBody>
                    <a:bodyPr>
                      <a:normAutofit/>
                    </a:bodyPr>
                    <a:lstStyle/>
                    <a:p>
                      <a:r>
                        <a:rPr sz="1425" b="1">
                          <a:solidFill>
                            <a:srgbClr val="FFFFFF"/>
                          </a:solidFill>
                          <a:latin typeface="Noto Sans"/>
                          <a:ea typeface="Noto Sans"/>
                          <a:cs typeface="Noto Sans"/>
                        </a:rPr>
                        <a:t>MAE (s)</a:t>
                      </a:r>
                    </a:p>
                  </a:txBody>
                  <a:tcPr marL="91440" marR="91440" marT="45720" marB="45720">
                    <a:solidFill>
                      <a:srgbClr val="25495A"/>
                    </a:solidFill>
                  </a:tcPr>
                </a:tc>
                <a:tc>
                  <a:txBody>
                    <a:bodyPr>
                      <a:normAutofit/>
                    </a:bodyPr>
                    <a:lstStyle/>
                    <a:p>
                      <a:r>
                        <a:rPr sz="1425" b="1">
                          <a:solidFill>
                            <a:srgbClr val="FFFFFF"/>
                          </a:solidFill>
                          <a:latin typeface="Noto Sans"/>
                          <a:ea typeface="Noto Sans"/>
                          <a:cs typeface="Noto Sans"/>
                        </a:rPr>
                        <a:t>R²</a:t>
                      </a:r>
                    </a:p>
                  </a:txBody>
                  <a:tcPr marL="91440" marR="91440" marT="45720" marB="45720">
                    <a:solidFill>
                      <a:srgbClr val="25495A"/>
                    </a:solidFill>
                  </a:tcPr>
                </a:tc>
                <a:tc>
                  <a:txBody>
                    <a:bodyPr>
                      <a:normAutofit/>
                    </a:bodyPr>
                    <a:lstStyle/>
                    <a:p>
                      <a:r>
                        <a:rPr sz="1425" b="1">
                          <a:solidFill>
                            <a:srgbClr val="FFFFFF"/>
                          </a:solidFill>
                          <a:latin typeface="Noto Sans"/>
                          <a:ea typeface="Noto Sans"/>
                          <a:cs typeface="Noto Sans"/>
                        </a:rPr>
                        <a:t>Diễn giải</a:t>
                      </a:r>
                    </a:p>
                  </a:txBody>
                  <a:tcPr marL="91440" marR="91440" marT="45720" marB="45720">
                    <a:solidFill>
                      <a:srgbClr val="25495A"/>
                    </a:solidFill>
                  </a:tcPr>
                </a:tc>
              </a:tr>
              <a:tr h="619125">
                <a:tc>
                  <a:txBody>
                    <a:bodyPr>
                      <a:normAutofit/>
                    </a:bodyPr>
                    <a:lstStyle/>
                    <a:p>
                      <a:r>
                        <a:rPr sz="1425" b="0">
                          <a:solidFill>
                            <a:srgbClr val="163444"/>
                          </a:solidFill>
                          <a:latin typeface="Noto Sans"/>
                          <a:ea typeface="Noto Sans"/>
                          <a:cs typeface="Noto Sans"/>
                        </a:rPr>
                        <a:t>FP32</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Random Forest</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0.000821</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0.516</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MAE thấp nhất</a:t>
                      </a:r>
                    </a:p>
                  </a:txBody>
                  <a:tcPr marL="91440" marR="91440" marT="45720" marB="45720">
                    <a:solidFill>
                      <a:srgbClr val="FFFFFF"/>
                    </a:solidFill>
                  </a:tcPr>
                </a:tc>
              </a:tr>
              <a:tr h="619125">
                <a:tc>
                  <a:txBody>
                    <a:bodyPr>
                      <a:normAutofit/>
                    </a:bodyPr>
                    <a:lstStyle/>
                    <a:p>
                      <a:r>
                        <a:rPr sz="1425" b="0">
                          <a:solidFill>
                            <a:srgbClr val="163444"/>
                          </a:solidFill>
                          <a:latin typeface="Noto Sans"/>
                          <a:ea typeface="Noto Sans"/>
                          <a:cs typeface="Noto Sans"/>
                        </a:rPr>
                        <a:t>FP64</a:t>
                      </a:r>
                    </a:p>
                  </a:txBody>
                  <a:tcPr marL="91440" marR="91440" marT="45720" marB="45720">
                    <a:solidFill>
                      <a:srgbClr val="F4F7F8"/>
                    </a:solidFill>
                  </a:tcPr>
                </a:tc>
                <a:tc>
                  <a:txBody>
                    <a:bodyPr>
                      <a:normAutofit/>
                    </a:bodyPr>
                    <a:lstStyle/>
                    <a:p>
                      <a:r>
                        <a:rPr sz="1425" b="0">
                          <a:solidFill>
                            <a:srgbClr val="163444"/>
                          </a:solidFill>
                          <a:latin typeface="Noto Sans"/>
                          <a:ea typeface="Noto Sans"/>
                          <a:cs typeface="Noto Sans"/>
                        </a:rPr>
                        <a:t>Random Forest</a:t>
                      </a:r>
                    </a:p>
                  </a:txBody>
                  <a:tcPr marL="91440" marR="91440" marT="45720" marB="45720">
                    <a:solidFill>
                      <a:srgbClr val="F4F7F8"/>
                    </a:solidFill>
                  </a:tcPr>
                </a:tc>
                <a:tc>
                  <a:txBody>
                    <a:bodyPr>
                      <a:normAutofit/>
                    </a:bodyPr>
                    <a:lstStyle/>
                    <a:p>
                      <a:r>
                        <a:rPr sz="1425" b="0">
                          <a:solidFill>
                            <a:srgbClr val="163444"/>
                          </a:solidFill>
                          <a:latin typeface="Noto Sans"/>
                          <a:ea typeface="Noto Sans"/>
                          <a:cs typeface="Noto Sans"/>
                        </a:rPr>
                        <a:t>0.000813</a:t>
                      </a:r>
                    </a:p>
                  </a:txBody>
                  <a:tcPr marL="91440" marR="91440" marT="45720" marB="45720">
                    <a:solidFill>
                      <a:srgbClr val="F4F7F8"/>
                    </a:solidFill>
                  </a:tcPr>
                </a:tc>
                <a:tc>
                  <a:txBody>
                    <a:bodyPr>
                      <a:normAutofit/>
                    </a:bodyPr>
                    <a:lstStyle/>
                    <a:p>
                      <a:r>
                        <a:rPr sz="1425" b="0">
                          <a:solidFill>
                            <a:srgbClr val="163444"/>
                          </a:solidFill>
                          <a:latin typeface="Noto Sans"/>
                          <a:ea typeface="Noto Sans"/>
                          <a:cs typeface="Noto Sans"/>
                        </a:rPr>
                        <a:t>0.519</a:t>
                      </a:r>
                    </a:p>
                  </a:txBody>
                  <a:tcPr marL="91440" marR="91440" marT="45720" marB="45720">
                    <a:solidFill>
                      <a:srgbClr val="F4F7F8"/>
                    </a:solidFill>
                  </a:tcPr>
                </a:tc>
                <a:tc>
                  <a:txBody>
                    <a:bodyPr>
                      <a:normAutofit/>
                    </a:bodyPr>
                    <a:lstStyle/>
                    <a:p>
                      <a:r>
                        <a:rPr sz="1425" b="0">
                          <a:solidFill>
                            <a:srgbClr val="163444"/>
                          </a:solidFill>
                          <a:latin typeface="Noto Sans"/>
                          <a:ea typeface="Noto Sans"/>
                          <a:cs typeface="Noto Sans"/>
                        </a:rPr>
                        <a:t>MAE thấp nhất</a:t>
                      </a:r>
                    </a:p>
                  </a:txBody>
                  <a:tcPr marL="91440" marR="91440" marT="45720" marB="45720">
                    <a:solidFill>
                      <a:srgbClr val="F4F7F8"/>
                    </a:solidFill>
                  </a:tcPr>
                </a:tc>
              </a:tr>
              <a:tr h="619125">
                <a:tc>
                  <a:txBody>
                    <a:bodyPr>
                      <a:normAutofit/>
                    </a:bodyPr>
                    <a:lstStyle/>
                    <a:p>
                      <a:r>
                        <a:rPr sz="1425" b="0">
                          <a:solidFill>
                            <a:srgbClr val="163444"/>
                          </a:solidFill>
                          <a:latin typeface="Noto Sans"/>
                          <a:ea typeface="Noto Sans"/>
                          <a:cs typeface="Noto Sans"/>
                        </a:rPr>
                        <a:t>FP32</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Work-scaled Ridge</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0.000921</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0.873</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R² cao nhất</a:t>
                      </a:r>
                    </a:p>
                  </a:txBody>
                  <a:tcPr marL="91440" marR="91440" marT="45720" marB="45720">
                    <a:solidFill>
                      <a:srgbClr val="FFFFFF"/>
                    </a:solidFill>
                  </a:tcPr>
                </a:tc>
              </a:tr>
              <a:tr h="619125">
                <a:tc>
                  <a:txBody>
                    <a:bodyPr>
                      <a:normAutofit/>
                    </a:bodyPr>
                    <a:lstStyle/>
                    <a:p>
                      <a:r>
                        <a:rPr sz="1425" b="0">
                          <a:solidFill>
                            <a:srgbClr val="163444"/>
                          </a:solidFill>
                          <a:latin typeface="Noto Sans"/>
                          <a:ea typeface="Noto Sans"/>
                          <a:cs typeface="Noto Sans"/>
                        </a:rPr>
                        <a:t>FP64</a:t>
                      </a:r>
                    </a:p>
                  </a:txBody>
                  <a:tcPr marL="91440" marR="91440" marT="45720" marB="45720">
                    <a:solidFill>
                      <a:srgbClr val="F4F7F8"/>
                    </a:solidFill>
                  </a:tcPr>
                </a:tc>
                <a:tc>
                  <a:txBody>
                    <a:bodyPr>
                      <a:normAutofit/>
                    </a:bodyPr>
                    <a:lstStyle/>
                    <a:p>
                      <a:r>
                        <a:rPr sz="1425" b="0">
                          <a:solidFill>
                            <a:srgbClr val="163444"/>
                          </a:solidFill>
                          <a:latin typeface="Noto Sans"/>
                          <a:ea typeface="Noto Sans"/>
                          <a:cs typeface="Noto Sans"/>
                        </a:rPr>
                        <a:t>Work-scaled Ridge</a:t>
                      </a:r>
                    </a:p>
                  </a:txBody>
                  <a:tcPr marL="91440" marR="91440" marT="45720" marB="45720">
                    <a:solidFill>
                      <a:srgbClr val="F4F7F8"/>
                    </a:solidFill>
                  </a:tcPr>
                </a:tc>
                <a:tc>
                  <a:txBody>
                    <a:bodyPr>
                      <a:normAutofit/>
                    </a:bodyPr>
                    <a:lstStyle/>
                    <a:p>
                      <a:r>
                        <a:rPr sz="1425" b="0">
                          <a:solidFill>
                            <a:srgbClr val="163444"/>
                          </a:solidFill>
                          <a:latin typeface="Noto Sans"/>
                          <a:ea typeface="Noto Sans"/>
                          <a:cs typeface="Noto Sans"/>
                        </a:rPr>
                        <a:t>0.000937</a:t>
                      </a:r>
                    </a:p>
                  </a:txBody>
                  <a:tcPr marL="91440" marR="91440" marT="45720" marB="45720">
                    <a:solidFill>
                      <a:srgbClr val="F4F7F8"/>
                    </a:solidFill>
                  </a:tcPr>
                </a:tc>
                <a:tc>
                  <a:txBody>
                    <a:bodyPr>
                      <a:normAutofit/>
                    </a:bodyPr>
                    <a:lstStyle/>
                    <a:p>
                      <a:r>
                        <a:rPr sz="1425" b="0">
                          <a:solidFill>
                            <a:srgbClr val="163444"/>
                          </a:solidFill>
                          <a:latin typeface="Noto Sans"/>
                          <a:ea typeface="Noto Sans"/>
                          <a:cs typeface="Noto Sans"/>
                        </a:rPr>
                        <a:t>0.865</a:t>
                      </a:r>
                    </a:p>
                  </a:txBody>
                  <a:tcPr marL="91440" marR="91440" marT="45720" marB="45720">
                    <a:solidFill>
                      <a:srgbClr val="F4F7F8"/>
                    </a:solidFill>
                  </a:tcPr>
                </a:tc>
                <a:tc>
                  <a:txBody>
                    <a:bodyPr>
                      <a:normAutofit/>
                    </a:bodyPr>
                    <a:lstStyle/>
                    <a:p>
                      <a:r>
                        <a:rPr sz="1425" b="0">
                          <a:solidFill>
                            <a:srgbClr val="163444"/>
                          </a:solidFill>
                          <a:latin typeface="Noto Sans"/>
                          <a:ea typeface="Noto Sans"/>
                          <a:cs typeface="Noto Sans"/>
                        </a:rPr>
                        <a:t>R² cao nhất</a:t>
                      </a:r>
                    </a:p>
                  </a:txBody>
                  <a:tcPr marL="91440" marR="91440" marT="45720" marB="45720">
                    <a:solidFill>
                      <a:srgbClr val="F4F7F8"/>
                    </a:solidFill>
                  </a:tcPr>
                </a:tc>
              </a:tr>
              <a:tr h="619125">
                <a:tc>
                  <a:txBody>
                    <a:bodyPr>
                      <a:normAutofit/>
                    </a:bodyPr>
                    <a:lstStyle/>
                    <a:p>
                      <a:r>
                        <a:rPr sz="1425" b="0">
                          <a:solidFill>
                            <a:srgbClr val="163444"/>
                          </a:solidFill>
                          <a:latin typeface="Noto Sans"/>
                          <a:ea typeface="Noto Sans"/>
                          <a:cs typeface="Noto Sans"/>
                        </a:rPr>
                        <a:t>FP32/64</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Ma–Li-style graph</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0.001716 / 0.001730</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0.135 / 0.136</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Không thắng classical MAE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D40CA2C-095F-4700-B5F7-26F7254D02D6}"/>
              </a:ext>
            </a:extLst>
          </p:cNvPr>
          <p:cNvSpPr>
            <a:spLocks xmlns:a="http://schemas.openxmlformats.org/drawingml/2006/main" noGrp="1"/>
          </p:cNvSpPr>
          <p:nvPr/>
        </p:nvSpPr>
        <p:spPr>
          <a:xfrm xmlns:a="http://schemas.openxmlformats.org/drawingml/2006/main">
            <a:off x="666750" y="5524500"/>
            <a:ext cx="10858500" cy="685800"/>
          </a:xfrm>
          <a:prstGeom xmlns:a="http://schemas.openxmlformats.org/drawingml/2006/main" prst="roundRect">
            <a:avLst>
              <a:gd name="adj" fmla="val 11111"/>
            </a:avLst>
          </a:prstGeom>
          <a:solidFill xmlns:a="http://schemas.openxmlformats.org/drawingml/2006/main">
            <a:srgbClr val="E4F2F0"/>
          </a:solidFill>
          <a:ln xmlns:a="http://schemas.openxmlformats.org/drawingml/2006/main" w="11430">
            <a:solidFill>
              <a:srgbClr val="007F78"/>
            </a:solidFill>
          </a:ln>
        </p:spPr>
      </p:sp>
      <p:sp>
        <p:nvSpPr>
          <p:cNvPr id="5" name="">
            <a:extLst xmlns:a="http://schemas.openxmlformats.org/drawingml/2006/main">
              <a:ext uri="{FF2B5EF4-FFF2-40B4-BE49-F238E27FC236}">
                <a16:creationId xmlns:a16="http://schemas.microsoft.com/office/drawing/2014/main" id="{7A91251D-6154-4D60-897D-D97B24515E33}"/>
              </a:ext>
            </a:extLst>
          </p:cNvPr>
          <p:cNvSpPr>
            <a:spLocks xmlns:a="http://schemas.openxmlformats.org/drawingml/2006/main" noGrp="1"/>
          </p:cNvSpPr>
          <p:nvPr/>
        </p:nvSpPr>
        <p:spPr>
          <a:xfrm xmlns:a="http://schemas.openxmlformats.org/drawingml/2006/main">
            <a:off x="819150" y="5610225"/>
            <a:ext cx="10553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88"/>
          </a:bodyPr>
          <a:lstStyle xmlns:a="http://schemas.openxmlformats.org/drawingml/2006/main"/>
          <a:p xmlns:a="http://schemas.openxmlformats.org/drawingml/2006/main">
            <a:pPr>
              <a:defRPr sz="1575" b="1">
                <a:solidFill>
                  <a:srgbClr val="25495A"/>
                </a:solidFill>
                <a:latin typeface="Noto Sans"/>
                <a:ea typeface="Noto Sans"/>
                <a:cs typeface="Noto Sans"/>
              </a:defRPr>
            </a:pPr>
            <a:r>
              <a:rPr sz="1575" b="1">
                <a:solidFill>
                  <a:srgbClr val="25495A"/>
                </a:solidFill>
                <a:latin typeface="Noto Sans"/>
                <a:ea typeface="Noto Sans"/>
                <a:cs typeface="Noto Sans"/>
              </a:rPr>
              <a:t>Runtime rất ngắn: đây là dự đoán warm sample clock; không suy thành launch cost tổng quát hay mọi simulator.</a:t>
            </a:r>
          </a:p>
        </p:txBody>
      </p:sp>
    </p:spTree>
    <p:extLst>
      <p:ext uri="{BB962C8B-B14F-4D97-AF65-F5344CB8AC3E}">
        <p14:creationId xmlns:p14="http://schemas.microsoft.com/office/powerpoint/2010/main" val="15069604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969268-AA62-4D0E-B316-B16E65989AF3}"/>
              </a:ext>
            </a:extLst>
          </p:cNvPr>
          <p:cNvSpPr>
            <a:spLocks xmlns:a="http://schemas.openxmlformats.org/drawingml/2006/main" noGrp="1"/>
          </p:cNvSpPr>
          <p:nvPr/>
        </p:nvSpPr>
        <p:spPr>
          <a:xfrm xmlns:a="http://schemas.openxmlformats.org/drawingml/2006/main">
            <a:off x="609600" y="333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63444"/>
                </a:solidFill>
                <a:latin typeface="Noto Sans"/>
                <a:ea typeface="Noto Sans"/>
                <a:cs typeface="Noto Sans"/>
              </a:defRPr>
            </a:pPr>
            <a:r>
              <a:rPr sz="3000" b="1">
                <a:solidFill>
                  <a:srgbClr val="163444"/>
                </a:solidFill>
                <a:latin typeface="Noto Sans"/>
                <a:ea typeface="Noto Sans"/>
                <a:cs typeface="Noto Sans"/>
              </a:rPr>
              <a:t>9. Simulator · CUDA-Q MPS: runtime phải đi cùng quality</a:t>
            </a:r>
          </a:p>
        </p:txBody>
      </p:sp>
      <p:sp>
        <p:nvSpPr>
          <p:cNvPr id="2" name="">
            <a:extLst xmlns:a="http://schemas.openxmlformats.org/drawingml/2006/main">
              <a:ext uri="{FF2B5EF4-FFF2-40B4-BE49-F238E27FC236}">
                <a16:creationId xmlns:a16="http://schemas.microsoft.com/office/drawing/2014/main" id="{FA1F6B46-CE2F-401C-B0CA-EE24567A3C06}"/>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r">
              <a:defRPr sz="1125">
                <a:solidFill>
                  <a:srgbClr val="526873"/>
                </a:solidFill>
                <a:latin typeface="Noto Sans"/>
                <a:ea typeface="Noto Sans"/>
                <a:cs typeface="Noto Sans"/>
              </a:defRPr>
            </a:pPr>
            <a:r>
              <a:rPr sz="1125">
                <a:solidFill>
                  <a:srgbClr val="526873"/>
                </a:solidFill>
                <a:latin typeface="Noto Sans"/>
                <a:ea typeface="Noto Sans"/>
                <a:cs typeface="Noto Sans"/>
              </a:rPr>
              <a:t>10</a:t>
            </a:r>
          </a:p>
        </p:txBody>
      </p:sp>
      <p:graphicFrame>
        <p:nvGraphicFramePr>
          <p:cNvPr id="8" name=""/>
          <p:cNvGraphicFramePr/>
          <p:nvPr/>
        </p:nvGraphicFramePr>
        <p:xfrm>
          <a:off xmlns:a="http://schemas.openxmlformats.org/drawingml/2006/main" x="514350" y="1295400"/>
          <a:ext xmlns:a="http://schemas.openxmlformats.org/drawingml/2006/main" cx="11163300" cy="3857625"/>
        </p:xfrm>
        <a:graphic xmlns:a="http://schemas.openxmlformats.org/drawingml/2006/main">
          <a:graphicData uri="http://schemas.openxmlformats.org/drawingml/2006/table">
            <a:tbl>
              <a:tblPr/>
              <a:tblGrid>
                <a:gridCol w="2857500"/>
                <a:gridCol w="1619250"/>
                <a:gridCol w="1619250"/>
                <a:gridCol w="1428750"/>
                <a:gridCol w="3638550"/>
              </a:tblGrid>
              <a:tr h="642938">
                <a:tc>
                  <a:txBody>
                    <a:bodyPr>
                      <a:normAutofit/>
                    </a:bodyPr>
                    <a:lstStyle/>
                    <a:p>
                      <a:r>
                        <a:rPr sz="1350" b="1">
                          <a:solidFill>
                            <a:srgbClr val="FFFFFF"/>
                          </a:solidFill>
                          <a:latin typeface="Noto Sans"/>
                          <a:ea typeface="Noto Sans"/>
                          <a:cs typeface="Noto Sans"/>
                        </a:rPr>
                        <a:t>Panel / method</a:t>
                      </a:r>
                    </a:p>
                  </a:txBody>
                  <a:tcPr marL="91440" marR="91440" marT="45720" marB="45720">
                    <a:solidFill>
                      <a:srgbClr val="25495A"/>
                    </a:solidFill>
                  </a:tcPr>
                </a:tc>
                <a:tc>
                  <a:txBody>
                    <a:bodyPr>
                      <a:normAutofit/>
                    </a:bodyPr>
                    <a:lstStyle/>
                    <a:p>
                      <a:r>
                        <a:rPr sz="1350" b="1">
                          <a:solidFill>
                            <a:srgbClr val="FFFFFF"/>
                          </a:solidFill>
                          <a:latin typeface="Noto Sans"/>
                          <a:ea typeface="Noto Sans"/>
                          <a:cs typeface="Noto Sans"/>
                        </a:rPr>
                        <a:t>Scored</a:t>
                      </a:r>
                    </a:p>
                  </a:txBody>
                  <a:tcPr marL="91440" marR="91440" marT="45720" marB="45720">
                    <a:solidFill>
                      <a:srgbClr val="25495A"/>
                    </a:solidFill>
                  </a:tcPr>
                </a:tc>
                <a:tc>
                  <a:txBody>
                    <a:bodyPr>
                      <a:normAutofit/>
                    </a:bodyPr>
                    <a:lstStyle/>
                    <a:p>
                      <a:r>
                        <a:rPr sz="1350" b="1">
                          <a:solidFill>
                            <a:srgbClr val="FFFFFF"/>
                          </a:solidFill>
                          <a:latin typeface="Noto Sans"/>
                          <a:ea typeface="Noto Sans"/>
                          <a:cs typeface="Noto Sans"/>
                        </a:rPr>
                        <a:t>MAE (s)</a:t>
                      </a:r>
                    </a:p>
                  </a:txBody>
                  <a:tcPr marL="91440" marR="91440" marT="45720" marB="45720">
                    <a:solidFill>
                      <a:srgbClr val="25495A"/>
                    </a:solidFill>
                  </a:tcPr>
                </a:tc>
                <a:tc>
                  <a:txBody>
                    <a:bodyPr>
                      <a:normAutofit/>
                    </a:bodyPr>
                    <a:lstStyle/>
                    <a:p>
                      <a:r>
                        <a:rPr sz="1350" b="1">
                          <a:solidFill>
                            <a:srgbClr val="FFFFFF"/>
                          </a:solidFill>
                          <a:latin typeface="Noto Sans"/>
                          <a:ea typeface="Noto Sans"/>
                          <a:cs typeface="Noto Sans"/>
                        </a:rPr>
                        <a:t>R²</a:t>
                      </a:r>
                    </a:p>
                  </a:txBody>
                  <a:tcPr marL="91440" marR="91440" marT="45720" marB="45720">
                    <a:solidFill>
                      <a:srgbClr val="25495A"/>
                    </a:solidFill>
                  </a:tcPr>
                </a:tc>
                <a:tc>
                  <a:txBody>
                    <a:bodyPr>
                      <a:normAutofit/>
                    </a:bodyPr>
                    <a:lstStyle/>
                    <a:p>
                      <a:r>
                        <a:rPr sz="1350" b="1">
                          <a:solidFill>
                            <a:srgbClr val="FFFFFF"/>
                          </a:solidFill>
                          <a:latin typeface="Noto Sans"/>
                          <a:ea typeface="Noto Sans"/>
                          <a:cs typeface="Noto Sans"/>
                        </a:rPr>
                        <a:t>Quality</a:t>
                      </a:r>
                    </a:p>
                  </a:txBody>
                  <a:tcPr marL="91440" marR="91440" marT="45720" marB="45720">
                    <a:solidFill>
                      <a:srgbClr val="25495A"/>
                    </a:solidFill>
                  </a:tcPr>
                </a:tc>
              </a:tr>
              <a:tr h="642938">
                <a:tc>
                  <a:txBody>
                    <a:bodyPr>
                      <a:normAutofit/>
                    </a:bodyPr>
                    <a:lstStyle/>
                    <a:p>
                      <a:r>
                        <a:rPr sz="1275" b="0">
                          <a:solidFill>
                            <a:srgbClr val="163444"/>
                          </a:solidFill>
                          <a:latin typeface="Noto Sans"/>
                          <a:ea typeface="Noto Sans"/>
                          <a:cs typeface="Noto Sans"/>
                        </a:rPr>
                        <a:t>Fixed χ16 · graph</a:t>
                      </a:r>
                    </a:p>
                  </a:txBody>
                  <a:tcPr marL="91440" marR="91440" marT="45720" marB="45720">
                    <a:solidFill>
                      <a:srgbClr val="FFFFFF"/>
                    </a:solidFill>
                  </a:tcPr>
                </a:tc>
                <a:tc>
                  <a:txBody>
                    <a:bodyPr>
                      <a:normAutofit/>
                    </a:bodyPr>
                    <a:lstStyle/>
                    <a:p>
                      <a:r>
                        <a:rPr sz="1275" b="0">
                          <a:solidFill>
                            <a:srgbClr val="163444"/>
                          </a:solidFill>
                          <a:latin typeface="Noto Sans"/>
                          <a:ea typeface="Noto Sans"/>
                          <a:cs typeface="Noto Sans"/>
                        </a:rPr>
                        <a:t>150 / 150</a:t>
                      </a:r>
                    </a:p>
                  </a:txBody>
                  <a:tcPr marL="91440" marR="91440" marT="45720" marB="45720">
                    <a:solidFill>
                      <a:srgbClr val="FFFFFF"/>
                    </a:solidFill>
                  </a:tcPr>
                </a:tc>
                <a:tc>
                  <a:txBody>
                    <a:bodyPr>
                      <a:normAutofit/>
                    </a:bodyPr>
                    <a:lstStyle/>
                    <a:p>
                      <a:r>
                        <a:rPr sz="1275" b="0">
                          <a:solidFill>
                            <a:srgbClr val="163444"/>
                          </a:solidFill>
                          <a:latin typeface="Noto Sans"/>
                          <a:ea typeface="Noto Sans"/>
                          <a:cs typeface="Noto Sans"/>
                        </a:rPr>
                        <a:t>0.296</a:t>
                      </a:r>
                    </a:p>
                  </a:txBody>
                  <a:tcPr marL="91440" marR="91440" marT="45720" marB="45720">
                    <a:solidFill>
                      <a:srgbClr val="FFFFFF"/>
                    </a:solidFill>
                  </a:tcPr>
                </a:tc>
                <a:tc>
                  <a:txBody>
                    <a:bodyPr>
                      <a:normAutofit/>
                    </a:bodyPr>
                    <a:lstStyle/>
                    <a:p>
                      <a:r>
                        <a:rPr sz="1275" b="0">
                          <a:solidFill>
                            <a:srgbClr val="163444"/>
                          </a:solidFill>
                          <a:latin typeface="Noto Sans"/>
                          <a:ea typeface="Noto Sans"/>
                          <a:cs typeface="Noto Sans"/>
                        </a:rPr>
                        <a:t>0.951</a:t>
                      </a:r>
                    </a:p>
                  </a:txBody>
                  <a:tcPr marL="91440" marR="91440" marT="45720" marB="45720">
                    <a:solidFill>
                      <a:srgbClr val="FFFFFF"/>
                    </a:solidFill>
                  </a:tcPr>
                </a:tc>
                <a:tc>
                  <a:txBody>
                    <a:bodyPr>
                      <a:normAutofit/>
                    </a:bodyPr>
                    <a:lstStyle/>
                    <a:p>
                      <a:r>
                        <a:rPr sz="1275" b="0">
                          <a:solidFill>
                            <a:srgbClr val="163444"/>
                          </a:solidFill>
                          <a:latin typeface="Noto Sans"/>
                          <a:ea typeface="Noto Sans"/>
                          <a:cs typeface="Noto Sans"/>
                        </a:rPr>
                        <a:t>Quality-pass MAE 0.291 on 147</a:t>
                      </a:r>
                    </a:p>
                  </a:txBody>
                  <a:tcPr marL="91440" marR="91440" marT="45720" marB="45720">
                    <a:solidFill>
                      <a:srgbClr val="FFFFFF"/>
                    </a:solidFill>
                  </a:tcPr>
                </a:tc>
              </a:tr>
              <a:tr h="642938">
                <a:tc>
                  <a:txBody>
                    <a:bodyPr>
                      <a:normAutofit/>
                    </a:bodyPr>
                    <a:lstStyle/>
                    <a:p>
                      <a:r>
                        <a:rPr sz="1275" b="0">
                          <a:solidFill>
                            <a:srgbClr val="163444"/>
                          </a:solidFill>
                          <a:latin typeface="Noto Sans"/>
                          <a:ea typeface="Noto Sans"/>
                          <a:cs typeface="Noto Sans"/>
                        </a:rPr>
                        <a:t>Fixed χ16 · family residual</a:t>
                      </a:r>
                    </a:p>
                  </a:txBody>
                  <a:tcPr marL="91440" marR="91440" marT="45720" marB="45720">
                    <a:solidFill>
                      <a:srgbClr val="F4F7F8"/>
                    </a:solidFill>
                  </a:tcPr>
                </a:tc>
                <a:tc>
                  <a:txBody>
                    <a:bodyPr>
                      <a:normAutofit/>
                    </a:bodyPr>
                    <a:lstStyle/>
                    <a:p>
                      <a:r>
                        <a:rPr sz="1275" b="0">
                          <a:solidFill>
                            <a:srgbClr val="163444"/>
                          </a:solidFill>
                          <a:latin typeface="Noto Sans"/>
                          <a:ea typeface="Noto Sans"/>
                          <a:cs typeface="Noto Sans"/>
                        </a:rPr>
                        <a:t>150 / 150</a:t>
                      </a:r>
                    </a:p>
                  </a:txBody>
                  <a:tcPr marL="91440" marR="91440" marT="45720" marB="45720">
                    <a:solidFill>
                      <a:srgbClr val="F4F7F8"/>
                    </a:solidFill>
                  </a:tcPr>
                </a:tc>
                <a:tc>
                  <a:txBody>
                    <a:bodyPr>
                      <a:normAutofit/>
                    </a:bodyPr>
                    <a:lstStyle/>
                    <a:p>
                      <a:r>
                        <a:rPr sz="1275" b="0">
                          <a:solidFill>
                            <a:srgbClr val="163444"/>
                          </a:solidFill>
                          <a:latin typeface="Noto Sans"/>
                          <a:ea typeface="Noto Sans"/>
                          <a:cs typeface="Noto Sans"/>
                        </a:rPr>
                        <a:t>1.148</a:t>
                      </a:r>
                    </a:p>
                  </a:txBody>
                  <a:tcPr marL="91440" marR="91440" marT="45720" marB="45720">
                    <a:solidFill>
                      <a:srgbClr val="F4F7F8"/>
                    </a:solidFill>
                  </a:tcPr>
                </a:tc>
                <a:tc>
                  <a:txBody>
                    <a:bodyPr>
                      <a:normAutofit/>
                    </a:bodyPr>
                    <a:lstStyle/>
                    <a:p>
                      <a:r>
                        <a:rPr sz="1275" b="0">
                          <a:solidFill>
                            <a:srgbClr val="163444"/>
                          </a:solidFill>
                          <a:latin typeface="Noto Sans"/>
                          <a:ea typeface="Noto Sans"/>
                          <a:cs typeface="Noto Sans"/>
                        </a:rPr>
                        <a:t>0.503</a:t>
                      </a:r>
                    </a:p>
                  </a:txBody>
                  <a:tcPr marL="91440" marR="91440" marT="45720" marB="45720">
                    <a:solidFill>
                      <a:srgbClr val="F4F7F8"/>
                    </a:solidFill>
                  </a:tcPr>
                </a:tc>
                <a:tc>
                  <a:txBody>
                    <a:bodyPr>
                      <a:normAutofit/>
                    </a:bodyPr>
                    <a:lstStyle/>
                    <a:p>
                      <a:r>
                        <a:rPr sz="1275" b="0">
                          <a:solidFill>
                            <a:srgbClr val="163444"/>
                          </a:solidFill>
                          <a:latin typeface="Noto Sans"/>
                          <a:ea typeface="Noto Sans"/>
                          <a:cs typeface="Noto Sans"/>
                        </a:rPr>
                        <a:t>Quality-pass MAE 1.132</a:t>
                      </a:r>
                    </a:p>
                  </a:txBody>
                  <a:tcPr marL="91440" marR="91440" marT="45720" marB="45720">
                    <a:solidFill>
                      <a:srgbClr val="F4F7F8"/>
                    </a:solidFill>
                  </a:tcPr>
                </a:tc>
              </a:tr>
              <a:tr h="642938">
                <a:tc>
                  <a:txBody>
                    <a:bodyPr>
                      <a:normAutofit/>
                    </a:bodyPr>
                    <a:lstStyle/>
                    <a:p>
                      <a:r>
                        <a:rPr sz="1275" b="0">
                          <a:solidFill>
                            <a:srgbClr val="163444"/>
                          </a:solidFill>
                          <a:latin typeface="Noto Sans"/>
                          <a:ea typeface="Noto Sans"/>
                          <a:cs typeface="Noto Sans"/>
                        </a:rPr>
                        <a:t>Fixed χ16 · family-agnostic</a:t>
                      </a:r>
                    </a:p>
                  </a:txBody>
                  <a:tcPr marL="91440" marR="91440" marT="45720" marB="45720">
                    <a:solidFill>
                      <a:srgbClr val="FFFFFF"/>
                    </a:solidFill>
                  </a:tcPr>
                </a:tc>
                <a:tc>
                  <a:txBody>
                    <a:bodyPr>
                      <a:normAutofit/>
                    </a:bodyPr>
                    <a:lstStyle/>
                    <a:p>
                      <a:r>
                        <a:rPr sz="1275" b="0">
                          <a:solidFill>
                            <a:srgbClr val="163444"/>
                          </a:solidFill>
                          <a:latin typeface="Noto Sans"/>
                          <a:ea typeface="Noto Sans"/>
                          <a:cs typeface="Noto Sans"/>
                        </a:rPr>
                        <a:t>150 / 150</a:t>
                      </a:r>
                    </a:p>
                  </a:txBody>
                  <a:tcPr marL="91440" marR="91440" marT="45720" marB="45720">
                    <a:solidFill>
                      <a:srgbClr val="FFFFFF"/>
                    </a:solidFill>
                  </a:tcPr>
                </a:tc>
                <a:tc>
                  <a:txBody>
                    <a:bodyPr>
                      <a:normAutofit/>
                    </a:bodyPr>
                    <a:lstStyle/>
                    <a:p>
                      <a:r>
                        <a:rPr sz="1275" b="0">
                          <a:solidFill>
                            <a:srgbClr val="163444"/>
                          </a:solidFill>
                          <a:latin typeface="Noto Sans"/>
                          <a:ea typeface="Noto Sans"/>
                          <a:cs typeface="Noto Sans"/>
                        </a:rPr>
                        <a:t>1.121</a:t>
                      </a:r>
                    </a:p>
                  </a:txBody>
                  <a:tcPr marL="91440" marR="91440" marT="45720" marB="45720">
                    <a:solidFill>
                      <a:srgbClr val="FFFFFF"/>
                    </a:solidFill>
                  </a:tcPr>
                </a:tc>
                <a:tc>
                  <a:txBody>
                    <a:bodyPr>
                      <a:normAutofit/>
                    </a:bodyPr>
                    <a:lstStyle/>
                    <a:p>
                      <a:r>
                        <a:rPr sz="1275" b="0">
                          <a:solidFill>
                            <a:srgbClr val="163444"/>
                          </a:solidFill>
                          <a:latin typeface="Noto Sans"/>
                          <a:ea typeface="Noto Sans"/>
                          <a:cs typeface="Noto Sans"/>
                        </a:rPr>
                        <a:t>0.520</a:t>
                      </a:r>
                    </a:p>
                  </a:txBody>
                  <a:tcPr marL="91440" marR="91440" marT="45720" marB="45720">
                    <a:solidFill>
                      <a:srgbClr val="FFFFFF"/>
                    </a:solidFill>
                  </a:tcPr>
                </a:tc>
                <a:tc>
                  <a:txBody>
                    <a:bodyPr>
                      <a:normAutofit/>
                    </a:bodyPr>
                    <a:lstStyle/>
                    <a:p>
                      <a:r>
                        <a:rPr sz="1275" b="0">
                          <a:solidFill>
                            <a:srgbClr val="163444"/>
                          </a:solidFill>
                          <a:latin typeface="Noto Sans"/>
                          <a:ea typeface="Noto Sans"/>
                          <a:cs typeface="Noto Sans"/>
                        </a:rPr>
                        <a:t>Quality-pass MAE 1.140</a:t>
                      </a:r>
                    </a:p>
                  </a:txBody>
                  <a:tcPr marL="91440" marR="91440" marT="45720" marB="45720">
                    <a:solidFill>
                      <a:srgbClr val="FFFFFF"/>
                    </a:solidFill>
                  </a:tcPr>
                </a:tc>
              </a:tr>
              <a:tr h="642938">
                <a:tc>
                  <a:txBody>
                    <a:bodyPr>
                      <a:normAutofit/>
                    </a:bodyPr>
                    <a:lstStyle/>
                    <a:p>
                      <a:r>
                        <a:rPr sz="1275" b="0">
                          <a:solidFill>
                            <a:srgbClr val="163444"/>
                          </a:solidFill>
                          <a:latin typeface="Noto Sans"/>
                          <a:ea typeface="Noto Sans"/>
                          <a:cs typeface="Noto Sans"/>
                        </a:rPr>
                        <a:t>Joint ladder · family</a:t>
                      </a:r>
                    </a:p>
                  </a:txBody>
                  <a:tcPr marL="91440" marR="91440" marT="45720" marB="45720">
                    <a:solidFill>
                      <a:srgbClr val="F4F7F8"/>
                    </a:solidFill>
                  </a:tcPr>
                </a:tc>
                <a:tc>
                  <a:txBody>
                    <a:bodyPr>
                      <a:normAutofit/>
                    </a:bodyPr>
                    <a:lstStyle/>
                    <a:p>
                      <a:r>
                        <a:rPr sz="1275" b="0">
                          <a:solidFill>
                            <a:srgbClr val="163444"/>
                          </a:solidFill>
                          <a:latin typeface="Noto Sans"/>
                          <a:ea typeface="Noto Sans"/>
                          <a:cs typeface="Noto Sans"/>
                        </a:rPr>
                        <a:t>840 / 900</a:t>
                      </a:r>
                    </a:p>
                  </a:txBody>
                  <a:tcPr marL="91440" marR="91440" marT="45720" marB="45720">
                    <a:solidFill>
                      <a:srgbClr val="F4F7F8"/>
                    </a:solidFill>
                  </a:tcPr>
                </a:tc>
                <a:tc>
                  <a:txBody>
                    <a:bodyPr>
                      <a:normAutofit/>
                    </a:bodyPr>
                    <a:lstStyle/>
                    <a:p>
                      <a:r>
                        <a:rPr sz="1275" b="0">
                          <a:solidFill>
                            <a:srgbClr val="163444"/>
                          </a:solidFill>
                          <a:latin typeface="Noto Sans"/>
                          <a:ea typeface="Noto Sans"/>
                          <a:cs typeface="Noto Sans"/>
                        </a:rPr>
                        <a:t>0.312</a:t>
                      </a:r>
                    </a:p>
                  </a:txBody>
                  <a:tcPr marL="91440" marR="91440" marT="45720" marB="45720">
                    <a:solidFill>
                      <a:srgbClr val="F4F7F8"/>
                    </a:solidFill>
                  </a:tcPr>
                </a:tc>
                <a:tc>
                  <a:txBody>
                    <a:bodyPr>
                      <a:normAutofit/>
                    </a:bodyPr>
                    <a:lstStyle/>
                    <a:p>
                      <a:r>
                        <a:rPr sz="1275" b="0">
                          <a:solidFill>
                            <a:srgbClr val="163444"/>
                          </a:solidFill>
                          <a:latin typeface="Noto Sans"/>
                          <a:ea typeface="Noto Sans"/>
                          <a:cs typeface="Noto Sans"/>
                        </a:rPr>
                        <a:t>0.522</a:t>
                      </a:r>
                    </a:p>
                  </a:txBody>
                  <a:tcPr marL="91440" marR="91440" marT="45720" marB="45720">
                    <a:solidFill>
                      <a:srgbClr val="F4F7F8"/>
                    </a:solidFill>
                  </a:tcPr>
                </a:tc>
                <a:tc>
                  <a:txBody>
                    <a:bodyPr>
                      <a:normAutofit/>
                    </a:bodyPr>
                    <a:lstStyle/>
                    <a:p>
                      <a:r>
                        <a:rPr sz="1275" b="0">
                          <a:solidFill>
                            <a:srgbClr val="163444"/>
                          </a:solidFill>
                          <a:latin typeface="Noto Sans"/>
                          <a:ea typeface="Noto Sans"/>
                          <a:cs typeface="Noto Sans"/>
                        </a:rPr>
                        <a:t>Brier 0.0816; 45.7% rung violations</a:t>
                      </a:r>
                    </a:p>
                  </a:txBody>
                  <a:tcPr marL="91440" marR="91440" marT="45720" marB="45720">
                    <a:solidFill>
                      <a:srgbClr val="F4F7F8"/>
                    </a:solidFill>
                  </a:tcPr>
                </a:tc>
              </a:tr>
              <a:tr h="642938">
                <a:tc>
                  <a:txBody>
                    <a:bodyPr>
                      <a:normAutofit/>
                    </a:bodyPr>
                    <a:lstStyle/>
                    <a:p>
                      <a:r>
                        <a:rPr sz="1275" b="0">
                          <a:solidFill>
                            <a:srgbClr val="163444"/>
                          </a:solidFill>
                          <a:latin typeface="Noto Sans"/>
                          <a:ea typeface="Noto Sans"/>
                          <a:cs typeface="Noto Sans"/>
                        </a:rPr>
                        <a:t>Joint ladder · no-family</a:t>
                      </a:r>
                    </a:p>
                  </a:txBody>
                  <a:tcPr marL="91440" marR="91440" marT="45720" marB="45720">
                    <a:solidFill>
                      <a:srgbClr val="FFFFFF"/>
                    </a:solidFill>
                  </a:tcPr>
                </a:tc>
                <a:tc>
                  <a:txBody>
                    <a:bodyPr>
                      <a:normAutofit/>
                    </a:bodyPr>
                    <a:lstStyle/>
                    <a:p>
                      <a:r>
                        <a:rPr sz="1275" b="0">
                          <a:solidFill>
                            <a:srgbClr val="163444"/>
                          </a:solidFill>
                          <a:latin typeface="Noto Sans"/>
                          <a:ea typeface="Noto Sans"/>
                          <a:cs typeface="Noto Sans"/>
                        </a:rPr>
                        <a:t>840 / 900</a:t>
                      </a:r>
                    </a:p>
                  </a:txBody>
                  <a:tcPr marL="91440" marR="91440" marT="45720" marB="45720">
                    <a:solidFill>
                      <a:srgbClr val="FFFFFF"/>
                    </a:solidFill>
                  </a:tcPr>
                </a:tc>
                <a:tc>
                  <a:txBody>
                    <a:bodyPr>
                      <a:normAutofit/>
                    </a:bodyPr>
                    <a:lstStyle/>
                    <a:p>
                      <a:r>
                        <a:rPr sz="1275" b="0">
                          <a:solidFill>
                            <a:srgbClr val="163444"/>
                          </a:solidFill>
                          <a:latin typeface="Noto Sans"/>
                          <a:ea typeface="Noto Sans"/>
                          <a:cs typeface="Noto Sans"/>
                        </a:rPr>
                        <a:t>0.308</a:t>
                      </a:r>
                    </a:p>
                  </a:txBody>
                  <a:tcPr marL="91440" marR="91440" marT="45720" marB="45720">
                    <a:solidFill>
                      <a:srgbClr val="FFFFFF"/>
                    </a:solidFill>
                  </a:tcPr>
                </a:tc>
                <a:tc>
                  <a:txBody>
                    <a:bodyPr>
                      <a:normAutofit/>
                    </a:bodyPr>
                    <a:lstStyle/>
                    <a:p>
                      <a:r>
                        <a:rPr sz="1275" b="0">
                          <a:solidFill>
                            <a:srgbClr val="163444"/>
                          </a:solidFill>
                          <a:latin typeface="Noto Sans"/>
                          <a:ea typeface="Noto Sans"/>
                          <a:cs typeface="Noto Sans"/>
                        </a:rPr>
                        <a:t>0.524</a:t>
                      </a:r>
                    </a:p>
                  </a:txBody>
                  <a:tcPr marL="91440" marR="91440" marT="45720" marB="45720">
                    <a:solidFill>
                      <a:srgbClr val="FFFFFF"/>
                    </a:solidFill>
                  </a:tcPr>
                </a:tc>
                <a:tc>
                  <a:txBody>
                    <a:bodyPr>
                      <a:normAutofit/>
                    </a:bodyPr>
                    <a:lstStyle/>
                    <a:p>
                      <a:r>
                        <a:rPr sz="1275" b="0">
                          <a:solidFill>
                            <a:srgbClr val="163444"/>
                          </a:solidFill>
                          <a:latin typeface="Noto Sans"/>
                          <a:ea typeface="Noto Sans"/>
                          <a:cs typeface="Noto Sans"/>
                        </a:rPr>
                        <a:t>Brier 0.0863</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E3E069B-D6EF-4FEC-B077-827F21C249FD}"/>
              </a:ext>
            </a:extLst>
          </p:cNvPr>
          <p:cNvSpPr>
            <a:spLocks xmlns:a="http://schemas.openxmlformats.org/drawingml/2006/main" noGrp="1"/>
          </p:cNvSpPr>
          <p:nvPr/>
        </p:nvSpPr>
        <p:spPr>
          <a:xfrm xmlns:a="http://schemas.openxmlformats.org/drawingml/2006/main">
            <a:off x="628650" y="5476875"/>
            <a:ext cx="10906125" cy="723900"/>
          </a:xfrm>
          <a:prstGeom xmlns:a="http://schemas.openxmlformats.org/drawingml/2006/main" prst="roundRect">
            <a:avLst>
              <a:gd name="adj" fmla="val 10526"/>
            </a:avLst>
          </a:prstGeom>
          <a:solidFill xmlns:a="http://schemas.openxmlformats.org/drawingml/2006/main">
            <a:srgbClr val="FBF0E1"/>
          </a:solidFill>
          <a:ln xmlns:a="http://schemas.openxmlformats.org/drawingml/2006/main" w="11430">
            <a:solidFill>
              <a:srgbClr val="B66A18"/>
            </a:solidFill>
          </a:ln>
        </p:spPr>
      </p:sp>
      <p:sp>
        <p:nvSpPr>
          <p:cNvPr id="5" name="">
            <a:extLst xmlns:a="http://schemas.openxmlformats.org/drawingml/2006/main">
              <a:ext uri="{FF2B5EF4-FFF2-40B4-BE49-F238E27FC236}">
                <a16:creationId xmlns:a16="http://schemas.microsoft.com/office/drawing/2014/main" id="{595DDFEA-5FEE-4308-8FBE-75E00AD00F05}"/>
              </a:ext>
            </a:extLst>
          </p:cNvPr>
          <p:cNvSpPr>
            <a:spLocks xmlns:a="http://schemas.openxmlformats.org/drawingml/2006/main" noGrp="1"/>
          </p:cNvSpPr>
          <p:nvPr/>
        </p:nvSpPr>
        <p:spPr>
          <a:xfrm xmlns:a="http://schemas.openxmlformats.org/drawingml/2006/main">
            <a:off x="781050" y="5562600"/>
            <a:ext cx="10601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25495A"/>
                </a:solidFill>
                <a:latin typeface="Noto Sans"/>
                <a:ea typeface="Noto Sans"/>
                <a:cs typeface="Noto Sans"/>
              </a:defRPr>
            </a:pPr>
            <a:r>
              <a:rPr sz="1425" b="1">
                <a:solidFill>
                  <a:srgbClr val="25495A"/>
                </a:solidFill>
                <a:latin typeface="Noto Sans"/>
                <a:ea typeface="Noto Sans"/>
                <a:cs typeface="Noto Sans"/>
              </a:rPr>
              <a:t>Family conditioning does not improve joint-rung runtime here: paired Δ MAE +0.0041 s, 95% interval [−0.0266, +0.0392].</a:t>
            </a:r>
          </a:p>
        </p:txBody>
      </p:sp>
    </p:spTree>
    <p:extLst>
      <p:ext uri="{BB962C8B-B14F-4D97-AF65-F5344CB8AC3E}">
        <p14:creationId xmlns:p14="http://schemas.microsoft.com/office/powerpoint/2010/main" val="18253173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17EC02-053F-4BE3-AE48-F43CB13FC6F1}"/>
              </a:ext>
            </a:extLst>
          </p:cNvPr>
          <p:cNvSpPr>
            <a:spLocks xmlns:a="http://schemas.openxmlformats.org/drawingml/2006/main" noGrp="1"/>
          </p:cNvSpPr>
          <p:nvPr/>
        </p:nvSpPr>
        <p:spPr>
          <a:xfrm xmlns:a="http://schemas.openxmlformats.org/drawingml/2006/main">
            <a:off x="609600" y="333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63444"/>
                </a:solidFill>
                <a:latin typeface="Noto Sans"/>
                <a:ea typeface="Noto Sans"/>
                <a:cs typeface="Noto Sans"/>
              </a:defRPr>
            </a:pPr>
            <a:r>
              <a:rPr sz="3000" b="1">
                <a:solidFill>
                  <a:srgbClr val="163444"/>
                </a:solidFill>
                <a:latin typeface="Noto Sans"/>
                <a:ea typeface="Noto Sans"/>
                <a:cs typeface="Noto Sans"/>
              </a:rPr>
              <a:t>10. Các nhánh simulator có clock và điều kiện riêng</a:t>
            </a:r>
          </a:p>
        </p:txBody>
      </p:sp>
      <p:sp>
        <p:nvSpPr>
          <p:cNvPr id="2" name="">
            <a:extLst xmlns:a="http://schemas.openxmlformats.org/drawingml/2006/main">
              <a:ext uri="{FF2B5EF4-FFF2-40B4-BE49-F238E27FC236}">
                <a16:creationId xmlns:a16="http://schemas.microsoft.com/office/drawing/2014/main" id="{B026DABB-E9D3-411A-BF11-55DBBB0C70AD}"/>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r">
              <a:defRPr sz="1125">
                <a:solidFill>
                  <a:srgbClr val="526873"/>
                </a:solidFill>
                <a:latin typeface="Noto Sans"/>
                <a:ea typeface="Noto Sans"/>
                <a:cs typeface="Noto Sans"/>
              </a:defRPr>
            </a:pPr>
            <a:r>
              <a:rPr sz="1125">
                <a:solidFill>
                  <a:srgbClr val="526873"/>
                </a:solidFill>
                <a:latin typeface="Noto Sans"/>
                <a:ea typeface="Noto Sans"/>
                <a:cs typeface="Noto Sans"/>
              </a:rPr>
              <a:t>11</a:t>
            </a:r>
          </a:p>
        </p:txBody>
      </p:sp>
      <p:graphicFrame>
        <p:nvGraphicFramePr>
          <p:cNvPr id="8" name=""/>
          <p:cNvGraphicFramePr/>
          <p:nvPr/>
        </p:nvGraphicFramePr>
        <p:xfrm>
          <a:off xmlns:a="http://schemas.openxmlformats.org/drawingml/2006/main" x="533400" y="1333500"/>
          <a:ext xmlns:a="http://schemas.openxmlformats.org/drawingml/2006/main" cx="11125200" cy="4048125"/>
        </p:xfrm>
        <a:graphic xmlns:a="http://schemas.openxmlformats.org/drawingml/2006/main">
          <a:graphicData uri="http://schemas.openxmlformats.org/drawingml/2006/table">
            <a:tbl>
              <a:tblPr/>
              <a:tblGrid>
                <a:gridCol w="2381250"/>
                <a:gridCol w="3810000"/>
                <a:gridCol w="4933950"/>
              </a:tblGrid>
              <a:tr h="674688">
                <a:tc>
                  <a:txBody>
                    <a:bodyPr>
                      <a:normAutofit/>
                    </a:bodyPr>
                    <a:lstStyle/>
                    <a:p>
                      <a:r>
                        <a:rPr sz="1425" b="1">
                          <a:solidFill>
                            <a:srgbClr val="FFFFFF"/>
                          </a:solidFill>
                          <a:latin typeface="Noto Sans"/>
                          <a:ea typeface="Noto Sans"/>
                          <a:cs typeface="Noto Sans"/>
                        </a:rPr>
                        <a:t>Method</a:t>
                      </a:r>
                    </a:p>
                  </a:txBody>
                  <a:tcPr marL="91440" marR="91440" marT="45720" marB="45720">
                    <a:solidFill>
                      <a:srgbClr val="25495A"/>
                    </a:solidFill>
                  </a:tcPr>
                </a:tc>
                <a:tc>
                  <a:txBody>
                    <a:bodyPr>
                      <a:normAutofit/>
                    </a:bodyPr>
                    <a:lstStyle/>
                    <a:p>
                      <a:r>
                        <a:rPr sz="1425" b="1">
                          <a:solidFill>
                            <a:srgbClr val="FFFFFF"/>
                          </a:solidFill>
                          <a:latin typeface="Noto Sans"/>
                          <a:ea typeface="Noto Sans"/>
                          <a:cs typeface="Noto Sans"/>
                        </a:rPr>
                        <a:t>Kết quả hiện có</a:t>
                      </a:r>
                    </a:p>
                  </a:txBody>
                  <a:tcPr marL="91440" marR="91440" marT="45720" marB="45720">
                    <a:solidFill>
                      <a:srgbClr val="25495A"/>
                    </a:solidFill>
                  </a:tcPr>
                </a:tc>
                <a:tc>
                  <a:txBody>
                    <a:bodyPr>
                      <a:normAutofit/>
                    </a:bodyPr>
                    <a:lstStyle/>
                    <a:p>
                      <a:r>
                        <a:rPr sz="1425" b="1">
                          <a:solidFill>
                            <a:srgbClr val="FFFFFF"/>
                          </a:solidFill>
                          <a:latin typeface="Noto Sans"/>
                          <a:ea typeface="Noto Sans"/>
                          <a:cs typeface="Noto Sans"/>
                        </a:rPr>
                        <a:t>Ranh giới kết luận</a:t>
                      </a:r>
                    </a:p>
                  </a:txBody>
                  <a:tcPr marL="91440" marR="91440" marT="45720" marB="45720">
                    <a:solidFill>
                      <a:srgbClr val="25495A"/>
                    </a:solidFill>
                  </a:tcPr>
                </a:tc>
              </a:tr>
              <a:tr h="674688">
                <a:tc>
                  <a:txBody>
                    <a:bodyPr>
                      <a:normAutofit/>
                    </a:bodyPr>
                    <a:lstStyle/>
                    <a:p>
                      <a:r>
                        <a:rPr sz="1350" b="0">
                          <a:solidFill>
                            <a:srgbClr val="163444"/>
                          </a:solidFill>
                          <a:latin typeface="Noto Sans"/>
                          <a:ea typeface="Noto Sans"/>
                          <a:cs typeface="Noto Sans"/>
                        </a:rPr>
                        <a:t>Maestro-style component</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143/150; MAE 0.000104 s; R² 0.949</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CPU Statevector; 15 engine samples/hash; không phải full selector</a:t>
                      </a:r>
                    </a:p>
                  </a:txBody>
                  <a:tcPr marL="91440" marR="91440" marT="45720" marB="45720">
                    <a:solidFill>
                      <a:srgbClr val="FFFFFF"/>
                    </a:solidFill>
                  </a:tcPr>
                </a:tc>
              </a:tr>
              <a:tr h="674688">
                <a:tc>
                  <a:txBody>
                    <a:bodyPr>
                      <a:normAutofit/>
                    </a:bodyPr>
                    <a:lstStyle/>
                    <a:p>
                      <a:r>
                        <a:rPr sz="1350" b="0">
                          <a:solidFill>
                            <a:srgbClr val="163444"/>
                          </a:solidFill>
                          <a:latin typeface="Noto Sans"/>
                          <a:ea typeface="Noto Sans"/>
                          <a:cs typeface="Noto Sans"/>
                        </a:rPr>
                        <a:t>cuTensorNet</a:t>
                      </a:r>
                    </a:p>
                  </a:txBody>
                  <a:tcPr marL="91440" marR="91440" marT="45720" marB="45720">
                    <a:solidFill>
                      <a:srgbClr val="F4F7F8"/>
                    </a:solidFill>
                  </a:tcPr>
                </a:tc>
                <a:tc>
                  <a:txBody>
                    <a:bodyPr>
                      <a:normAutofit/>
                    </a:bodyPr>
                    <a:lstStyle/>
                    <a:p>
                      <a:r>
                        <a:rPr sz="1350" b="0">
                          <a:solidFill>
                            <a:srgbClr val="163444"/>
                          </a:solidFill>
                          <a:latin typeface="Noto Sans"/>
                          <a:ea typeface="Noto Sans"/>
                          <a:cs typeface="Noto Sans"/>
                        </a:rPr>
                        <a:t>603/612 successful; median EST/warm ratio 3.734 core, 4.132 frontier</a:t>
                      </a:r>
                    </a:p>
                  </a:txBody>
                  <a:tcPr marL="91440" marR="91440" marT="45720" marB="45720">
                    <a:solidFill>
                      <a:srgbClr val="F4F7F8"/>
                    </a:solidFill>
                  </a:tcPr>
                </a:tc>
                <a:tc>
                  <a:txBody>
                    <a:bodyPr>
                      <a:normAutofit/>
                    </a:bodyPr>
                    <a:lstStyle/>
                    <a:p>
                      <a:r>
                        <a:rPr sz="1350" b="0">
                          <a:solidFill>
                            <a:srgbClr val="163444"/>
                          </a:solidFill>
                          <a:latin typeface="Noto Sans"/>
                          <a:ea typeface="Noto Sans"/>
                          <a:cs typeface="Noto Sans"/>
                        </a:rPr>
                        <a:t>Selected-plan contraction; không phải toàn bộ simulator wall-clock</a:t>
                      </a:r>
                    </a:p>
                  </a:txBody>
                  <a:tcPr marL="91440" marR="91440" marT="45720" marB="45720">
                    <a:solidFill>
                      <a:srgbClr val="F4F7F8"/>
                    </a:solidFill>
                  </a:tcPr>
                </a:tc>
              </a:tr>
              <a:tr h="674688">
                <a:tc>
                  <a:txBody>
                    <a:bodyPr>
                      <a:normAutofit/>
                    </a:bodyPr>
                    <a:lstStyle/>
                    <a:p>
                      <a:r>
                        <a:rPr sz="1350" b="0">
                          <a:solidFill>
                            <a:srgbClr val="163444"/>
                          </a:solidFill>
                          <a:latin typeface="Noto Sans"/>
                          <a:ea typeface="Noto Sans"/>
                          <a:cs typeface="Noto Sans"/>
                        </a:rPr>
                        <a:t>Pasqal emu-MPS</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18 cells; 17 quality-pass, 1 fail</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Analog companion; công thức chưa promote, không cùng digital QASM panel</a:t>
                      </a:r>
                    </a:p>
                  </a:txBody>
                  <a:tcPr marL="91440" marR="91440" marT="45720" marB="45720">
                    <a:solidFill>
                      <a:srgbClr val="FFFFFF"/>
                    </a:solidFill>
                  </a:tcPr>
                </a:tc>
              </a:tr>
              <a:tr h="674688">
                <a:tc>
                  <a:txBody>
                    <a:bodyPr>
                      <a:normAutofit/>
                    </a:bodyPr>
                    <a:lstStyle/>
                    <a:p>
                      <a:r>
                        <a:rPr sz="1350" b="0">
                          <a:solidFill>
                            <a:srgbClr val="163444"/>
                          </a:solidFill>
                          <a:latin typeface="Noto Sans"/>
                          <a:ea typeface="Noto Sans"/>
                          <a:cs typeface="Noto Sans"/>
                        </a:rPr>
                        <a:t>Original Family-Aware route</a:t>
                      </a:r>
                    </a:p>
                  </a:txBody>
                  <a:tcPr marL="91440" marR="91440" marT="45720" marB="45720">
                    <a:solidFill>
                      <a:srgbClr val="F4F7F8"/>
                    </a:solidFill>
                  </a:tcPr>
                </a:tc>
                <a:tc>
                  <a:txBody>
                    <a:bodyPr>
                      <a:normAutofit/>
                    </a:bodyPr>
                    <a:lstStyle/>
                    <a:p>
                      <a:r>
                        <a:rPr sz="1350" b="0">
                          <a:solidFill>
                            <a:srgbClr val="163444"/>
                          </a:solidFill>
                          <a:latin typeface="Noto Sans"/>
                          <a:ea typeface="Noto Sans"/>
                          <a:cs typeface="Noto Sans"/>
                        </a:rPr>
                        <a:t>Unavailable</a:t>
                      </a:r>
                    </a:p>
                  </a:txBody>
                  <a:tcPr marL="91440" marR="91440" marT="45720" marB="45720">
                    <a:solidFill>
                      <a:srgbClr val="F4F7F8"/>
                    </a:solidFill>
                  </a:tcPr>
                </a:tc>
                <a:tc>
                  <a:txBody>
                    <a:bodyPr>
                      <a:normAutofit/>
                    </a:bodyPr>
                    <a:lstStyle/>
                    <a:p>
                      <a:r>
                        <a:rPr sz="1350" b="0">
                          <a:solidFill>
                            <a:srgbClr val="163444"/>
                          </a:solidFill>
                          <a:latin typeface="Noto Sans"/>
                          <a:ea typeface="Noto Sans"/>
                          <a:cs typeface="Noto Sans"/>
                        </a:rPr>
                        <a:t>Thiếu approximation-threshold target tương thích</a:t>
                      </a:r>
                    </a:p>
                  </a:txBody>
                  <a:tcPr marL="91440" marR="91440" marT="45720" marB="45720">
                    <a:solidFill>
                      <a:srgbClr val="F4F7F8"/>
                    </a:solidFill>
                  </a:tcPr>
                </a:tc>
              </a:tr>
              <a:tr h="674688">
                <a:tc>
                  <a:txBody>
                    <a:bodyPr>
                      <a:normAutofit/>
                    </a:bodyPr>
                    <a:lstStyle/>
                    <a:p>
                      <a:r>
                        <a:rPr sz="1350" b="0">
                          <a:solidFill>
                            <a:srgbClr val="163444"/>
                          </a:solidFill>
                          <a:latin typeface="Noto Sans"/>
                          <a:ea typeface="Noto Sans"/>
                          <a:cs typeface="Noto Sans"/>
                        </a:rPr>
                        <a:t>Maestro original selector</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Unavailable</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Composer/selector component đóng; local adaptation báo riêng</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B8D10CD-7C84-4198-BAB0-1EE45377D256}"/>
              </a:ext>
            </a:extLst>
          </p:cNvPr>
          <p:cNvSpPr>
            <a:spLocks xmlns:a="http://schemas.openxmlformats.org/drawingml/2006/main" noGrp="1"/>
          </p:cNvSpPr>
          <p:nvPr/>
        </p:nvSpPr>
        <p:spPr>
          <a:xfrm xmlns:a="http://schemas.openxmlformats.org/drawingml/2006/main">
            <a:off x="666750" y="5619750"/>
            <a:ext cx="10839450" cy="600075"/>
          </a:xfrm>
          <a:prstGeom xmlns:a="http://schemas.openxmlformats.org/drawingml/2006/main" prst="roundRect">
            <a:avLst>
              <a:gd name="adj" fmla="val 12698"/>
            </a:avLst>
          </a:prstGeom>
          <a:solidFill xmlns:a="http://schemas.openxmlformats.org/drawingml/2006/main">
            <a:srgbClr val="E4F2F0"/>
          </a:solidFill>
          <a:ln xmlns:a="http://schemas.openxmlformats.org/drawingml/2006/main" w="11430">
            <a:solidFill>
              <a:srgbClr val="007F78"/>
            </a:solidFill>
          </a:ln>
        </p:spPr>
      </p:sp>
      <p:sp>
        <p:nvSpPr>
          <p:cNvPr id="5" name="">
            <a:extLst xmlns:a="http://schemas.openxmlformats.org/drawingml/2006/main">
              <a:ext uri="{FF2B5EF4-FFF2-40B4-BE49-F238E27FC236}">
                <a16:creationId xmlns:a16="http://schemas.microsoft.com/office/drawing/2014/main" id="{0FCD7825-88FF-4427-9418-837CB042CCC5}"/>
              </a:ext>
            </a:extLst>
          </p:cNvPr>
          <p:cNvSpPr>
            <a:spLocks xmlns:a="http://schemas.openxmlformats.org/drawingml/2006/main" noGrp="1"/>
          </p:cNvSpPr>
          <p:nvPr/>
        </p:nvSpPr>
        <p:spPr>
          <a:xfrm xmlns:a="http://schemas.openxmlformats.org/drawingml/2006/main">
            <a:off x="819150" y="5705475"/>
            <a:ext cx="1053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017"/>
          </a:bodyPr>
          <a:lstStyle xmlns:a="http://schemas.openxmlformats.org/drawingml/2006/main"/>
          <a:p xmlns:a="http://schemas.openxmlformats.org/drawingml/2006/main">
            <a:pPr>
              <a:defRPr sz="1575" b="1">
                <a:solidFill>
                  <a:srgbClr val="25495A"/>
                </a:solidFill>
                <a:latin typeface="Noto Sans"/>
                <a:ea typeface="Noto Sans"/>
                <a:cs typeface="Noto Sans"/>
              </a:defRPr>
            </a:pPr>
            <a:r>
              <a:rPr sz="1575" b="1">
                <a:solidFill>
                  <a:srgbClr val="25495A"/>
                </a:solidFill>
                <a:latin typeface="Noto Sans"/>
                <a:ea typeface="Noto Sans"/>
                <a:cs typeface="Noto Sans"/>
              </a:rPr>
              <a:t>Không gộp runtime của Aer, dense SV, MPS, tensor network và analog emulator thành cùng một error metric.</a:t>
            </a:r>
          </a:p>
        </p:txBody>
      </p:sp>
    </p:spTree>
    <p:extLst>
      <p:ext uri="{BB962C8B-B14F-4D97-AF65-F5344CB8AC3E}">
        <p14:creationId xmlns:p14="http://schemas.microsoft.com/office/powerpoint/2010/main" val="47158459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23A938-24C1-4E47-85AA-7DC02969D046}"/>
              </a:ext>
            </a:extLst>
          </p:cNvPr>
          <p:cNvSpPr>
            <a:spLocks xmlns:a="http://schemas.openxmlformats.org/drawingml/2006/main" noGrp="1"/>
          </p:cNvSpPr>
          <p:nvPr/>
        </p:nvSpPr>
        <p:spPr>
          <a:xfrm xmlns:a="http://schemas.openxmlformats.org/drawingml/2006/main">
            <a:off x="609600" y="333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906"/>
          </a:bodyPr>
          <a:lstStyle xmlns:a="http://schemas.openxmlformats.org/drawingml/2006/main"/>
          <a:p xmlns:a="http://schemas.openxmlformats.org/drawingml/2006/main">
            <a:pPr>
              <a:defRPr sz="3000" b="1">
                <a:solidFill>
                  <a:srgbClr val="163444"/>
                </a:solidFill>
                <a:latin typeface="Noto Sans"/>
                <a:ea typeface="Noto Sans"/>
                <a:cs typeface="Noto Sans"/>
              </a:defRPr>
            </a:pPr>
            <a:r>
              <a:rPr sz="3000" b="1">
                <a:solidFill>
                  <a:srgbClr val="163444"/>
                </a:solidFill>
                <a:latin typeface="Noto Sans"/>
                <a:ea typeface="Noto Sans"/>
                <a:cs typeface="Noto Sans"/>
              </a:rPr>
              <a:t>11. Findings: tín hiệu có thật, nhưng phụ thuộc nguồn và metric</a:t>
            </a:r>
          </a:p>
        </p:txBody>
      </p:sp>
      <p:sp>
        <p:nvSpPr>
          <p:cNvPr id="2" name="">
            <a:extLst xmlns:a="http://schemas.openxmlformats.org/drawingml/2006/main">
              <a:ext uri="{FF2B5EF4-FFF2-40B4-BE49-F238E27FC236}">
                <a16:creationId xmlns:a16="http://schemas.microsoft.com/office/drawing/2014/main" id="{5C54652C-A60C-4C24-A996-E97617E0D8EC}"/>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r">
              <a:defRPr sz="1125">
                <a:solidFill>
                  <a:srgbClr val="526873"/>
                </a:solidFill>
                <a:latin typeface="Noto Sans"/>
                <a:ea typeface="Noto Sans"/>
                <a:cs typeface="Noto Sans"/>
              </a:defRPr>
            </a:pPr>
            <a:r>
              <a:rPr sz="1125">
                <a:solidFill>
                  <a:srgbClr val="526873"/>
                </a:solidFill>
                <a:latin typeface="Noto Sans"/>
                <a:ea typeface="Noto Sans"/>
                <a:cs typeface="Noto Sans"/>
              </a:rPr>
              <a:t>12</a:t>
            </a:r>
          </a:p>
        </p:txBody>
      </p:sp>
      <p:graphicFrame>
        <p:nvGraphicFramePr>
          <p:cNvPr id="8" name=""/>
          <p:cNvGraphicFramePr/>
          <p:nvPr/>
        </p:nvGraphicFramePr>
        <p:xfrm>
          <a:off xmlns:a="http://schemas.openxmlformats.org/drawingml/2006/main" x="628650" y="1333500"/>
          <a:ext xmlns:a="http://schemas.openxmlformats.org/drawingml/2006/main" cx="10934700" cy="3810000"/>
        </p:xfrm>
        <a:graphic xmlns:a="http://schemas.openxmlformats.org/drawingml/2006/main">
          <a:graphicData uri="http://schemas.openxmlformats.org/drawingml/2006/table">
            <a:tbl>
              <a:tblPr/>
              <a:tblGrid>
                <a:gridCol w="2476500"/>
                <a:gridCol w="4476750"/>
                <a:gridCol w="3981450"/>
              </a:tblGrid>
              <a:tr h="635000">
                <a:tc>
                  <a:txBody>
                    <a:bodyPr>
                      <a:normAutofit/>
                    </a:bodyPr>
                    <a:lstStyle/>
                    <a:p>
                      <a:r>
                        <a:rPr sz="1425" b="1">
                          <a:solidFill>
                            <a:srgbClr val="FFFFFF"/>
                          </a:solidFill>
                          <a:latin typeface="Noto Sans"/>
                          <a:ea typeface="Noto Sans"/>
                          <a:cs typeface="Noto Sans"/>
                        </a:rPr>
                        <a:t>Quan sát</a:t>
                      </a:r>
                    </a:p>
                  </a:txBody>
                  <a:tcPr marL="91440" marR="91440" marT="45720" marB="45720">
                    <a:solidFill>
                      <a:srgbClr val="25495A"/>
                    </a:solidFill>
                  </a:tcPr>
                </a:tc>
                <a:tc>
                  <a:txBody>
                    <a:bodyPr>
                      <a:normAutofit/>
                    </a:bodyPr>
                    <a:lstStyle/>
                    <a:p>
                      <a:r>
                        <a:rPr sz="1425" b="1">
                          <a:solidFill>
                            <a:srgbClr val="FFFFFF"/>
                          </a:solidFill>
                          <a:latin typeface="Noto Sans"/>
                          <a:ea typeface="Noto Sans"/>
                          <a:cs typeface="Noto Sans"/>
                        </a:rPr>
                        <a:t>Ý nghĩa</a:t>
                      </a:r>
                    </a:p>
                  </a:txBody>
                  <a:tcPr marL="91440" marR="91440" marT="45720" marB="45720">
                    <a:solidFill>
                      <a:srgbClr val="25495A"/>
                    </a:solidFill>
                  </a:tcPr>
                </a:tc>
                <a:tc>
                  <a:txBody>
                    <a:bodyPr>
                      <a:normAutofit/>
                    </a:bodyPr>
                    <a:lstStyle/>
                    <a:p>
                      <a:r>
                        <a:rPr sz="1425" b="1">
                          <a:solidFill>
                            <a:srgbClr val="FFFFFF"/>
                          </a:solidFill>
                          <a:latin typeface="Noto Sans"/>
                          <a:ea typeface="Noto Sans"/>
                          <a:cs typeface="Noto Sans"/>
                        </a:rPr>
                        <a:t>Không nên diễn giải thành</a:t>
                      </a:r>
                    </a:p>
                  </a:txBody>
                  <a:tcPr marL="91440" marR="91440" marT="45720" marB="45720">
                    <a:solidFill>
                      <a:srgbClr val="25495A"/>
                    </a:solidFill>
                  </a:tcPr>
                </a:tc>
              </a:tr>
              <a:tr h="635000">
                <a:tc>
                  <a:txBody>
                    <a:bodyPr>
                      <a:normAutofit/>
                    </a:bodyPr>
                    <a:lstStyle/>
                    <a:p>
                      <a:r>
                        <a:rPr sz="1350" b="0">
                          <a:solidFill>
                            <a:srgbClr val="163444"/>
                          </a:solidFill>
                          <a:latin typeface="Noto Sans"/>
                          <a:ea typeface="Noto Sans"/>
                          <a:cs typeface="Noto Sans"/>
                        </a:rPr>
                        <a:t>Graph vs MLP trên QPU</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Có tín hiệu lợi ích của toàn bộ graph/node-context branch</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Topology một mình gây ra cải thiện</a:t>
                      </a:r>
                    </a:p>
                  </a:txBody>
                  <a:tcPr marL="91440" marR="91440" marT="45720" marB="45720">
                    <a:solidFill>
                      <a:srgbClr val="FFFFFF"/>
                    </a:solidFill>
                  </a:tcPr>
                </a:tc>
              </a:tr>
              <a:tr h="635000">
                <a:tc>
                  <a:txBody>
                    <a:bodyPr>
                      <a:normAutofit/>
                    </a:bodyPr>
                    <a:lstStyle/>
                    <a:p>
                      <a:r>
                        <a:rPr sz="1350" b="0">
                          <a:solidFill>
                            <a:srgbClr val="163444"/>
                          </a:solidFill>
                          <a:latin typeface="Noto Sans"/>
                          <a:ea typeface="Noto Sans"/>
                          <a:cs typeface="Noto Sans"/>
                        </a:rPr>
                        <a:t>Graph vs polynomial</a:t>
                      </a:r>
                    </a:p>
                  </a:txBody>
                  <a:tcPr marL="91440" marR="91440" marT="45720" marB="45720">
                    <a:solidFill>
                      <a:srgbClr val="F4F7F8"/>
                    </a:solidFill>
                  </a:tcPr>
                </a:tc>
                <a:tc>
                  <a:txBody>
                    <a:bodyPr>
                      <a:normAutofit/>
                    </a:bodyPr>
                    <a:lstStyle/>
                    <a:p>
                      <a:r>
                        <a:rPr sz="1350" b="0">
                          <a:solidFill>
                            <a:srgbClr val="163444"/>
                          </a:solidFill>
                          <a:latin typeface="Noto Sans"/>
                          <a:ea typeface="Noto Sans"/>
                          <a:cs typeface="Noto Sans"/>
                        </a:rPr>
                        <a:t>Grouped CI qua zero; chưa phân giải</a:t>
                      </a:r>
                    </a:p>
                  </a:txBody>
                  <a:tcPr marL="91440" marR="91440" marT="45720" marB="45720">
                    <a:solidFill>
                      <a:srgbClr val="F4F7F8"/>
                    </a:solidFill>
                  </a:tcPr>
                </a:tc>
                <a:tc>
                  <a:txBody>
                    <a:bodyPr>
                      <a:normAutofit/>
                    </a:bodyPr>
                    <a:lstStyle/>
                    <a:p>
                      <a:r>
                        <a:rPr sz="1350" b="0">
                          <a:solidFill>
                            <a:srgbClr val="163444"/>
                          </a:solidFill>
                          <a:latin typeface="Noto Sans"/>
                          <a:ea typeface="Noto Sans"/>
                          <a:cs typeface="Noto Sans"/>
                        </a:rPr>
                        <a:t>Graph thắng mọi method/nguồn</a:t>
                      </a:r>
                    </a:p>
                  </a:txBody>
                  <a:tcPr marL="91440" marR="91440" marT="45720" marB="45720">
                    <a:solidFill>
                      <a:srgbClr val="F4F7F8"/>
                    </a:solidFill>
                  </a:tcPr>
                </a:tc>
              </a:tr>
              <a:tr h="635000">
                <a:tc>
                  <a:txBody>
                    <a:bodyPr>
                      <a:normAutofit/>
                    </a:bodyPr>
                    <a:lstStyle/>
                    <a:p>
                      <a:r>
                        <a:rPr sz="1350" b="0">
                          <a:solidFill>
                            <a:srgbClr val="163444"/>
                          </a:solidFill>
                          <a:latin typeface="Noto Sans"/>
                          <a:ea typeface="Noto Sans"/>
                          <a:cs typeface="Noto Sans"/>
                        </a:rPr>
                        <a:t>Source breakdown</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QPack thuận graph; Ma–Li và Qonductor thuận polynomial theo MAE</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Một unified winner cho mọi source</a:t>
                      </a:r>
                    </a:p>
                  </a:txBody>
                  <a:tcPr marL="91440" marR="91440" marT="45720" marB="45720">
                    <a:solidFill>
                      <a:srgbClr val="FFFFFF"/>
                    </a:solidFill>
                  </a:tcPr>
                </a:tc>
              </a:tr>
              <a:tr h="635000">
                <a:tc>
                  <a:txBody>
                    <a:bodyPr>
                      <a:normAutofit/>
                    </a:bodyPr>
                    <a:lstStyle/>
                    <a:p>
                      <a:r>
                        <a:rPr sz="1350" b="0">
                          <a:solidFill>
                            <a:srgbClr val="163444"/>
                          </a:solidFill>
                          <a:latin typeface="Noto Sans"/>
                          <a:ea typeface="Noto Sans"/>
                          <a:cs typeface="Noto Sans"/>
                        </a:rPr>
                        <a:t>Dense statevector</a:t>
                      </a:r>
                    </a:p>
                  </a:txBody>
                  <a:tcPr marL="91440" marR="91440" marT="45720" marB="45720">
                    <a:solidFill>
                      <a:srgbClr val="F4F7F8"/>
                    </a:solidFill>
                  </a:tcPr>
                </a:tc>
                <a:tc>
                  <a:txBody>
                    <a:bodyPr>
                      <a:normAutofit/>
                    </a:bodyPr>
                    <a:lstStyle/>
                    <a:p>
                      <a:r>
                        <a:rPr sz="1350" b="0">
                          <a:solidFill>
                            <a:srgbClr val="163444"/>
                          </a:solidFill>
                          <a:latin typeface="Noto Sans"/>
                          <a:ea typeface="Noto Sans"/>
                          <a:cs typeface="Noto Sans"/>
                        </a:rPr>
                        <a:t>RF thắng MAE; work-scaled Ridge thắng R²</a:t>
                      </a:r>
                    </a:p>
                  </a:txBody>
                  <a:tcPr marL="91440" marR="91440" marT="45720" marB="45720">
                    <a:solidFill>
                      <a:srgbClr val="F4F7F8"/>
                    </a:solidFill>
                  </a:tcPr>
                </a:tc>
                <a:tc>
                  <a:txBody>
                    <a:bodyPr>
                      <a:normAutofit/>
                    </a:bodyPr>
                    <a:lstStyle/>
                    <a:p>
                      <a:r>
                        <a:rPr sz="1350" b="0">
                          <a:solidFill>
                            <a:srgbClr val="163444"/>
                          </a:solidFill>
                          <a:latin typeface="Noto Sans"/>
                          <a:ea typeface="Noto Sans"/>
                          <a:cs typeface="Noto Sans"/>
                        </a:rPr>
                        <a:t>Một metric đủ để chọn estimator</a:t>
                      </a:r>
                    </a:p>
                  </a:txBody>
                  <a:tcPr marL="91440" marR="91440" marT="45720" marB="45720">
                    <a:solidFill>
                      <a:srgbClr val="F4F7F8"/>
                    </a:solidFill>
                  </a:tcPr>
                </a:tc>
              </a:tr>
              <a:tr h="635000">
                <a:tc>
                  <a:txBody>
                    <a:bodyPr>
                      <a:normAutofit/>
                    </a:bodyPr>
                    <a:lstStyle/>
                    <a:p>
                      <a:r>
                        <a:rPr sz="1350" b="0">
                          <a:solidFill>
                            <a:srgbClr val="163444"/>
                          </a:solidFill>
                          <a:latin typeface="Noto Sans"/>
                          <a:ea typeface="Noto Sans"/>
                          <a:cs typeface="Noto Sans"/>
                        </a:rPr>
                        <a:t>MPS quality</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Runtime model cần kèm fidelity gate</a:t>
                      </a:r>
                    </a:p>
                  </a:txBody>
                  <a:tcPr marL="91440" marR="91440" marT="45720" marB="45720">
                    <a:solidFill>
                      <a:srgbClr val="FFFFFF"/>
                    </a:solidFill>
                  </a:tcPr>
                </a:tc>
                <a:tc>
                  <a:txBody>
                    <a:bodyPr>
                      <a:normAutofit/>
                    </a:bodyPr>
                    <a:lstStyle/>
                    <a:p>
                      <a:r>
                        <a:rPr sz="1350" b="0">
                          <a:solidFill>
                            <a:srgbClr val="163444"/>
                          </a:solidFill>
                          <a:latin typeface="Noto Sans"/>
                          <a:ea typeface="Noto Sans"/>
                          <a:cs typeface="Noto Sans"/>
                        </a:rPr>
                        <a:t>Nhanh hơn nghĩa state đủ chính xác</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736ACAD-4053-469C-A2F9-40BD097B0117}"/>
              </a:ext>
            </a:extLst>
          </p:cNvPr>
          <p:cNvSpPr>
            <a:spLocks xmlns:a="http://schemas.openxmlformats.org/drawingml/2006/main" noGrp="1"/>
          </p:cNvSpPr>
          <p:nvPr/>
        </p:nvSpPr>
        <p:spPr>
          <a:xfrm xmlns:a="http://schemas.openxmlformats.org/drawingml/2006/main">
            <a:off x="723900" y="5476875"/>
            <a:ext cx="10715625" cy="742950"/>
          </a:xfrm>
          <a:prstGeom xmlns:a="http://schemas.openxmlformats.org/drawingml/2006/main" prst="roundRect">
            <a:avLst>
              <a:gd name="adj" fmla="val 10256"/>
            </a:avLst>
          </a:prstGeom>
          <a:solidFill xmlns:a="http://schemas.openxmlformats.org/drawingml/2006/main">
            <a:srgbClr val="E4F2F0"/>
          </a:solidFill>
          <a:ln xmlns:a="http://schemas.openxmlformats.org/drawingml/2006/main" w="11430">
            <a:solidFill>
              <a:srgbClr val="007F78"/>
            </a:solidFill>
          </a:ln>
        </p:spPr>
      </p:sp>
      <p:sp>
        <p:nvSpPr>
          <p:cNvPr id="5" name="">
            <a:extLst xmlns:a="http://schemas.openxmlformats.org/drawingml/2006/main">
              <a:ext uri="{FF2B5EF4-FFF2-40B4-BE49-F238E27FC236}">
                <a16:creationId xmlns:a16="http://schemas.microsoft.com/office/drawing/2014/main" id="{1980607B-D233-4B3C-85F4-1E01317F4CA1}"/>
              </a:ext>
            </a:extLst>
          </p:cNvPr>
          <p:cNvSpPr>
            <a:spLocks xmlns:a="http://schemas.openxmlformats.org/drawingml/2006/main" noGrp="1"/>
          </p:cNvSpPr>
          <p:nvPr/>
        </p:nvSpPr>
        <p:spPr>
          <a:xfrm xmlns:a="http://schemas.openxmlformats.org/drawingml/2006/main">
            <a:off x="876300" y="5562600"/>
            <a:ext cx="104108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25495A"/>
                </a:solidFill>
                <a:latin typeface="Noto Sans"/>
                <a:ea typeface="Noto Sans"/>
                <a:cs typeface="Noto Sans"/>
              </a:defRPr>
            </a:pPr>
            <a:r>
              <a:rPr sz="1575" b="1">
                <a:solidFill>
                  <a:srgbClr val="25495A"/>
                </a:solidFill>
                <a:latin typeface="Noto Sans"/>
                <a:ea typeface="Noto Sans"/>
                <a:cs typeface="Noto Sans"/>
              </a:rPr>
              <a:t>Benchmark finding: feature representation, source mixture, target clock, tails và quality gate đều làm đổi kết luận.</a:t>
            </a:r>
          </a:p>
        </p:txBody>
      </p:sp>
    </p:spTree>
    <p:extLst>
      <p:ext uri="{BB962C8B-B14F-4D97-AF65-F5344CB8AC3E}">
        <p14:creationId xmlns:p14="http://schemas.microsoft.com/office/powerpoint/2010/main" val="102297743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1808B5-4537-4EAF-AD40-20D6EBBD2BAB}"/>
              </a:ext>
            </a:extLst>
          </p:cNvPr>
          <p:cNvSpPr>
            <a:spLocks xmlns:a="http://schemas.openxmlformats.org/drawingml/2006/main" noGrp="1"/>
          </p:cNvSpPr>
          <p:nvPr/>
        </p:nvSpPr>
        <p:spPr>
          <a:xfrm xmlns:a="http://schemas.openxmlformats.org/drawingml/2006/main">
            <a:off x="609600" y="333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63444"/>
                </a:solidFill>
                <a:latin typeface="Noto Sans"/>
                <a:ea typeface="Noto Sans"/>
                <a:cs typeface="Noto Sans"/>
              </a:defRPr>
            </a:pPr>
            <a:r>
              <a:rPr sz="3000" b="1">
                <a:solidFill>
                  <a:srgbClr val="163444"/>
                </a:solidFill>
                <a:latin typeface="Noto Sans"/>
                <a:ea typeface="Noto Sans"/>
                <a:cs typeface="Noto Sans"/>
              </a:rPr>
              <a:t>12. Reproducibility và giới hạn phát hành</a:t>
            </a:r>
          </a:p>
        </p:txBody>
      </p:sp>
      <p:sp>
        <p:nvSpPr>
          <p:cNvPr id="2" name="">
            <a:extLst xmlns:a="http://schemas.openxmlformats.org/drawingml/2006/main">
              <a:ext uri="{FF2B5EF4-FFF2-40B4-BE49-F238E27FC236}">
                <a16:creationId xmlns:a16="http://schemas.microsoft.com/office/drawing/2014/main" id="{9B1DCF1A-C696-4652-B6E3-60E46590B174}"/>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r">
              <a:defRPr sz="1125">
                <a:solidFill>
                  <a:srgbClr val="526873"/>
                </a:solidFill>
                <a:latin typeface="Noto Sans"/>
                <a:ea typeface="Noto Sans"/>
                <a:cs typeface="Noto Sans"/>
              </a:defRPr>
            </a:pPr>
            <a:r>
              <a:rPr sz="1125">
                <a:solidFill>
                  <a:srgbClr val="526873"/>
                </a:solidFill>
                <a:latin typeface="Noto Sans"/>
                <a:ea typeface="Noto Sans"/>
                <a:cs typeface="Noto Sans"/>
              </a:rPr>
              <a:t>13</a:t>
            </a:r>
          </a:p>
        </p:txBody>
      </p:sp>
      <p:graphicFrame>
        <p:nvGraphicFramePr>
          <p:cNvPr id="8" name=""/>
          <p:cNvGraphicFramePr/>
          <p:nvPr/>
        </p:nvGraphicFramePr>
        <p:xfrm>
          <a:off xmlns:a="http://schemas.openxmlformats.org/drawingml/2006/main" x="609600" y="1476375"/>
          <a:ext xmlns:a="http://schemas.openxmlformats.org/drawingml/2006/main" cx="10972800" cy="3429000"/>
        </p:xfrm>
        <a:graphic xmlns:a="http://schemas.openxmlformats.org/drawingml/2006/main">
          <a:graphicData uri="http://schemas.openxmlformats.org/drawingml/2006/table">
            <a:tbl>
              <a:tblPr/>
              <a:tblGrid>
                <a:gridCol w="5429250"/>
                <a:gridCol w="5543550"/>
              </a:tblGrid>
              <a:tr h="685800">
                <a:tc>
                  <a:txBody>
                    <a:bodyPr>
                      <a:normAutofit/>
                    </a:bodyPr>
                    <a:lstStyle/>
                    <a:p>
                      <a:r>
                        <a:rPr sz="1500" b="1">
                          <a:solidFill>
                            <a:srgbClr val="FFFFFF"/>
                          </a:solidFill>
                          <a:latin typeface="Noto Sans"/>
                          <a:ea typeface="Noto Sans"/>
                          <a:cs typeface="Noto Sans"/>
                        </a:rPr>
                        <a:t>Đã kiểm được</a:t>
                      </a:r>
                    </a:p>
                  </a:txBody>
                  <a:tcPr marL="91440" marR="91440" marT="45720" marB="45720">
                    <a:solidFill>
                      <a:srgbClr val="25495A"/>
                    </a:solidFill>
                  </a:tcPr>
                </a:tc>
                <a:tc>
                  <a:txBody>
                    <a:bodyPr>
                      <a:normAutofit/>
                    </a:bodyPr>
                    <a:lstStyle/>
                    <a:p>
                      <a:r>
                        <a:rPr sz="1500" b="1">
                          <a:solidFill>
                            <a:srgbClr val="FFFFFF"/>
                          </a:solidFill>
                          <a:latin typeface="Noto Sans"/>
                          <a:ea typeface="Noto Sans"/>
                          <a:cs typeface="Noto Sans"/>
                        </a:rPr>
                        <a:t>Còn ngoài phạm vi</a:t>
                      </a:r>
                    </a:p>
                  </a:txBody>
                  <a:tcPr marL="91440" marR="91440" marT="45720" marB="45720">
                    <a:solidFill>
                      <a:srgbClr val="25495A"/>
                    </a:solidFill>
                  </a:tcPr>
                </a:tc>
              </a:tr>
              <a:tr h="685800">
                <a:tc>
                  <a:txBody>
                    <a:bodyPr>
                      <a:normAutofit/>
                    </a:bodyPr>
                    <a:lstStyle/>
                    <a:p>
                      <a:r>
                        <a:rPr sz="1425" b="0">
                          <a:solidFill>
                            <a:srgbClr val="163444"/>
                          </a:solidFill>
                          <a:latin typeface="Noto Sans"/>
                          <a:ea typeface="Noto Sans"/>
                          <a:cs typeface="Noto Sans"/>
                        </a:rPr>
                        <a:t>Frozen inputs/predictions → metric tables; clean-clone inventory/table replay</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Không retrain lại mọi model hoặc tái tạo toàn bộ raw source extraction</a:t>
                      </a:r>
                    </a:p>
                  </a:txBody>
                  <a:tcPr marL="91440" marR="91440" marT="45720" marB="45720">
                    <a:solidFill>
                      <a:srgbClr val="FFFFFF"/>
                    </a:solidFill>
                  </a:tcPr>
                </a:tc>
              </a:tr>
              <a:tr h="685800">
                <a:tc>
                  <a:txBody>
                    <a:bodyPr>
                      <a:normAutofit/>
                    </a:bodyPr>
                    <a:lstStyle/>
                    <a:p>
                      <a:r>
                        <a:rPr sz="1425" b="0">
                          <a:solidFill>
                            <a:srgbClr val="163444"/>
                          </a:solidFill>
                          <a:latin typeface="Noto Sans"/>
                          <a:ea typeface="Noto Sans"/>
                          <a:cs typeface="Noto Sans"/>
                        </a:rPr>
                        <a:t>Các panel, clocks, coverage và unavailable rows được giữ riêng</a:t>
                      </a:r>
                    </a:p>
                  </a:txBody>
                  <a:tcPr marL="91440" marR="91440" marT="45720" marB="45720">
                    <a:solidFill>
                      <a:srgbClr val="F4F7F8"/>
                    </a:solidFill>
                  </a:tcPr>
                </a:tc>
                <a:tc>
                  <a:txBody>
                    <a:bodyPr>
                      <a:normAutofit/>
                    </a:bodyPr>
                    <a:lstStyle/>
                    <a:p>
                      <a:r>
                        <a:rPr sz="1425" b="0">
                          <a:solidFill>
                            <a:srgbClr val="163444"/>
                          </a:solidFill>
                          <a:latin typeface="Noto Sans"/>
                          <a:ea typeface="Noto Sans"/>
                          <a:cs typeface="Noto Sans"/>
                        </a:rPr>
                        <a:t>Ma–Li/Qonductor full source QASM và QPack optimized submitted circuits chưa bundled</a:t>
                      </a:r>
                    </a:p>
                  </a:txBody>
                  <a:tcPr marL="91440" marR="91440" marT="45720" marB="45720">
                    <a:solidFill>
                      <a:srgbClr val="F4F7F8"/>
                    </a:solidFill>
                  </a:tcPr>
                </a:tc>
              </a:tr>
              <a:tr h="685800">
                <a:tc>
                  <a:txBody>
                    <a:bodyPr>
                      <a:normAutofit/>
                    </a:bodyPr>
                    <a:lstStyle/>
                    <a:p>
                      <a:r>
                        <a:rPr sz="1425" b="0">
                          <a:solidFill>
                            <a:srgbClr val="163444"/>
                          </a:solidFill>
                          <a:latin typeface="Noto Sans"/>
                          <a:ea typeface="Noto Sans"/>
                          <a:cs typeface="Noto Sans"/>
                        </a:rPr>
                        <a:t>Tests và output hashes có trong reproduction record</a:t>
                      </a:r>
                    </a:p>
                  </a:txBody>
                  <a:tcPr marL="91440" marR="91440" marT="45720" marB="45720">
                    <a:solidFill>
                      <a:srgbClr val="FFFFFF"/>
                    </a:solidFill>
                  </a:tcPr>
                </a:tc>
                <a:tc>
                  <a:txBody>
                    <a:bodyPr>
                      <a:normAutofit/>
                    </a:bodyPr>
                    <a:lstStyle/>
                    <a:p>
                      <a:r>
                        <a:rPr sz="1425" b="0">
                          <a:solidFill>
                            <a:srgbClr val="163444"/>
                          </a:solidFill>
                          <a:latin typeface="Noto Sans"/>
                          <a:ea typeface="Noto Sans"/>
                          <a:cs typeface="Noto Sans"/>
                        </a:rPr>
                        <a:t>License, citation và third-party redistribution decisions còn chờ owner</a:t>
                      </a:r>
                    </a:p>
                  </a:txBody>
                  <a:tcPr marL="91440" marR="91440" marT="45720" marB="45720">
                    <a:solidFill>
                      <a:srgbClr val="FFFFFF"/>
                    </a:solidFill>
                  </a:tcPr>
                </a:tc>
              </a:tr>
              <a:tr h="685800">
                <a:tc>
                  <a:txBody>
                    <a:bodyPr>
                      <a:normAutofit/>
                    </a:bodyPr>
                    <a:lstStyle/>
                    <a:p>
                      <a:r>
                        <a:rPr sz="1425" b="0">
                          <a:solidFill>
                            <a:srgbClr val="163444"/>
                          </a:solidFill>
                          <a:latin typeface="Noto Sans"/>
                          <a:ea typeface="Noto Sans"/>
                          <a:cs typeface="Noto Sans"/>
                        </a:rPr>
                        <a:t>CURRENT và C4 receipt giữ nguyên</a:t>
                      </a:r>
                    </a:p>
                  </a:txBody>
                  <a:tcPr marL="91440" marR="91440" marT="45720" marB="45720">
                    <a:solidFill>
                      <a:srgbClr val="F4F7F8"/>
                    </a:solidFill>
                  </a:tcPr>
                </a:tc>
                <a:tc>
                  <a:txBody>
                    <a:bodyPr>
                      <a:normAutofit/>
                    </a:bodyPr>
                    <a:lstStyle/>
                    <a:p>
                      <a:r>
                        <a:rPr sz="1425" b="0">
                          <a:solidFill>
                            <a:srgbClr val="163444"/>
                          </a:solidFill>
                          <a:latin typeface="Noto Sans"/>
                          <a:ea typeface="Noto Sans"/>
                          <a:cs typeface="Noto Sans"/>
                        </a:rPr>
                        <a:t>Không có public release/tag/push approval từ kỹ thuật validation</a:t>
                      </a:r>
                    </a:p>
                  </a:txBody>
                  <a:tcPr marL="91440" marR="91440" marT="45720" marB="45720">
                    <a:solidFill>
                      <a:srgbClr val="F4F7F8"/>
                    </a:solidFill>
                  </a:tcPr>
                </a:tc>
              </a:tr>
            </a:tbl>
          </a:graphicData>
        </a:graphic>
      </p:graphicFrame>
      <p:sp>
        <p:nvSpPr>
          <p:cNvPr id="4" name="">
            <a:extLst xmlns:a="http://schemas.openxmlformats.org/drawingml/2006/main">
              <a:ext uri="{FF2B5EF4-FFF2-40B4-BE49-F238E27FC236}">
                <a16:creationId xmlns:a16="http://schemas.microsoft.com/office/drawing/2014/main" id="{43E55D0D-F881-4F34-AFAF-2DAD06481033}"/>
              </a:ext>
            </a:extLst>
          </p:cNvPr>
          <p:cNvSpPr>
            <a:spLocks xmlns:a="http://schemas.openxmlformats.org/drawingml/2006/main" noGrp="1"/>
          </p:cNvSpPr>
          <p:nvPr/>
        </p:nvSpPr>
        <p:spPr>
          <a:xfrm xmlns:a="http://schemas.openxmlformats.org/drawingml/2006/main">
            <a:off x="704850" y="5381625"/>
            <a:ext cx="10782300" cy="723900"/>
          </a:xfrm>
          <a:prstGeom xmlns:a="http://schemas.openxmlformats.org/drawingml/2006/main" prst="roundRect">
            <a:avLst>
              <a:gd name="adj" fmla="val 10526"/>
            </a:avLst>
          </a:prstGeom>
          <a:solidFill xmlns:a="http://schemas.openxmlformats.org/drawingml/2006/main">
            <a:srgbClr val="FBF0E1"/>
          </a:solidFill>
          <a:ln xmlns:a="http://schemas.openxmlformats.org/drawingml/2006/main" w="11430">
            <a:solidFill>
              <a:srgbClr val="B66A18"/>
            </a:solidFill>
          </a:ln>
        </p:spPr>
      </p:sp>
      <p:sp>
        <p:nvSpPr>
          <p:cNvPr id="5" name="">
            <a:extLst xmlns:a="http://schemas.openxmlformats.org/drawingml/2006/main">
              <a:ext uri="{FF2B5EF4-FFF2-40B4-BE49-F238E27FC236}">
                <a16:creationId xmlns:a16="http://schemas.microsoft.com/office/drawing/2014/main" id="{1EE38524-13D5-47AA-92CF-D2A23B31E8A7}"/>
              </a:ext>
            </a:extLst>
          </p:cNvPr>
          <p:cNvSpPr>
            <a:spLocks xmlns:a="http://schemas.openxmlformats.org/drawingml/2006/main" noGrp="1"/>
          </p:cNvSpPr>
          <p:nvPr/>
        </p:nvSpPr>
        <p:spPr>
          <a:xfrm xmlns:a="http://schemas.openxmlformats.org/drawingml/2006/main">
            <a:off x="857250" y="54673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25495A"/>
                </a:solidFill>
                <a:latin typeface="Noto Sans"/>
                <a:ea typeface="Noto Sans"/>
                <a:cs typeface="Noto Sans"/>
              </a:defRPr>
            </a:pPr>
            <a:r>
              <a:rPr sz="1500" b="1">
                <a:solidFill>
                  <a:srgbClr val="25495A"/>
                </a:solidFill>
                <a:latin typeface="Noto Sans"/>
                <a:ea typeface="Noto Sans"/>
                <a:cs typeface="Noto Sans"/>
              </a:rPr>
              <a:t>Đầu ra hiện tại tái lập được từ evidence đóng gói; không tuyên bố end-to-end retraining từ mọi paper dataset.</a:t>
            </a:r>
          </a:p>
        </p:txBody>
      </p:sp>
    </p:spTree>
    <p:extLst>
      <p:ext uri="{BB962C8B-B14F-4D97-AF65-F5344CB8AC3E}">
        <p14:creationId xmlns:p14="http://schemas.microsoft.com/office/powerpoint/2010/main" val="9236214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DE2C0F-B439-4CA0-856D-5886EF5FD0A5}"/>
              </a:ext>
            </a:extLst>
          </p:cNvPr>
          <p:cNvSpPr>
            <a:spLocks xmlns:a="http://schemas.openxmlformats.org/drawingml/2006/main" noGrp="1"/>
          </p:cNvSpPr>
          <p:nvPr/>
        </p:nvSpPr>
        <p:spPr>
          <a:xfrm xmlns:a="http://schemas.openxmlformats.org/drawingml/2006/main">
            <a:off x="609600" y="333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163444"/>
                </a:solidFill>
                <a:latin typeface="Noto Sans"/>
                <a:ea typeface="Noto Sans"/>
                <a:cs typeface="Noto Sans"/>
              </a:defRPr>
            </a:pPr>
            <a:r>
              <a:rPr sz="3000" b="1">
                <a:solidFill>
                  <a:srgbClr val="163444"/>
                </a:solidFill>
                <a:latin typeface="Noto Sans"/>
                <a:ea typeface="Noto Sans"/>
                <a:cs typeface="Noto Sans"/>
              </a:rPr>
              <a:t>Phụ lục · Mọi biến thể QPU trong reader table</a:t>
            </a:r>
          </a:p>
        </p:txBody>
      </p:sp>
      <p:sp>
        <p:nvSpPr>
          <p:cNvPr id="2" name="">
            <a:extLst xmlns:a="http://schemas.openxmlformats.org/drawingml/2006/main">
              <a:ext uri="{FF2B5EF4-FFF2-40B4-BE49-F238E27FC236}">
                <a16:creationId xmlns:a16="http://schemas.microsoft.com/office/drawing/2014/main" id="{FA80F820-CA29-467D-A28D-96B39E2213D7}"/>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r">
              <a:defRPr sz="1125">
                <a:solidFill>
                  <a:srgbClr val="526873"/>
                </a:solidFill>
                <a:latin typeface="Noto Sans"/>
                <a:ea typeface="Noto Sans"/>
                <a:cs typeface="Noto Sans"/>
              </a:defRPr>
            </a:pPr>
            <a:r>
              <a:rPr sz="1125">
                <a:solidFill>
                  <a:srgbClr val="526873"/>
                </a:solidFill>
                <a:latin typeface="Noto Sans"/>
                <a:ea typeface="Noto Sans"/>
                <a:cs typeface="Noto Sans"/>
              </a:rPr>
              <a:t>14</a:t>
            </a:r>
          </a:p>
        </p:txBody>
      </p:sp>
      <p:graphicFrame>
        <p:nvGraphicFramePr>
          <p:cNvPr id="7" name=""/>
          <p:cNvGraphicFramePr/>
          <p:nvPr/>
        </p:nvGraphicFramePr>
        <p:xfrm>
          <a:off xmlns:a="http://schemas.openxmlformats.org/drawingml/2006/main" x="400050" y="1200150"/>
          <a:ext xmlns:a="http://schemas.openxmlformats.org/drawingml/2006/main" cx="5572125" cy="5048250"/>
        </p:xfrm>
        <a:graphic xmlns:a="http://schemas.openxmlformats.org/drawingml/2006/main">
          <a:graphicData uri="http://schemas.openxmlformats.org/drawingml/2006/table">
            <a:tbl>
              <a:tblPr/>
              <a:tblGrid>
                <a:gridCol w="2047875"/>
                <a:gridCol w="952500"/>
                <a:gridCol w="781050"/>
                <a:gridCol w="742950"/>
                <a:gridCol w="1047750"/>
              </a:tblGrid>
              <a:tr h="631031">
                <a:tc>
                  <a:txBody>
                    <a:bodyPr>
                      <a:normAutofit/>
                    </a:bodyPr>
                    <a:lstStyle/>
                    <a:p>
                      <a:r>
                        <a:rPr sz="975" b="1">
                          <a:solidFill>
                            <a:srgbClr val="FFFFFF"/>
                          </a:solidFill>
                          <a:latin typeface="Noto Sans"/>
                          <a:ea typeface="Noto Sans"/>
                          <a:cs typeface="Noto Sans"/>
                        </a:rPr>
                        <a:t>Method</a:t>
                      </a:r>
                    </a:p>
                  </a:txBody>
                  <a:tcPr marL="91440" marR="91440" marT="45720" marB="45720">
                    <a:solidFill>
                      <a:srgbClr val="25495A"/>
                    </a:solidFill>
                  </a:tcPr>
                </a:tc>
                <a:tc>
                  <a:txBody>
                    <a:bodyPr>
                      <a:normAutofit/>
                    </a:bodyPr>
                    <a:lstStyle/>
                    <a:p>
                      <a:r>
                        <a:rPr sz="975" b="1">
                          <a:solidFill>
                            <a:srgbClr val="FFFFFF"/>
                          </a:solidFill>
                          <a:latin typeface="Noto Sans"/>
                          <a:ea typeface="Noto Sans"/>
                          <a:cs typeface="Noto Sans"/>
                        </a:rPr>
                        <a:t>Pred / assigned</a:t>
                      </a:r>
                    </a:p>
                  </a:txBody>
                  <a:tcPr marL="91440" marR="91440" marT="45720" marB="45720">
                    <a:solidFill>
                      <a:srgbClr val="25495A"/>
                    </a:solidFill>
                  </a:tcPr>
                </a:tc>
                <a:tc>
                  <a:txBody>
                    <a:bodyPr>
                      <a:normAutofit/>
                    </a:bodyPr>
                    <a:lstStyle/>
                    <a:p>
                      <a:r>
                        <a:rPr sz="975" b="1">
                          <a:solidFill>
                            <a:srgbClr val="FFFFFF"/>
                          </a:solidFill>
                          <a:latin typeface="Noto Sans"/>
                          <a:ea typeface="Noto Sans"/>
                          <a:cs typeface="Noto Sans"/>
                        </a:rPr>
                        <a:t>MAE s</a:t>
                      </a:r>
                    </a:p>
                  </a:txBody>
                  <a:tcPr marL="91440" marR="91440" marT="45720" marB="45720">
                    <a:solidFill>
                      <a:srgbClr val="25495A"/>
                    </a:solidFill>
                  </a:tcPr>
                </a:tc>
                <a:tc>
                  <a:txBody>
                    <a:bodyPr>
                      <a:normAutofit/>
                    </a:bodyPr>
                    <a:lstStyle/>
                    <a:p>
                      <a:r>
                        <a:rPr sz="975" b="1">
                          <a:solidFill>
                            <a:srgbClr val="FFFFFF"/>
                          </a:solidFill>
                          <a:latin typeface="Noto Sans"/>
                          <a:ea typeface="Noto Sans"/>
                          <a:cs typeface="Noto Sans"/>
                        </a:rPr>
                        <a:t>R²</a:t>
                      </a:r>
                    </a:p>
                  </a:txBody>
                  <a:tcPr marL="91440" marR="91440" marT="45720" marB="45720">
                    <a:solidFill>
                      <a:srgbClr val="25495A"/>
                    </a:solidFill>
                  </a:tcPr>
                </a:tc>
                <a:tc>
                  <a:txBody>
                    <a:bodyPr>
                      <a:normAutofit/>
                    </a:bodyPr>
                    <a:lstStyle/>
                    <a:p>
                      <a:r>
                        <a:rPr sz="975" b="1">
                          <a:solidFill>
                            <a:srgbClr val="FFFFFF"/>
                          </a:solidFill>
                          <a:latin typeface="Noto Sans"/>
                          <a:ea typeface="Noto Sans"/>
                          <a:cs typeface="Noto Sans"/>
                        </a:rPr>
                        <a:t>Output clock</a:t>
                      </a:r>
                    </a:p>
                  </a:txBody>
                  <a:tcPr marL="91440" marR="91440" marT="45720" marB="45720">
                    <a:solidFill>
                      <a:srgbClr val="25495A"/>
                    </a:solidFill>
                  </a:tcPr>
                </a:tc>
              </a:tr>
              <a:tr h="631031">
                <a:tc>
                  <a:txBody>
                    <a:bodyPr>
                      <a:normAutofit/>
                    </a:bodyPr>
                    <a:lstStyle/>
                    <a:p>
                      <a:r>
                        <a:rPr sz="975" b="0">
                          <a:solidFill>
                            <a:srgbClr val="163444"/>
                          </a:solidFill>
                          <a:latin typeface="Noto Sans"/>
                          <a:ea typeface="Noto Sans"/>
                          <a:cs typeface="Noto Sans"/>
                        </a:rPr>
                        <a:t>Ma–Li graph</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7350/7350</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1.219</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0.429</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direct service</a:t>
                      </a:r>
                    </a:p>
                  </a:txBody>
                  <a:tcPr marL="91440" marR="91440" marT="45720" marB="45720">
                    <a:solidFill>
                      <a:srgbClr val="FFFFFF"/>
                    </a:solidFill>
                  </a:tcPr>
                </a:tc>
              </a:tr>
              <a:tr h="631031">
                <a:tc>
                  <a:txBody>
                    <a:bodyPr>
                      <a:normAutofit/>
                    </a:bodyPr>
                    <a:lstStyle/>
                    <a:p>
                      <a:r>
                        <a:rPr sz="975" b="0">
                          <a:solidFill>
                            <a:srgbClr val="163444"/>
                          </a:solidFill>
                          <a:latin typeface="Noto Sans"/>
                          <a:ea typeface="Noto Sans"/>
                          <a:cs typeface="Noto Sans"/>
                        </a:rPr>
                        <a:t>Matched global MLP</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7350/7350</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1.732</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0.187</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direct service</a:t>
                      </a:r>
                    </a:p>
                  </a:txBody>
                  <a:tcPr marL="91440" marR="91440" marT="45720" marB="45720">
                    <a:solidFill>
                      <a:srgbClr val="F4F7F8"/>
                    </a:solidFill>
                  </a:tcPr>
                </a:tc>
              </a:tr>
              <a:tr h="631031">
                <a:tc>
                  <a:txBody>
                    <a:bodyPr>
                      <a:normAutofit/>
                    </a:bodyPr>
                    <a:lstStyle/>
                    <a:p>
                      <a:r>
                        <a:rPr sz="975" b="0">
                          <a:solidFill>
                            <a:srgbClr val="163444"/>
                          </a:solidFill>
                          <a:latin typeface="Noto Sans"/>
                          <a:ea typeface="Noto Sans"/>
                          <a:cs typeface="Noto Sans"/>
                        </a:rPr>
                        <a:t>Qonductor polynomial</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7350/7350</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1.401</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-0.587</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direct service</a:t>
                      </a:r>
                    </a:p>
                  </a:txBody>
                  <a:tcPr marL="91440" marR="91440" marT="45720" marB="45720">
                    <a:solidFill>
                      <a:srgbClr val="FFFFFF"/>
                    </a:solidFill>
                  </a:tcPr>
                </a:tc>
              </a:tr>
              <a:tr h="631031">
                <a:tc>
                  <a:txBody>
                    <a:bodyPr>
                      <a:normAutofit/>
                    </a:bodyPr>
                    <a:lstStyle/>
                    <a:p>
                      <a:r>
                        <a:rPr sz="975" b="0">
                          <a:solidFill>
                            <a:srgbClr val="163444"/>
                          </a:solidFill>
                          <a:latin typeface="Noto Sans"/>
                          <a:ea typeface="Noto Sans"/>
                          <a:cs typeface="Noto Sans"/>
                        </a:rPr>
                        <a:t>QCRE shot schedule, calibrated</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7350/7350</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1.555</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0.675</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calibrated service</a:t>
                      </a:r>
                    </a:p>
                  </a:txBody>
                  <a:tcPr marL="91440" marR="91440" marT="45720" marB="45720">
                    <a:solidFill>
                      <a:srgbClr val="F4F7F8"/>
                    </a:solidFill>
                  </a:tcPr>
                </a:tc>
              </a:tr>
              <a:tr h="631031">
                <a:tc>
                  <a:txBody>
                    <a:bodyPr>
                      <a:normAutofit/>
                    </a:bodyPr>
                    <a:lstStyle/>
                    <a:p>
                      <a:r>
                        <a:rPr sz="975" b="0">
                          <a:solidFill>
                            <a:srgbClr val="163444"/>
                          </a:solidFill>
                          <a:latin typeface="Noto Sans"/>
                          <a:ea typeface="Noto Sans"/>
                          <a:cs typeface="Noto Sans"/>
                        </a:rPr>
                        <a:t>Hyb nominal cost Ridge</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7202/7350</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1.370</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0.342</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calibrated service</a:t>
                      </a:r>
                    </a:p>
                  </a:txBody>
                  <a:tcPr marL="91440" marR="91440" marT="45720" marB="45720">
                    <a:solidFill>
                      <a:srgbClr val="FFFFFF"/>
                    </a:solidFill>
                  </a:tcPr>
                </a:tc>
              </a:tr>
              <a:tr h="631031">
                <a:tc>
                  <a:txBody>
                    <a:bodyPr>
                      <a:normAutofit/>
                    </a:bodyPr>
                    <a:lstStyle/>
                    <a:p>
                      <a:r>
                        <a:rPr sz="975" b="0">
                          <a:solidFill>
                            <a:srgbClr val="163444"/>
                          </a:solidFill>
                          <a:latin typeface="Noto Sans"/>
                          <a:ea typeface="Noto Sans"/>
                          <a:cs typeface="Noto Sans"/>
                        </a:rPr>
                        <a:t>Hyb Kyoto log-cost Ridge</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7350/7350</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1.369</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0.355</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calibrated service</a:t>
                      </a:r>
                    </a:p>
                  </a:txBody>
                  <a:tcPr marL="91440" marR="91440" marT="45720" marB="45720">
                    <a:solidFill>
                      <a:srgbClr val="F4F7F8"/>
                    </a:solidFill>
                  </a:tcPr>
                </a:tc>
              </a:tr>
              <a:tr h="631031">
                <a:tc>
                  <a:txBody>
                    <a:bodyPr>
                      <a:normAutofit/>
                    </a:bodyPr>
                    <a:lstStyle/>
                    <a:p>
                      <a:r>
                        <a:rPr sz="975" b="0">
                          <a:solidFill>
                            <a:srgbClr val="163444"/>
                          </a:solidFill>
                          <a:latin typeface="Noto Sans"/>
                          <a:ea typeface="Noto Sans"/>
                          <a:cs typeface="Noto Sans"/>
                        </a:rPr>
                        <a:t>Hyb Kyoto gate-time Ridge</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7350/7350</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1.371</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0.416</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calibrated service</a:t>
                      </a:r>
                    </a:p>
                  </a:txBody>
                  <a:tcPr marL="91440" marR="91440" marT="45720" marB="45720">
                    <a:solidFill>
                      <a:srgbClr val="FFFFFF"/>
                    </a:solidFill>
                  </a:tcPr>
                </a:tc>
              </a:tr>
            </a:tbl>
          </a:graphicData>
        </a:graphic>
      </p:graphicFrame>
      <p:graphicFrame>
        <p:nvGraphicFramePr>
          <p:cNvPr id="8" name=""/>
          <p:cNvGraphicFramePr/>
          <p:nvPr/>
        </p:nvGraphicFramePr>
        <p:xfrm>
          <a:off xmlns:a="http://schemas.openxmlformats.org/drawingml/2006/main" x="6219825" y="1200150"/>
          <a:ext xmlns:a="http://schemas.openxmlformats.org/drawingml/2006/main" cx="5572125" cy="5048250"/>
        </p:xfrm>
        <a:graphic xmlns:a="http://schemas.openxmlformats.org/drawingml/2006/main">
          <a:graphicData uri="http://schemas.openxmlformats.org/drawingml/2006/table">
            <a:tbl>
              <a:tblPr/>
              <a:tblGrid>
                <a:gridCol w="2047875"/>
                <a:gridCol w="952500"/>
                <a:gridCol w="781050"/>
                <a:gridCol w="742950"/>
                <a:gridCol w="1047750"/>
              </a:tblGrid>
              <a:tr h="721179">
                <a:tc>
                  <a:txBody>
                    <a:bodyPr>
                      <a:normAutofit/>
                    </a:bodyPr>
                    <a:lstStyle/>
                    <a:p>
                      <a:r>
                        <a:rPr sz="975" b="1">
                          <a:solidFill>
                            <a:srgbClr val="FFFFFF"/>
                          </a:solidFill>
                          <a:latin typeface="Noto Sans"/>
                          <a:ea typeface="Noto Sans"/>
                          <a:cs typeface="Noto Sans"/>
                        </a:rPr>
                        <a:t>Method</a:t>
                      </a:r>
                    </a:p>
                  </a:txBody>
                  <a:tcPr marL="91440" marR="91440" marT="45720" marB="45720">
                    <a:solidFill>
                      <a:srgbClr val="25495A"/>
                    </a:solidFill>
                  </a:tcPr>
                </a:tc>
                <a:tc>
                  <a:txBody>
                    <a:bodyPr>
                      <a:normAutofit/>
                    </a:bodyPr>
                    <a:lstStyle/>
                    <a:p>
                      <a:r>
                        <a:rPr sz="975" b="1">
                          <a:solidFill>
                            <a:srgbClr val="FFFFFF"/>
                          </a:solidFill>
                          <a:latin typeface="Noto Sans"/>
                          <a:ea typeface="Noto Sans"/>
                          <a:cs typeface="Noto Sans"/>
                        </a:rPr>
                        <a:t>Pred / assigned</a:t>
                      </a:r>
                    </a:p>
                  </a:txBody>
                  <a:tcPr marL="91440" marR="91440" marT="45720" marB="45720">
                    <a:solidFill>
                      <a:srgbClr val="25495A"/>
                    </a:solidFill>
                  </a:tcPr>
                </a:tc>
                <a:tc>
                  <a:txBody>
                    <a:bodyPr>
                      <a:normAutofit/>
                    </a:bodyPr>
                    <a:lstStyle/>
                    <a:p>
                      <a:r>
                        <a:rPr sz="975" b="1">
                          <a:solidFill>
                            <a:srgbClr val="FFFFFF"/>
                          </a:solidFill>
                          <a:latin typeface="Noto Sans"/>
                          <a:ea typeface="Noto Sans"/>
                          <a:cs typeface="Noto Sans"/>
                        </a:rPr>
                        <a:t>MAE s</a:t>
                      </a:r>
                    </a:p>
                  </a:txBody>
                  <a:tcPr marL="91440" marR="91440" marT="45720" marB="45720">
                    <a:solidFill>
                      <a:srgbClr val="25495A"/>
                    </a:solidFill>
                  </a:tcPr>
                </a:tc>
                <a:tc>
                  <a:txBody>
                    <a:bodyPr>
                      <a:normAutofit/>
                    </a:bodyPr>
                    <a:lstStyle/>
                    <a:p>
                      <a:r>
                        <a:rPr sz="975" b="1">
                          <a:solidFill>
                            <a:srgbClr val="FFFFFF"/>
                          </a:solidFill>
                          <a:latin typeface="Noto Sans"/>
                          <a:ea typeface="Noto Sans"/>
                          <a:cs typeface="Noto Sans"/>
                        </a:rPr>
                        <a:t>R²</a:t>
                      </a:r>
                    </a:p>
                  </a:txBody>
                  <a:tcPr marL="91440" marR="91440" marT="45720" marB="45720">
                    <a:solidFill>
                      <a:srgbClr val="25495A"/>
                    </a:solidFill>
                  </a:tcPr>
                </a:tc>
                <a:tc>
                  <a:txBody>
                    <a:bodyPr>
                      <a:normAutofit/>
                    </a:bodyPr>
                    <a:lstStyle/>
                    <a:p>
                      <a:r>
                        <a:rPr sz="975" b="1">
                          <a:solidFill>
                            <a:srgbClr val="FFFFFF"/>
                          </a:solidFill>
                          <a:latin typeface="Noto Sans"/>
                          <a:ea typeface="Noto Sans"/>
                          <a:cs typeface="Noto Sans"/>
                        </a:rPr>
                        <a:t>Output clock</a:t>
                      </a:r>
                    </a:p>
                  </a:txBody>
                  <a:tcPr marL="91440" marR="91440" marT="45720" marB="45720">
                    <a:solidFill>
                      <a:srgbClr val="25495A"/>
                    </a:solidFill>
                  </a:tcPr>
                </a:tc>
              </a:tr>
              <a:tr h="721179">
                <a:tc>
                  <a:txBody>
                    <a:bodyPr>
                      <a:normAutofit/>
                    </a:bodyPr>
                    <a:lstStyle/>
                    <a:p>
                      <a:r>
                        <a:rPr sz="975" b="0">
                          <a:solidFill>
                            <a:srgbClr val="163444"/>
                          </a:solidFill>
                          <a:latin typeface="Noto Sans"/>
                          <a:ea typeface="Noto Sans"/>
                          <a:cs typeface="Noto Sans"/>
                        </a:rPr>
                        <a:t>Scholten throughput, calibrated</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5199/7350</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1.364</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0.708</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calibrated service</a:t>
                      </a:r>
                    </a:p>
                  </a:txBody>
                  <a:tcPr marL="91440" marR="91440" marT="45720" marB="45720">
                    <a:solidFill>
                      <a:srgbClr val="FFFFFF"/>
                    </a:solidFill>
                  </a:tcPr>
                </a:tc>
              </a:tr>
              <a:tr h="721179">
                <a:tc>
                  <a:txBody>
                    <a:bodyPr>
                      <a:normAutofit/>
                    </a:bodyPr>
                    <a:lstStyle/>
                    <a:p>
                      <a:r>
                        <a:rPr sz="975" b="0">
                          <a:solidFill>
                            <a:srgbClr val="163444"/>
                          </a:solidFill>
                          <a:latin typeface="Noto Sans"/>
                          <a:ea typeface="Noto Sans"/>
                          <a:cs typeface="Noto Sans"/>
                        </a:rPr>
                        <a:t>QCRE weighted path, raw</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7350/7350</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5.739</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-3.103</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scheduled path</a:t>
                      </a:r>
                    </a:p>
                  </a:txBody>
                  <a:tcPr marL="91440" marR="91440" marT="45720" marB="45720">
                    <a:solidFill>
                      <a:srgbClr val="F4F7F8"/>
                    </a:solidFill>
                  </a:tcPr>
                </a:tc>
              </a:tr>
              <a:tr h="721179">
                <a:tc>
                  <a:txBody>
                    <a:bodyPr>
                      <a:normAutofit/>
                    </a:bodyPr>
                    <a:lstStyle/>
                    <a:p>
                      <a:r>
                        <a:rPr sz="975" b="0">
                          <a:solidFill>
                            <a:srgbClr val="163444"/>
                          </a:solidFill>
                          <a:latin typeface="Noto Sans"/>
                          <a:ea typeface="Noto Sans"/>
                          <a:cs typeface="Noto Sans"/>
                        </a:rPr>
                        <a:t>QCRE shot-scaled schedule, raw</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7350/7350</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5.141</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-1.812</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shot schedule</a:t>
                      </a:r>
                    </a:p>
                  </a:txBody>
                  <a:tcPr marL="91440" marR="91440" marT="45720" marB="45720">
                    <a:solidFill>
                      <a:srgbClr val="FFFFFF"/>
                    </a:solidFill>
                  </a:tcPr>
                </a:tc>
              </a:tr>
              <a:tr h="721179">
                <a:tc>
                  <a:txBody>
                    <a:bodyPr>
                      <a:normAutofit/>
                    </a:bodyPr>
                    <a:lstStyle/>
                    <a:p>
                      <a:r>
                        <a:rPr sz="975" b="0">
                          <a:solidFill>
                            <a:srgbClr val="163444"/>
                          </a:solidFill>
                          <a:latin typeface="Noto Sans"/>
                          <a:ea typeface="Noto Sans"/>
                          <a:cs typeface="Noto Sans"/>
                        </a:rPr>
                        <a:t>Qiskit duration, raw</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7350/7350</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5.739</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-3.103</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scheduled 1-shot</a:t>
                      </a:r>
                    </a:p>
                  </a:txBody>
                  <a:tcPr marL="91440" marR="91440" marT="45720" marB="45720">
                    <a:solidFill>
                      <a:srgbClr val="F4F7F8"/>
                    </a:solidFill>
                  </a:tcPr>
                </a:tc>
              </a:tr>
              <a:tr h="721179">
                <a:tc>
                  <a:txBody>
                    <a:bodyPr>
                      <a:normAutofit/>
                    </a:bodyPr>
                    <a:lstStyle/>
                    <a:p>
                      <a:r>
                        <a:rPr sz="975" b="0">
                          <a:solidFill>
                            <a:srgbClr val="163444"/>
                          </a:solidFill>
                          <a:latin typeface="Noto Sans"/>
                          <a:ea typeface="Noto Sans"/>
                          <a:cs typeface="Noto Sans"/>
                        </a:rPr>
                        <a:t>Qiskit duration, calibrated</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7350/7350</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1.846</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0.159</a:t>
                      </a:r>
                    </a:p>
                  </a:txBody>
                  <a:tcPr marL="91440" marR="91440" marT="45720" marB="45720">
                    <a:solidFill>
                      <a:srgbClr val="FFFFFF"/>
                    </a:solidFill>
                  </a:tcPr>
                </a:tc>
                <a:tc>
                  <a:txBody>
                    <a:bodyPr>
                      <a:normAutofit/>
                    </a:bodyPr>
                    <a:lstStyle/>
                    <a:p>
                      <a:r>
                        <a:rPr sz="975" b="0">
                          <a:solidFill>
                            <a:srgbClr val="163444"/>
                          </a:solidFill>
                          <a:latin typeface="Noto Sans"/>
                          <a:ea typeface="Noto Sans"/>
                          <a:cs typeface="Noto Sans"/>
                        </a:rPr>
                        <a:t>calibrated service</a:t>
                      </a:r>
                    </a:p>
                  </a:txBody>
                  <a:tcPr marL="91440" marR="91440" marT="45720" marB="45720">
                    <a:solidFill>
                      <a:srgbClr val="FFFFFF"/>
                    </a:solidFill>
                  </a:tcPr>
                </a:tc>
              </a:tr>
              <a:tr h="721179">
                <a:tc>
                  <a:txBody>
                    <a:bodyPr>
                      <a:normAutofit/>
                    </a:bodyPr>
                    <a:lstStyle/>
                    <a:p>
                      <a:r>
                        <a:rPr sz="975" b="0">
                          <a:solidFill>
                            <a:srgbClr val="163444"/>
                          </a:solidFill>
                          <a:latin typeface="Noto Sans"/>
                          <a:ea typeface="Noto Sans"/>
                          <a:cs typeface="Noto Sans"/>
                        </a:rPr>
                        <a:t>Scholten throughput, raw</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5199/7350</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1036.641</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−1.53M</a:t>
                      </a:r>
                    </a:p>
                  </a:txBody>
                  <a:tcPr marL="91440" marR="91440" marT="45720" marB="45720">
                    <a:solidFill>
                      <a:srgbClr val="F4F7F8"/>
                    </a:solidFill>
                  </a:tcPr>
                </a:tc>
                <a:tc>
                  <a:txBody>
                    <a:bodyPr>
                      <a:normAutofit/>
                    </a:bodyPr>
                    <a:lstStyle/>
                    <a:p>
                      <a:r>
                        <a:rPr sz="975" b="0">
                          <a:solidFill>
                            <a:srgbClr val="163444"/>
                          </a:solidFill>
                          <a:latin typeface="Noto Sans"/>
                          <a:ea typeface="Noto Sans"/>
                          <a:cs typeface="Noto Sans"/>
                        </a:rPr>
                        <a:t>throughput proxy</a:t>
                      </a:r>
                    </a:p>
                  </a:txBody>
                  <a:tcPr marL="91440" marR="91440" marT="45720" marB="45720">
                    <a:solidFill>
                      <a:srgbClr val="F4F7F8"/>
                    </a:solidFill>
                  </a:tcPr>
                </a:tc>
              </a:tr>
            </a:tbl>
          </a:graphicData>
        </a:graphic>
      </p:graphicFrame>
    </p:spTree>
    <p:extLst>
      <p:ext uri="{BB962C8B-B14F-4D97-AF65-F5344CB8AC3E}">
        <p14:creationId xmlns:p14="http://schemas.microsoft.com/office/powerpoint/2010/main" val="9982242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2026-10-07T07:08:35.9260000Z</dcterms:created>
  <dcterms:modified xsi:type="dcterms:W3CDTF">2026-10-07T07:08:35.9260000Z</dcterms:modified>
</coreProperties>
</file>
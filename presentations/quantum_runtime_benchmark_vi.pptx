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e325ec46954ec4" /><Relationship Type="http://schemas.openxmlformats.org/officeDocument/2006/relationships/extended-properties" Target="/docProps/app.xml" Id="R14ad393722704d9b" /><Relationship Type="http://schemas.openxmlformats.org/officeDocument/2006/relationships/officeDocument" Target="/ppt/presentation.xml" Id="Rde1c9206583e4ce9" /></Relationships>
</file>

<file path=ppt/presentation.xml><?xml version="1.0" encoding="utf-8"?>
<p:presentation xmlns:p="http://schemas.openxmlformats.org/presentationml/2006/main">
  <p:sldMasterIdLst>
    <p:sldMasterId xmlns:r="http://schemas.openxmlformats.org/officeDocument/2006/relationships" id="2147483648" r:id="Re6fbb0913eb94aad"/>
  </p:sldMasterIdLst>
  <p:notesMasterIdLst>
    <p:notesMasterId xmlns:r="http://schemas.openxmlformats.org/officeDocument/2006/relationships" r:id="Ra6947fc9ede74724"/>
  </p:notesMasterIdLst>
  <p:sldIdLst>
    <p:sldId xmlns:r="http://schemas.openxmlformats.org/officeDocument/2006/relationships" id="256" r:id="R15c203f1629945e4"/>
    <p:sldId xmlns:r="http://schemas.openxmlformats.org/officeDocument/2006/relationships" id="257" r:id="R2ef0673173b94616"/>
    <p:sldId xmlns:r="http://schemas.openxmlformats.org/officeDocument/2006/relationships" id="258" r:id="R14f8f2d3b0e94611"/>
    <p:sldId xmlns:r="http://schemas.openxmlformats.org/officeDocument/2006/relationships" id="259" r:id="R4424fa95f1cd460f"/>
    <p:sldId xmlns:r="http://schemas.openxmlformats.org/officeDocument/2006/relationships" id="260" r:id="R69e056556d6a4df6"/>
    <p:sldId xmlns:r="http://schemas.openxmlformats.org/officeDocument/2006/relationships" id="261" r:id="R5811f39c25fc492f"/>
    <p:sldId xmlns:r="http://schemas.openxmlformats.org/officeDocument/2006/relationships" id="262" r:id="Rf870af3ef7054f9b"/>
    <p:sldId xmlns:r="http://schemas.openxmlformats.org/officeDocument/2006/relationships" id="263" r:id="Rf20f17dfe2954532"/>
    <p:sldId xmlns:r="http://schemas.openxmlformats.org/officeDocument/2006/relationships" id="264" r:id="Re868e4ec50e944a8"/>
    <p:sldId xmlns:r="http://schemas.openxmlformats.org/officeDocument/2006/relationships" id="265" r:id="R2177cdf79fa841b9"/>
    <p:sldId xmlns:r="http://schemas.openxmlformats.org/officeDocument/2006/relationships" id="266" r:id="Rff508ed4f8694052"/>
    <p:sldId xmlns:r="http://schemas.openxmlformats.org/officeDocument/2006/relationships" id="267" r:id="Rf06734fbdc9d4956"/>
    <p:sldId xmlns:r="http://schemas.openxmlformats.org/officeDocument/2006/relationships" id="268" r:id="Ra6a8046191d849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ce176fe1b04950" /><Relationship Type="http://schemas.openxmlformats.org/officeDocument/2006/relationships/slideMaster" Target="/ppt/slideMasters/slideMaster1.xml" Id="Re6fbb0913eb94aad" /><Relationship Type="http://schemas.openxmlformats.org/officeDocument/2006/relationships/notesMaster" Target="/ppt/notesMasters/notesMaster1.xml" Id="Ra6947fc9ede74724" /><Relationship Type="http://schemas.openxmlformats.org/officeDocument/2006/relationships/presProps" Target="/ppt/presProps.xml" Id="Rd28dee5d104b4759" /><Relationship Type="http://schemas.openxmlformats.org/officeDocument/2006/relationships/tableStyles" Target="/ppt/tableStyles.xml" Id="R58fc09a3384145cd" /><Relationship Type="http://schemas.openxmlformats.org/officeDocument/2006/relationships/slide" Target="/ppt/slides/slide1.xml" Id="R15c203f1629945e4" /><Relationship Type="http://schemas.openxmlformats.org/officeDocument/2006/relationships/slide" Target="/ppt/slides/slide2.xml" Id="R2ef0673173b94616" /><Relationship Type="http://schemas.openxmlformats.org/officeDocument/2006/relationships/slide" Target="/ppt/slides/slide3.xml" Id="R14f8f2d3b0e94611" /><Relationship Type="http://schemas.openxmlformats.org/officeDocument/2006/relationships/slide" Target="/ppt/slides/slide4.xml" Id="R4424fa95f1cd460f" /><Relationship Type="http://schemas.openxmlformats.org/officeDocument/2006/relationships/slide" Target="/ppt/slides/slide5.xml" Id="R69e056556d6a4df6" /><Relationship Type="http://schemas.openxmlformats.org/officeDocument/2006/relationships/slide" Target="/ppt/slides/slide6.xml" Id="R5811f39c25fc492f" /><Relationship Type="http://schemas.openxmlformats.org/officeDocument/2006/relationships/slide" Target="/ppt/slides/slide7.xml" Id="Rf870af3ef7054f9b" /><Relationship Type="http://schemas.openxmlformats.org/officeDocument/2006/relationships/slide" Target="/ppt/slides/slide8.xml" Id="Rf20f17dfe2954532" /><Relationship Type="http://schemas.openxmlformats.org/officeDocument/2006/relationships/slide" Target="/ppt/slides/slide9.xml" Id="Re868e4ec50e944a8" /><Relationship Type="http://schemas.openxmlformats.org/officeDocument/2006/relationships/slide" Target="/ppt/slides/slide10.xml" Id="R2177cdf79fa841b9" /><Relationship Type="http://schemas.openxmlformats.org/officeDocument/2006/relationships/slide" Target="/ppt/slides/slide11.xml" Id="Rff508ed4f8694052" /><Relationship Type="http://schemas.openxmlformats.org/officeDocument/2006/relationships/slide" Target="/ppt/slides/slide12.xml" Id="Rf06734fbdc9d4956" /><Relationship Type="http://schemas.openxmlformats.org/officeDocument/2006/relationships/slide" Target="/ppt/slides/slide13.xml" Id="Ra6a8046191d849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a5572d2fcf4f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2670c3b7724844" /><Relationship Type="http://schemas.openxmlformats.org/officeDocument/2006/relationships/notesMaster" Target="/ppt/notesMasters/notesMaster1.xml" Id="R53fa32b3a8ba4b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782708ba4b4095" /><Relationship Type="http://schemas.openxmlformats.org/officeDocument/2006/relationships/notesMaster" Target="/ppt/notesMasters/notesMaster1.xml" Id="Rb35d8e990a8b43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317bc353eb4520" /><Relationship Type="http://schemas.openxmlformats.org/officeDocument/2006/relationships/notesMaster" Target="/ppt/notesMasters/notesMaster1.xml" Id="R22e8cf1d021947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f0b4d65bb24cce" /><Relationship Type="http://schemas.openxmlformats.org/officeDocument/2006/relationships/notesMaster" Target="/ppt/notesMasters/notesMaster1.xml" Id="R99cad4ec5b2f4b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2de6844e9e4a26" /><Relationship Type="http://schemas.openxmlformats.org/officeDocument/2006/relationships/notesMaster" Target="/ppt/notesMasters/notesMaster1.xml" Id="Rf17438b5526a48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afbb985bbe43ec" /><Relationship Type="http://schemas.openxmlformats.org/officeDocument/2006/relationships/notesMaster" Target="/ppt/notesMasters/notesMaster1.xml" Id="R7cef4b8e2e6e44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bed33ca96a410d" /><Relationship Type="http://schemas.openxmlformats.org/officeDocument/2006/relationships/notesMaster" Target="/ppt/notesMasters/notesMaster1.xml" Id="R303eebca7c834d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c7b373aa5649ff" /><Relationship Type="http://schemas.openxmlformats.org/officeDocument/2006/relationships/notesMaster" Target="/ppt/notesMasters/notesMaster1.xml" Id="Re21f3010441541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2bbbf3b3d5451a" /><Relationship Type="http://schemas.openxmlformats.org/officeDocument/2006/relationships/notesMaster" Target="/ppt/notesMasters/notesMaster1.xml" Id="Rcde640a9878d45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b9e4709d0b403f" /><Relationship Type="http://schemas.openxmlformats.org/officeDocument/2006/relationships/notesMaster" Target="/ppt/notesMasters/notesMaster1.xml" Id="R957a694f54374b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9ba81377f64cdd" /><Relationship Type="http://schemas.openxmlformats.org/officeDocument/2006/relationships/notesMaster" Target="/ppt/notesMasters/notesMaster1.xml" Id="Rac124dbb318d42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134f99022943ac" /><Relationship Type="http://schemas.openxmlformats.org/officeDocument/2006/relationships/notesMaster" Target="/ppt/notesMasters/notesMaster1.xml" Id="R23462063f8324e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0fa6592c1849e8" /><Relationship Type="http://schemas.openxmlformats.org/officeDocument/2006/relationships/notesMaster" Target="/ppt/notesMasters/notesMaster1.xml" Id="Red72bb1c663040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benchmark nội bộ, khoảng 10 phút.</a:t>
            </a:r>
          </a:p>
          <a:p xmlns:a="http://schemas.openxmlformats.org/drawingml/2006/main">
            <a:r>
              <a:t>Evidence: artifacts/benchmark_v1/results/benchmark_summary/two_domain_scorecard_v3/REPORT.md</a:t>
            </a:r>
          </a:p>
          <a:p xmlns:a="http://schemas.openxmlformats.org/drawingml/2006/main">
            <a:r>
              <a:t>Brief authority: docs/presentation.md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artifacts/benchmark_v1/results/benchmark_summary/two_domain_scorecard_v3/REPORT.md</a:t>
            </a:r>
          </a:p>
          <a:p xmlns:a="http://schemas.openxmlformats.org/drawingml/2006/main">
            <a:r>
              <a:t>Chi tiết QPU: artifacts/benchmark_v1/results/benchmark_summary/two_domain_scorecard_v3/qpu/archived_method_coverage.csv</a:t>
            </a:r>
          </a:p>
          <a:p xmlns:a="http://schemas.openxmlformats.org/drawingml/2006/main">
            <a:r>
              <a:t>Panel simulator: artifacts/benchmark_v1/results/benchmark_summary/two_domain_scorecard_v3/simulator/common_exact_qasm_panel.csv</a:t>
            </a:r>
          </a:p>
          <a:p xmlns:a="http://schemas.openxmlformats.org/drawingml/2006/main">
            <a:r>
              <a:t>QPU nguồn có 340 Ma–Li, 4.482 Qonductor và 3.945 QPack observations. Simulator gồm 204 members, 191 exact hashes, 162 core và 42 frontier. QPU observed service, QPU scheduled duration và local simulator execution là các clock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docs/presentation.md</a:t>
            </a:r>
          </a:p>
          <a:p xmlns:a="http://schemas.openxmlformats.org/drawingml/2006/main">
            <a:r>
              <a:t>Scorecard authority: artifacts/benchmark_v1/results/benchmark_summary/two_domain_scorecard_v3/manifest.json</a:t>
            </a:r>
          </a:p>
          <a:p xmlns:a="http://schemas.openxmlformats.org/drawingml/2006/main">
            <a:r>
              <a:t>QPU coverage denominator: artifacts/benchmark_v1/results/benchmark_summary/two_domain_scorecard_v3/qpu/archived_method_coverage.csv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scope: artifacts/benchmark_v1/results/benchmark_summary/two_domain_scorecard_v3/method_scope.csv</a:t>
            </a:r>
          </a:p>
          <a:p xmlns:a="http://schemas.openxmlformats.org/drawingml/2006/main">
            <a:r>
              <a:t>QPU coverage table: artifacts/benchmark_v1/results/benchmark_summary/two_domain_scorecard_v3/qpu/archived_method_coverage.csv</a:t>
            </a:r>
          </a:p>
          <a:p xmlns:a="http://schemas.openxmlformats.org/drawingml/2006/main">
            <a:r>
              <a:t>Full 24-variant detail: work/repo_finalization/report_package/figures/fig2_qpu_prediction_coverage.png; metadata in work/repo_finalization/report_package/figures/README.md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work/repo_finalization/report_package/figures/fig1_qpu_paired_mae_by_source.png</a:t>
            </a:r>
          </a:p>
          <a:p xmlns:a="http://schemas.openxmlformats.org/drawingml/2006/main">
            <a:r>
              <a:t>Figure caption/metadata: work/repo_finalization/report_package/figures/README.md</a:t>
            </a:r>
          </a:p>
          <a:p xmlns:a="http://schemas.openxmlformats.org/drawingml/2006/main">
            <a:r>
              <a:t>Source table: artifacts/benchmark_v1/results/benchmark_summary/two_domain_scorecard_v3/qpu/archived_method_pairwise_comparisons.csv</a:t>
            </a:r>
          </a:p>
          <a:p xmlns:a="http://schemas.openxmlformats.org/drawingml/2006/main">
            <a:r>
              <a:t>Comparison: candidate_method_id=mali_graph_architecture_v3_large; reference_method_id=unified_polynomial_v3. Units: seconds of MAE difference, graph minus polynomial. Evaluation target: archived observed service/execution time. Shared-row hashes in source order: Ma–Li 3ad175f3b2cf88f52f9f0dedd404684fbff696b2d776f8d55538083dcdeac8e7; Qonductor a785df4abc98e96ad899bdf4f53837806715232d440bc620de74b88639c74655; QPack d8f5438afbc5179bc99a96672022627411c6d6ead8597fcee6b9abbe383a36d7. Ma–Li interval crosses zero. Qonductor graph coverage is asymmetric because row4477 is unavailable. This is paired descriptive evidence, not primary superiority on 4,482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metrics: artifacts/benchmark_v1/results/benchmark_summary/two_domain_scorecard_v3/qpu/archived_method_source_metrics.csv</a:t>
            </a:r>
          </a:p>
          <a:p xmlns:a="http://schemas.openxmlformats.org/drawingml/2006/main">
            <a:r>
              <a:t>Unified pairwise results: artifacts/benchmark_v1/results/benchmark_summary/two_domain_scorecard_v3/qpu/archived_method_pairwise_comparisons.csv</a:t>
            </a:r>
          </a:p>
          <a:p xmlns:a="http://schemas.openxmlformats.org/drawingml/2006/main">
            <a:r>
              <a:t>Limitations: docs/presentation.md</a:t>
            </a:r>
          </a:p>
          <a:p xmlns:a="http://schemas.openxmlformats.org/drawingml/2006/main">
            <a:r>
              <a:t>QPack slice is row-weighted for the primary displayed MAE and R². Equal-workflow MAE is a diagnostic over 46 workflows. Six templates recur across multiple workflows; workflow holdout does not mean unseen-template validation. Negative R² means squared error exceeds that of the test-set mean reference, which is not a deployable baseline fitted from test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coverage: artifacts/benchmark_v1/results/benchmark_summary/two_domain_scorecard_v3/qpu/archived_method_coverage.csv</a:t>
            </a:r>
          </a:p>
          <a:p xmlns:a="http://schemas.openxmlformats.org/drawingml/2006/main">
            <a:r>
              <a:t>Method scope: artifacts/benchmark_v1/results/benchmark_summary/two_domain_scorecard_v3/method_scope.csv</a:t>
            </a:r>
          </a:p>
          <a:p xmlns:a="http://schemas.openxmlformats.org/drawingml/2006/main">
            <a:r>
              <a:t>Source notes: docs/presentation.md</a:t>
            </a:r>
          </a:p>
          <a:p xmlns:a="http://schemas.openxmlformats.org/drawingml/2006/main">
            <a:r>
              <a:t>QCRE critical path and Qiskit estimate_duration outputs are scheduled single-shot proxies, not provider service/execution times. Their equality under the same Target is a cross-check, not two independent wins. Shot scaling and outer-train-only affine/log-affine calibration are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work/repo_finalization/report_package/figures/fig3_cudaq_mps_quality_gated_clocks.png</a:t>
            </a:r>
          </a:p>
          <a:p xmlns:a="http://schemas.openxmlformats.org/drawingml/2006/main">
            <a:r>
              <a:t>Figure captions/metadata: work/repo_finalization/report_package/figures/README.md</a:t>
            </a:r>
          </a:p>
          <a:p xmlns:a="http://schemas.openxmlformats.org/drawingml/2006/main">
            <a:r>
              <a:t>Availability: artifacts/benchmark_v1/results/benchmark_summary/two_domain_scorecard_v3/simulator/availability_matrix.csv</a:t>
            </a:r>
          </a:p>
          <a:p xmlns:a="http://schemas.openxmlformats.org/drawingml/2006/main">
            <a:r>
              <a:t>Per-configuration metrics: artifacts/benchmark_v1/results/benchmark_summary/two_domain_scorecard_v3/simulator/per_configuration_metrics.csv</a:t>
            </a:r>
          </a:p>
          <a:p xmlns:a="http://schemas.openxmlformats.org/drawingml/2006/main">
            <a:r>
              <a:t>Panel identities: artifacts/benchmark_v1/results/benchmark_summary/two_domain_scorecard_v3/simulator/common_exact_qasm_panel.csv</a:t>
            </a:r>
          </a:p>
          <a:p xmlns:a="http://schemas.openxmlformats.org/drawingml/2006/main">
            <a:r>
              <a:t>Counts are session-cells, not unique circuits. Keep engine, precision, first/warm clock, quality and failure states separate. CUDA-Q MPS quality failures remain execution attempts and are not dropped from coverage. cuTensorNet's selected-plan estimate is paired to same-plan contraction, not compared to full wall-clock of another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work/repo_finalization/report_package/figures/fig4_maestro_pilot_timing_spread.png</a:t>
            </a:r>
          </a:p>
          <a:p xmlns:a="http://schemas.openxmlformats.org/drawingml/2006/main">
            <a:r>
              <a:t>Figure caption/metadata: work/repo_finalization/report_package/figures/README.md</a:t>
            </a:r>
          </a:p>
          <a:p xmlns:a="http://schemas.openxmlformats.org/drawingml/2006/main">
            <a:r>
              <a:t>Canonical pilot summary: artifacts/benchmark_v1/results/benchmark_summary/two_domain_scorecard_v3/simulator/maestro_pilot_summary.csv</a:t>
            </a:r>
          </a:p>
          <a:p xmlns:a="http://schemas.openxmlformats.org/drawingml/2006/main">
            <a:r>
              <a:t>Scope brief: docs/presentation.md</a:t>
            </a:r>
          </a:p>
          <a:p xmlns:a="http://schemas.openxmlformats.org/drawingml/2006/main">
            <a:r>
              <a:t>Clock: maestro_qcsim_process_isolated_reported_execution. Fresh process per timing call; do not call these persistent-process warm measurements. Pilot terminal status: pilot_gate_failed; no resume. The 15 reported values belong to one statevector n=16, one-qubit noncommuting, R=256 cell and range from 0.014905151 s to 7.355305934 s. MPS n=12/chi=32 session medians: 0.033975028 / 0.033144007 / 0.035826843 s. Cause of variation is unknown; do not attribute it to threading, hardware, or algorithm. No panel attempt or predictor accuracy score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artifacts/benchmark_v1/results/benchmark_summary/two_domain_scorecard_v3/REPORT.md</a:t>
            </a:r>
          </a:p>
          <a:p xmlns:a="http://schemas.openxmlformats.org/drawingml/2006/main">
            <a:r>
              <a:t>Method scope: artifacts/benchmark_v1/results/benchmark_summary/two_domain_scorecard_v3/method_scope.csv</a:t>
            </a:r>
          </a:p>
          <a:p xmlns:a="http://schemas.openxmlformats.org/drawingml/2006/main">
            <a:r>
              <a:t>Presentation brief: docs/presentation.md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scope disclosures: artifacts/benchmark_v1/results/benchmark_summary/two_domain_scorecard_v3/REPORT.md</a:t>
            </a:r>
          </a:p>
          <a:p xmlns:a="http://schemas.openxmlformats.org/drawingml/2006/main">
            <a:r>
              <a:t>Method cards: artifacts/benchmark_v1/results/benchmark_summary/two_domain_scorecard_v3/method_scope.csv</a:t>
            </a:r>
          </a:p>
          <a:p xmlns:a="http://schemas.openxmlformats.org/drawingml/2006/main">
            <a:r>
              <a:t>Representation protocol: benchmark_v1/decisions/circuit_representation_v3.md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artifacts/benchmark_v1/results/benchmark_summary/two_domain_scorecard_v3/REPORT.md</a:t>
            </a:r>
          </a:p>
          <a:p xmlns:a="http://schemas.openxmlformats.org/drawingml/2006/main">
            <a:r>
              <a:t>QPU clock coverage: artifacts/benchmark_v1/results/benchmark_summary/two_domain_scorecard_v3/qpu/archived_method_coverage.csv</a:t>
            </a:r>
          </a:p>
          <a:p xmlns:a="http://schemas.openxmlformats.org/drawingml/2006/main">
            <a:r>
              <a:t>Simulator availability: artifacts/benchmark_v1/results/benchmark_summary/two_domain_scorecard_v3/simulator/availability_matrix.csv</a:t>
            </a:r>
          </a:p>
          <a:p xmlns:a="http://schemas.openxmlformats.org/drawingml/2006/main">
            <a:r>
              <a:t>Simulator configuration metrics: artifacts/benchmark_v1/results/benchmark_summary/two_domain_scorecard_v3/simulator/per_configuration_metrics.csv</a:t>
            </a:r>
          </a:p>
          <a:p xmlns:a="http://schemas.openxmlformats.org/drawingml/2006/main">
            <a:r>
              <a:t>Maestro pilot: artifacts/benchmark_v1/results/benchmark_summary/two_domain_scorecard_v3/simulator/maestro_pilot_summary.csv</a:t>
            </a:r>
          </a:p>
          <a:p xmlns:a="http://schemas.openxmlformats.org/drawingml/2006/main">
            <a:r>
              <a:t>Package README: work/repo_finalization/report_package/README.md</a:t>
            </a:r>
          </a:p>
          <a:p xmlns:a="http://schemas.openxmlformats.org/drawingml/2006/main">
            <a:r>
              <a:t>Report authority: benchmark_v1/execution/manifests/report_finalization.json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coverage figure (companion): work/repo_finalization/report_package/figures/fig2_qpu_prediction_coverage.png</a:t>
            </a:r>
          </a:p>
          <a:p xmlns:a="http://schemas.openxmlformats.org/drawingml/2006/main">
            <a:r>
              <a:t>Figure SHA-256: d8dc1661d0bd415eda6c33f8bcad935eb4fed424b832504a138b89225c20f365</a:t>
            </a:r>
          </a:p>
          <a:p xmlns:a="http://schemas.openxmlformats.org/drawingml/2006/main">
            <a:r>
              <a:t>Readable native table source: artifacts/benchmark_v1/results/benchmark_summary/two_domain_scorecard_v3/qpu/archived_method_coverage.csv</a:t>
            </a:r>
          </a:p>
          <a:p xmlns:a="http://schemas.openxmlformats.org/drawingml/2006/main">
            <a:r>
              <a:t>Source table SHA-256: ee408a85b5fef378103a2ada6709c791f9e66a8db192e15445bdd6e9803aa915</a:t>
            </a:r>
          </a:p>
          <a:p xmlns:a="http://schemas.openxmlformats.org/drawingml/2006/main">
            <a:r>
              <a:t>Scorecard manifest: artifacts/benchmark_v1/results/benchmark_summary/two_domain_scorecard_v3/manifest.json</a:t>
            </a:r>
          </a:p>
          <a:p xmlns:a="http://schemas.openxmlformats.org/drawingml/2006/main">
            <a:r>
              <a:t>Exact row set: all 24 method_id rows in archived_method_coverage.csv; assigned denominator 8,767 per row. Predicted counts and coverage percentages reproduce the source table. Method-output clock labels are abbreviated in the table: service=archived observed service; cal. service=outer-train calibrated observed service; sched.=scheduled duration; T_eff=one-circuit effective cost. Coverage only, not accuracy; method clocks and fidelity differ, so rows are not ranked.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2e6301854b4c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8dd61bc5c84ee3" /><Relationship Type="http://schemas.openxmlformats.org/officeDocument/2006/relationships/slideLayout" Target="/ppt/slideLayouts/slideLayout1.xml" Id="R5ec61ba16b7145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c61ba16b7145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e14e9f66614c17" /><Relationship Type="http://schemas.openxmlformats.org/officeDocument/2006/relationships/notesSlide" Target="/ppt/notesSlides/notesSlide1.xml" Id="R427f3d0a05f04b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a3fbd00112436b" /><Relationship Type="http://schemas.openxmlformats.org/officeDocument/2006/relationships/notesSlide" Target="/ppt/notesSlides/notesSlide2.xml" Id="R888acb15894a4a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294adf70dd4915" /><Relationship Type="http://schemas.openxmlformats.org/officeDocument/2006/relationships/notesSlide" Target="/ppt/notesSlides/notesSlide3.xml" Id="R78fdadc1313f43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89be8ed04142dc" /><Relationship Type="http://schemas.openxmlformats.org/officeDocument/2006/relationships/notesSlide" Target="/ppt/notesSlides/notesSlide4.xml" Id="R420efc5ad64c46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a3a895194945b1" /><Relationship Type="http://schemas.openxmlformats.org/officeDocument/2006/relationships/image" Target="/ppt/media/image.png" Id="R5dc268363f184d94" /><Relationship Type="http://schemas.openxmlformats.org/officeDocument/2006/relationships/notesSlide" Target="/ppt/notesSlides/notesSlide5.xml" Id="R67bfc1b05a894b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7759d8c393497d" /><Relationship Type="http://schemas.openxmlformats.org/officeDocument/2006/relationships/chart" Target="/ppt/slides/charts/chart1.xml" Id="Ref8ab75a83174ebb" /><Relationship Type="http://schemas.openxmlformats.org/officeDocument/2006/relationships/notesSlide" Target="/ppt/notesSlides/notesSlide6.xml" Id="R94d778799f4948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4c307226f74162" /><Relationship Type="http://schemas.openxmlformats.org/officeDocument/2006/relationships/notesSlide" Target="/ppt/notesSlides/notesSlide7.xml" Id="R9d3f120cd0ee4b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d1112db77044c7" /><Relationship Type="http://schemas.openxmlformats.org/officeDocument/2006/relationships/image" Target="/ppt/media/image2.png" Id="R99a93bfeb52544b0" /><Relationship Type="http://schemas.openxmlformats.org/officeDocument/2006/relationships/notesSlide" Target="/ppt/notesSlides/notesSlide8.xml" Id="R88070069ec264c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03f5709c5d4437" /><Relationship Type="http://schemas.openxmlformats.org/officeDocument/2006/relationships/image" Target="/ppt/media/image3.png" Id="R1f8fa950b2b14c8e" /><Relationship Type="http://schemas.openxmlformats.org/officeDocument/2006/relationships/notesSlide" Target="/ppt/notesSlides/notesSlide9.xml" Id="R6b5e2cb432b440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11a58b81904720" /><Relationship Type="http://schemas.openxmlformats.org/officeDocument/2006/relationships/notesSlide" Target="/ppt/notesSlides/notesSlide10.xml" Id="R1204598f03dc4d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b564a24f1f4802" /><Relationship Type="http://schemas.openxmlformats.org/officeDocument/2006/relationships/notesSlide" Target="/ppt/notesSlides/notesSlide11.xml" Id="R92193844f50344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2ac3330e47430a" /><Relationship Type="http://schemas.openxmlformats.org/officeDocument/2006/relationships/notesSlide" Target="/ppt/notesSlides/notesSlide12.xml" Id="R6ceee40b3e5d4f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fff334a4fc4370" /><Relationship Type="http://schemas.openxmlformats.org/officeDocument/2006/relationships/notesSlide" Target="/ppt/notesSlides/notesSlide13.xml" Id="R44cba40f357a493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 (s)</c:v>
          </c:tx>
          <c:spPr>
            <a:solidFill xmlns:a="http://schemas.openxmlformats.org/drawingml/2006/main">
              <a:srgbClr val="007F78"/>
            </a:solidFill>
          </c:spPr>
          <c:cat>
            <c:strRef>
              <c:f>'Chart Data'!$A$2:$A$3</c:f>
              <c:strCache>
                <c:ptCount val="2"/>
                <c:pt idx="0">
                  <c:v>Graph V3-large</c:v>
                </c:pt>
                <c:pt idx="1">
                  <c:v>Polynomial</c:v>
                </c:pt>
              </c:strCache>
            </c:strRef>
          </c:cat>
          <c:val>
            <c:numRef>
              <c:f>'Chart Data'!$B$2:$B$3</c:f>
              <c:numCache>
                <c:formatCode>General</c:formatCode>
                <c:ptCount val="2"/>
                <c:pt idx="0">
                  <c:v>0.943547</c:v>
                </c:pt>
                <c:pt idx="1">
                  <c:v>1.221289</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63444"/>
                  </a:solidFill>
                  <a:latin typeface="Noto Sans"/>
                  <a:ea typeface="Noto Sans"/>
                  <a:cs typeface="Noto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CBD6DA"/>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Seconds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3444"/>
                </a:solidFill>
                <a:latin typeface="Noto Sans"/>
                <a:ea typeface="Noto Sans"/>
                <a:cs typeface="Noto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52A02D-366A-4C92-A9F0-ED750ED833DC}"/>
              </a:ext>
            </a:extLst>
          </p:cNvPr>
          <p:cNvSpPr>
            <a:spLocks xmlns:a="http://schemas.openxmlformats.org/drawingml/2006/main" noGrp="1"/>
          </p:cNvSpPr>
          <p:nvPr/>
        </p:nvSpPr>
        <p:spPr>
          <a:xfrm xmlns:a="http://schemas.openxmlformats.org/drawingml/2006/main">
            <a:off x="704850" y="109537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63444"/>
                </a:solidFill>
                <a:latin typeface="Noto Sans"/>
                <a:ea typeface="Noto Sans"/>
                <a:cs typeface="Noto Sans"/>
              </a:defRPr>
            </a:pPr>
            <a:r>
              <a:rPr sz="4500" b="1">
                <a:solidFill>
                  <a:srgbClr val="163444"/>
                </a:solidFill>
                <a:latin typeface="Noto Sans"/>
                <a:ea typeface="Noto Sans"/>
                <a:cs typeface="Noto Sans"/>
              </a:rPr>
              <a:t>Ước lượng runtime lượng tử</a:t>
            </a:r>
          </a:p>
        </p:txBody>
      </p:sp>
      <p:sp>
        <p:nvSpPr>
          <p:cNvPr id="2" name="">
            <a:extLst xmlns:a="http://schemas.openxmlformats.org/drawingml/2006/main">
              <a:ext uri="{FF2B5EF4-FFF2-40B4-BE49-F238E27FC236}">
                <a16:creationId xmlns:a16="http://schemas.microsoft.com/office/drawing/2014/main" id="{E430ACF6-F57B-4075-A2F3-83560F7A1177}"/>
              </a:ext>
            </a:extLst>
          </p:cNvPr>
          <p:cNvSpPr>
            <a:spLocks xmlns:a="http://schemas.openxmlformats.org/drawingml/2006/main" noGrp="1"/>
          </p:cNvSpPr>
          <p:nvPr/>
        </p:nvSpPr>
        <p:spPr>
          <a:xfrm xmlns:a="http://schemas.openxmlformats.org/drawingml/2006/main">
            <a:off x="742950" y="211455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007F78"/>
                </a:solidFill>
                <a:latin typeface="Noto Sans"/>
                <a:ea typeface="Noto Sans"/>
                <a:cs typeface="Noto Sans"/>
              </a:defRPr>
            </a:pPr>
            <a:r>
              <a:rPr sz="2400">
                <a:solidFill>
                  <a:srgbClr val="007F78"/>
                </a:solidFill>
                <a:latin typeface="Noto Sans"/>
                <a:ea typeface="Noto Sans"/>
                <a:cs typeface="Noto Sans"/>
              </a:rPr>
              <a:t>Bằng chứng từ QPU lưu trữ và simulator local</a:t>
            </a:r>
          </a:p>
        </p:txBody>
      </p:sp>
      <p:sp>
        <p:nvSpPr>
          <p:cNvPr id="3" name="">
            <a:extLst xmlns:a="http://schemas.openxmlformats.org/drawingml/2006/main">
              <a:ext uri="{FF2B5EF4-FFF2-40B4-BE49-F238E27FC236}">
                <a16:creationId xmlns:a16="http://schemas.microsoft.com/office/drawing/2014/main" id="{AFEDB220-9F86-46C9-AE69-CAD758B97B4A}"/>
              </a:ext>
            </a:extLst>
          </p:cNvPr>
          <p:cNvSpPr>
            <a:spLocks xmlns:a="http://schemas.openxmlformats.org/drawingml/2006/main" noGrp="1"/>
          </p:cNvSpPr>
          <p:nvPr/>
        </p:nvSpPr>
        <p:spPr>
          <a:xfrm xmlns:a="http://schemas.openxmlformats.org/drawingml/2006/main">
            <a:off x="742950" y="3409950"/>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66A18"/>
                </a:solidFill>
                <a:latin typeface="Noto Sans"/>
                <a:ea typeface="Noto Sans"/>
                <a:cs typeface="Noto Sans"/>
              </a:defRPr>
            </a:pPr>
            <a:r>
              <a:rPr sz="2250" b="1">
                <a:solidFill>
                  <a:srgbClr val="B66A18"/>
                </a:solidFill>
                <a:latin typeface="Noto Sans"/>
                <a:ea typeface="Noto Sans"/>
                <a:cs typeface="Noto Sans"/>
              </a:rPr>
              <a:t>Phạm vi khoa học PARTIAL</a:t>
            </a:r>
          </a:p>
        </p:txBody>
      </p:sp>
      <p:sp>
        <p:nvSpPr>
          <p:cNvPr id="4" name="">
            <a:extLst xmlns:a="http://schemas.openxmlformats.org/drawingml/2006/main">
              <a:ext uri="{FF2B5EF4-FFF2-40B4-BE49-F238E27FC236}">
                <a16:creationId xmlns:a16="http://schemas.microsoft.com/office/drawing/2014/main" id="{5C3E44FD-F988-4563-A70A-6AD21A264D5A}"/>
              </a:ext>
            </a:extLst>
          </p:cNvPr>
          <p:cNvSpPr>
            <a:spLocks xmlns:a="http://schemas.openxmlformats.org/drawingml/2006/main" noGrp="1"/>
          </p:cNvSpPr>
          <p:nvPr/>
        </p:nvSpPr>
        <p:spPr>
          <a:xfrm xmlns:a="http://schemas.openxmlformats.org/drawingml/2006/main">
            <a:off x="742950" y="405765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163444"/>
                </a:solidFill>
                <a:latin typeface="Noto Sans"/>
                <a:ea typeface="Noto Sans"/>
                <a:cs typeface="Noto Sans"/>
              </a:defRPr>
            </a:pPr>
            <a:r>
              <a:rPr sz="1875">
                <a:solidFill>
                  <a:srgbClr val="163444"/>
                </a:solidFill>
                <a:latin typeface="Noto Sans"/>
                <a:ea typeface="Noto Sans"/>
                <a:cs typeface="Noto Sans"/>
              </a:rPr>
              <a:t>Không chạy live QPU. Không gộp các clock khác nhau thành một bảng xếp hạng.</a:t>
            </a:r>
          </a:p>
        </p:txBody>
      </p:sp>
      <p:sp>
        <p:nvSpPr>
          <p:cNvPr id="5" name="">
            <a:extLst xmlns:a="http://schemas.openxmlformats.org/drawingml/2006/main">
              <a:ext uri="{FF2B5EF4-FFF2-40B4-BE49-F238E27FC236}">
                <a16:creationId xmlns:a16="http://schemas.microsoft.com/office/drawing/2014/main" id="{1C28B53E-8E14-4BBF-92A7-F9B28A1A9042}"/>
              </a:ext>
            </a:extLst>
          </p:cNvPr>
          <p:cNvSpPr>
            <a:spLocks xmlns:a="http://schemas.openxmlformats.org/drawingml/2006/main" noGrp="1"/>
          </p:cNvSpPr>
          <p:nvPr/>
        </p:nvSpPr>
        <p:spPr>
          <a:xfrm xmlns:a="http://schemas.openxmlformats.org/drawingml/2006/main">
            <a:off x="742950" y="60769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526873"/>
                </a:solidFill>
                <a:latin typeface="Noto Sans"/>
                <a:ea typeface="Noto Sans"/>
                <a:cs typeface="Noto Sans"/>
              </a:defRPr>
            </a:pPr>
            <a:r>
              <a:rPr sz="1350">
                <a:solidFill>
                  <a:srgbClr val="526873"/>
                </a:solidFill>
                <a:latin typeface="Noto Sans"/>
                <a:ea typeface="Noto Sans"/>
                <a:cs typeface="Noto Sans"/>
              </a:rPr>
              <a:t>Bản nội bộ | 02.10.2026</a:t>
            </a:r>
          </a:p>
        </p:txBody>
      </p:sp>
    </p:spTree>
    <p:extLst>
      <p:ext uri="{BB962C8B-B14F-4D97-AF65-F5344CB8AC3E}">
        <p14:creationId xmlns:p14="http://schemas.microsoft.com/office/powerpoint/2010/main" val="15292321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FCB787-37E9-4825-8815-F2F3913CD1E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Dữ liệu và phạm vi</a:t>
            </a:r>
          </a:p>
        </p:txBody>
      </p:sp>
      <p:sp>
        <p:nvSpPr>
          <p:cNvPr id="2" name="">
            <a:extLst xmlns:a="http://schemas.openxmlformats.org/drawingml/2006/main">
              <a:ext uri="{FF2B5EF4-FFF2-40B4-BE49-F238E27FC236}">
                <a16:creationId xmlns:a16="http://schemas.microsoft.com/office/drawing/2014/main" id="{22A52E72-0DC7-489A-BDD0-D98ED0D21575}"/>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02</a:t>
            </a:r>
          </a:p>
        </p:txBody>
      </p:sp>
      <p:graphicFrame>
        <p:nvGraphicFramePr>
          <p:cNvPr id="7" name=""/>
          <p:cNvGraphicFramePr/>
          <p:nvPr/>
        </p:nvGraphicFramePr>
        <p:xfrm>
          <a:off xmlns:a="http://schemas.openxmlformats.org/drawingml/2006/main" x="666750" y="1381125"/>
          <a:ext xmlns:a="http://schemas.openxmlformats.org/drawingml/2006/main" cx="10858500" cy="3905250"/>
        </p:xfrm>
        <a:graphic xmlns:a="http://schemas.openxmlformats.org/drawingml/2006/main">
          <a:graphicData uri="http://schemas.openxmlformats.org/drawingml/2006/table">
            <a:tbl>
              <a:tblPr/>
              <a:tblGrid>
                <a:gridCol w="2190750"/>
                <a:gridCol w="3524250"/>
                <a:gridCol w="5143500"/>
              </a:tblGrid>
              <a:tr h="650875">
                <a:tc>
                  <a:txBody>
                    <a:bodyPr/>
                    <a:lstStyle/>
                    <a:p>
                      <a:r>
                        <a:rPr sz="1650" b="1">
                          <a:solidFill>
                            <a:srgbClr val="FFFFFF"/>
                          </a:solidFill>
                        </a:rPr>
                        <a:t>Miền</a:t>
                      </a:r>
                    </a:p>
                  </a:txBody>
                  <a:tcPr marL="91440" marR="91440" marT="45720" marB="45720">
                    <a:solidFill>
                      <a:srgbClr val="25495A"/>
                    </a:solidFill>
                  </a:tcPr>
                </a:tc>
                <a:tc>
                  <a:txBody>
                    <a:bodyPr/>
                    <a:lstStyle/>
                    <a:p>
                      <a:r>
                        <a:rPr sz="1650" b="1">
                          <a:solidFill>
                            <a:srgbClr val="FFFFFF"/>
                          </a:solidFill>
                        </a:rPr>
                        <a:t>Đơn vị dữ liệu</a:t>
                      </a:r>
                    </a:p>
                  </a:txBody>
                  <a:tcPr marL="91440" marR="91440" marT="45720" marB="45720">
                    <a:solidFill>
                      <a:srgbClr val="25495A"/>
                    </a:solidFill>
                  </a:tcPr>
                </a:tc>
                <a:tc>
                  <a:txBody>
                    <a:bodyPr/>
                    <a:lstStyle/>
                    <a:p>
                      <a:r>
                        <a:rPr sz="1650" b="1">
                          <a:solidFill>
                            <a:srgbClr val="FFFFFF"/>
                          </a:solidFill>
                        </a:rPr>
                        <a:t>Phạm vi</a:t>
                      </a:r>
                    </a:p>
                  </a:txBody>
                  <a:tcPr marL="91440" marR="91440" marT="45720" marB="45720">
                    <a:solidFill>
                      <a:srgbClr val="25495A"/>
                    </a:solidFill>
                  </a:tcPr>
                </a:tc>
              </a:tr>
              <a:tr h="650875">
                <a:tc>
                  <a:txBody>
                    <a:bodyPr/>
                    <a:lstStyle/>
                    <a:p>
                      <a:r>
                        <a:rPr sz="1650" b="0">
                          <a:solidFill>
                            <a:srgbClr val="163444"/>
                          </a:solidFill>
                        </a:rPr>
                        <a:t>QPU Ma–Li</a:t>
                      </a:r>
                    </a:p>
                  </a:txBody>
                  <a:tcPr marL="91440" marR="91440" marT="45720" marB="45720">
                    <a:solidFill>
                      <a:srgbClr val="FFFFFF"/>
                    </a:solidFill>
                  </a:tcPr>
                </a:tc>
                <a:tc>
                  <a:txBody>
                    <a:bodyPr/>
                    <a:lstStyle/>
                    <a:p>
                      <a:r>
                        <a:rPr sz="1650" b="0">
                          <a:solidFill>
                            <a:srgbClr val="163444"/>
                          </a:solidFill>
                        </a:rPr>
                        <a:t>340 observations</a:t>
                      </a:r>
                    </a:p>
                  </a:txBody>
                  <a:tcPr marL="91440" marR="91440" marT="45720" marB="45720">
                    <a:solidFill>
                      <a:srgbClr val="FFFFFF"/>
                    </a:solidFill>
                  </a:tcPr>
                </a:tc>
                <a:tc>
                  <a:txBody>
                    <a:bodyPr/>
                    <a:lstStyle/>
                    <a:p>
                      <a:r>
                        <a:rPr sz="1650" b="0">
                          <a:solidFill>
                            <a:srgbClr val="163444"/>
                          </a:solidFill>
                        </a:rPr>
                        <a:t>Nguồn riêng</a:t>
                      </a:r>
                    </a:p>
                  </a:txBody>
                  <a:tcPr marL="91440" marR="91440" marT="45720" marB="45720">
                    <a:solidFill>
                      <a:srgbClr val="FFFFFF"/>
                    </a:solidFill>
                  </a:tcPr>
                </a:tc>
              </a:tr>
              <a:tr h="650875">
                <a:tc>
                  <a:txBody>
                    <a:bodyPr/>
                    <a:lstStyle/>
                    <a:p>
                      <a:r>
                        <a:rPr sz="1650" b="0">
                          <a:solidFill>
                            <a:srgbClr val="163444"/>
                          </a:solidFill>
                        </a:rPr>
                        <a:t>QPU Qonductor</a:t>
                      </a:r>
                    </a:p>
                  </a:txBody>
                  <a:tcPr marL="91440" marR="91440" marT="45720" marB="45720">
                    <a:solidFill>
                      <a:srgbClr val="F4F7F8"/>
                    </a:solidFill>
                  </a:tcPr>
                </a:tc>
                <a:tc>
                  <a:txBody>
                    <a:bodyPr/>
                    <a:lstStyle/>
                    <a:p>
                      <a:r>
                        <a:rPr sz="1650" b="0">
                          <a:solidFill>
                            <a:srgbClr val="163444"/>
                          </a:solidFill>
                        </a:rPr>
                        <a:t>4.482 observations</a:t>
                      </a:r>
                    </a:p>
                  </a:txBody>
                  <a:tcPr marL="91440" marR="91440" marT="45720" marB="45720">
                    <a:solidFill>
                      <a:srgbClr val="F4F7F8"/>
                    </a:solidFill>
                  </a:tcPr>
                </a:tc>
                <a:tc>
                  <a:txBody>
                    <a:bodyPr/>
                    <a:lstStyle/>
                    <a:p>
                      <a:r>
                        <a:rPr sz="1650" b="0">
                          <a:solidFill>
                            <a:srgbClr val="163444"/>
                          </a:solidFill>
                        </a:rPr>
                        <a:t>Nguồn riêng</a:t>
                      </a:r>
                    </a:p>
                  </a:txBody>
                  <a:tcPr marL="91440" marR="91440" marT="45720" marB="45720">
                    <a:solidFill>
                      <a:srgbClr val="F4F7F8"/>
                    </a:solidFill>
                  </a:tcPr>
                </a:tc>
              </a:tr>
              <a:tr h="650875">
                <a:tc>
                  <a:txBody>
                    <a:bodyPr/>
                    <a:lstStyle/>
                    <a:p>
                      <a:r>
                        <a:rPr sz="1650" b="0">
                          <a:solidFill>
                            <a:srgbClr val="163444"/>
                          </a:solidFill>
                        </a:rPr>
                        <a:t>QPU QPack</a:t>
                      </a:r>
                    </a:p>
                  </a:txBody>
                  <a:tcPr marL="91440" marR="91440" marT="45720" marB="45720">
                    <a:solidFill>
                      <a:srgbClr val="FFFFFF"/>
                    </a:solidFill>
                  </a:tcPr>
                </a:tc>
                <a:tc>
                  <a:txBody>
                    <a:bodyPr/>
                    <a:lstStyle/>
                    <a:p>
                      <a:r>
                        <a:rPr sz="1650" b="0">
                          <a:solidFill>
                            <a:srgbClr val="163444"/>
                          </a:solidFill>
                        </a:rPr>
                        <a:t>3.945 observations</a:t>
                      </a:r>
                    </a:p>
                  </a:txBody>
                  <a:tcPr marL="91440" marR="91440" marT="45720" marB="45720">
                    <a:solidFill>
                      <a:srgbClr val="FFFFFF"/>
                    </a:solidFill>
                  </a:tcPr>
                </a:tc>
                <a:tc>
                  <a:txBody>
                    <a:bodyPr/>
                    <a:lstStyle/>
                    <a:p>
                      <a:r>
                        <a:rPr sz="1650" b="0">
                          <a:solidFill>
                            <a:srgbClr val="163444"/>
                          </a:solidFill>
                        </a:rPr>
                        <a:t>46 workflows</a:t>
                      </a:r>
                    </a:p>
                  </a:txBody>
                  <a:tcPr marL="91440" marR="91440" marT="45720" marB="45720">
                    <a:solidFill>
                      <a:srgbClr val="FFFFFF"/>
                    </a:solidFill>
                  </a:tcPr>
                </a:tc>
              </a:tr>
              <a:tr h="650875">
                <a:tc>
                  <a:txBody>
                    <a:bodyPr/>
                    <a:lstStyle/>
                    <a:p>
                      <a:r>
                        <a:rPr sz="1650" b="0">
                          <a:solidFill>
                            <a:srgbClr val="163444"/>
                          </a:solidFill>
                        </a:rPr>
                        <a:t>Tổng QPU</a:t>
                      </a:r>
                    </a:p>
                  </a:txBody>
                  <a:tcPr marL="91440" marR="91440" marT="45720" marB="45720">
                    <a:solidFill>
                      <a:srgbClr val="F4F7F8"/>
                    </a:solidFill>
                  </a:tcPr>
                </a:tc>
                <a:tc>
                  <a:txBody>
                    <a:bodyPr/>
                    <a:lstStyle/>
                    <a:p>
                      <a:r>
                        <a:rPr sz="1650" b="0">
                          <a:solidFill>
                            <a:srgbClr val="163444"/>
                          </a:solidFill>
                        </a:rPr>
                        <a:t>8.767 observations</a:t>
                      </a:r>
                    </a:p>
                  </a:txBody>
                  <a:tcPr marL="91440" marR="91440" marT="45720" marB="45720">
                    <a:solidFill>
                      <a:srgbClr val="F4F7F8"/>
                    </a:solidFill>
                  </a:tcPr>
                </a:tc>
                <a:tc>
                  <a:txBody>
                    <a:bodyPr/>
                    <a:lstStyle/>
                    <a:p>
                      <a:r>
                        <a:rPr sz="1650" b="0">
                          <a:solidFill>
                            <a:srgbClr val="163444"/>
                          </a:solidFill>
                        </a:rPr>
                        <a:t>Labels archived</a:t>
                      </a:r>
                    </a:p>
                  </a:txBody>
                  <a:tcPr marL="91440" marR="91440" marT="45720" marB="45720">
                    <a:solidFill>
                      <a:srgbClr val="F4F7F8"/>
                    </a:solidFill>
                  </a:tcPr>
                </a:tc>
              </a:tr>
              <a:tr h="650875">
                <a:tc>
                  <a:txBody>
                    <a:bodyPr/>
                    <a:lstStyle/>
                    <a:p>
                      <a:r>
                        <a:rPr sz="1650" b="0">
                          <a:solidFill>
                            <a:srgbClr val="163444"/>
                          </a:solidFill>
                        </a:rPr>
                        <a:t>Simulator local</a:t>
                      </a:r>
                    </a:p>
                  </a:txBody>
                  <a:tcPr marL="91440" marR="91440" marT="45720" marB="45720">
                    <a:solidFill>
                      <a:srgbClr val="FFFFFF"/>
                    </a:solidFill>
                  </a:tcPr>
                </a:tc>
                <a:tc>
                  <a:txBody>
                    <a:bodyPr/>
                    <a:lstStyle/>
                    <a:p>
                      <a:r>
                        <a:rPr sz="1650" b="0">
                          <a:solidFill>
                            <a:srgbClr val="163444"/>
                          </a:solidFill>
                        </a:rPr>
                        <a:t>204 members / 191 hashes</a:t>
                      </a:r>
                    </a:p>
                  </a:txBody>
                  <a:tcPr marL="91440" marR="91440" marT="45720" marB="45720">
                    <a:solidFill>
                      <a:srgbClr val="FFFFFF"/>
                    </a:solidFill>
                  </a:tcPr>
                </a:tc>
                <a:tc>
                  <a:txBody>
                    <a:bodyPr/>
                    <a:lstStyle/>
                    <a:p>
                      <a:r>
                        <a:rPr sz="1650" b="0">
                          <a:solidFill>
                            <a:srgbClr val="163444"/>
                          </a:solidFill>
                        </a:rPr>
                        <a:t>162 core + 42 frontier</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AA0E553-46EB-45FE-A88F-0C7A65AA45B2}"/>
              </a:ext>
            </a:extLst>
          </p:cNvPr>
          <p:cNvSpPr>
            <a:spLocks xmlns:a="http://schemas.openxmlformats.org/drawingml/2006/main" noGrp="1"/>
          </p:cNvSpPr>
          <p:nvPr/>
        </p:nvSpPr>
        <p:spPr>
          <a:xfrm xmlns:a="http://schemas.openxmlformats.org/drawingml/2006/main">
            <a:off x="723900" y="5524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Noto Sans"/>
                <a:ea typeface="Noto Sans"/>
                <a:cs typeface="Noto Sans"/>
              </a:defRPr>
            </a:pPr>
            <a:r>
              <a:rPr sz="1725" b="1">
                <a:solidFill>
                  <a:srgbClr val="007F78"/>
                </a:solidFill>
                <a:latin typeface="Noto Sans"/>
                <a:ea typeface="Noto Sans"/>
                <a:cs typeface="Noto Sans"/>
              </a:rPr>
              <a:t>Đây là hai domain với target và clock riêng, không phải một leaderboard phẳng.</a:t>
            </a:r>
          </a:p>
        </p:txBody>
      </p:sp>
    </p:spTree>
    <p:extLst>
      <p:ext uri="{BB962C8B-B14F-4D97-AF65-F5344CB8AC3E}">
        <p14:creationId xmlns:p14="http://schemas.microsoft.com/office/powerpoint/2010/main" val="20015191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6D4E9F-535F-4D66-AF17-A44C4DD1C54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Thiết kế so sánh</a:t>
            </a:r>
          </a:p>
        </p:txBody>
      </p:sp>
      <p:sp>
        <p:nvSpPr>
          <p:cNvPr id="2" name="">
            <a:extLst xmlns:a="http://schemas.openxmlformats.org/drawingml/2006/main">
              <a:ext uri="{FF2B5EF4-FFF2-40B4-BE49-F238E27FC236}">
                <a16:creationId xmlns:a16="http://schemas.microsoft.com/office/drawing/2014/main" id="{0D2880CE-7893-45CD-BDD5-7729F5DAD14B}"/>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03</a:t>
            </a:r>
          </a:p>
        </p:txBody>
      </p:sp>
      <p:graphicFrame>
        <p:nvGraphicFramePr>
          <p:cNvPr id="7" name=""/>
          <p:cNvGraphicFramePr/>
          <p:nvPr/>
        </p:nvGraphicFramePr>
        <p:xfrm>
          <a:off xmlns:a="http://schemas.openxmlformats.org/drawingml/2006/main" x="666750" y="1524000"/>
          <a:ext xmlns:a="http://schemas.openxmlformats.org/drawingml/2006/main" cx="10858500" cy="3619500"/>
        </p:xfrm>
        <a:graphic xmlns:a="http://schemas.openxmlformats.org/drawingml/2006/main">
          <a:graphicData uri="http://schemas.openxmlformats.org/drawingml/2006/table">
            <a:tbl>
              <a:tblPr/>
              <a:tblGrid>
                <a:gridCol w="2190750"/>
                <a:gridCol w="4524375"/>
                <a:gridCol w="4143375"/>
              </a:tblGrid>
              <a:tr h="723900">
                <a:tc>
                  <a:txBody>
                    <a:bodyPr/>
                    <a:lstStyle/>
                    <a:p>
                      <a:r>
                        <a:rPr sz="1575" b="1">
                          <a:solidFill>
                            <a:srgbClr val="FFFFFF"/>
                          </a:solidFill>
                        </a:rPr>
                        <a:t>Nguyên tắc</a:t>
                      </a:r>
                    </a:p>
                  </a:txBody>
                  <a:tcPr marL="91440" marR="91440" marT="45720" marB="45720">
                    <a:solidFill>
                      <a:srgbClr val="25495A"/>
                    </a:solidFill>
                  </a:tcPr>
                </a:tc>
                <a:tc>
                  <a:txBody>
                    <a:bodyPr/>
                    <a:lstStyle/>
                    <a:p>
                      <a:r>
                        <a:rPr sz="1575" b="1">
                          <a:solidFill>
                            <a:srgbClr val="FFFFFF"/>
                          </a:solidFill>
                        </a:rPr>
                        <a:t>Áp dụng</a:t>
                      </a:r>
                    </a:p>
                  </a:txBody>
                  <a:tcPr marL="91440" marR="91440" marT="45720" marB="45720">
                    <a:solidFill>
                      <a:srgbClr val="25495A"/>
                    </a:solidFill>
                  </a:tcPr>
                </a:tc>
                <a:tc>
                  <a:txBody>
                    <a:bodyPr/>
                    <a:lstStyle/>
                    <a:p>
                      <a:r>
                        <a:rPr sz="1575" b="1">
                          <a:solidFill>
                            <a:srgbClr val="FFFFFF"/>
                          </a:solidFill>
                        </a:rPr>
                        <a:t>Giới hạn</a:t>
                      </a:r>
                    </a:p>
                  </a:txBody>
                  <a:tcPr marL="91440" marR="91440" marT="45720" marB="45720">
                    <a:solidFill>
                      <a:srgbClr val="25495A"/>
                    </a:solidFill>
                  </a:tcPr>
                </a:tc>
              </a:tr>
              <a:tr h="723900">
                <a:tc>
                  <a:txBody>
                    <a:bodyPr/>
                    <a:lstStyle/>
                    <a:p>
                      <a:r>
                        <a:rPr sz="1500" b="0">
                          <a:solidFill>
                            <a:srgbClr val="163444"/>
                          </a:solidFill>
                        </a:rPr>
                        <a:t>Rows chung</a:t>
                      </a:r>
                    </a:p>
                  </a:txBody>
                  <a:tcPr marL="91440" marR="91440" marT="45720" marB="45720">
                    <a:solidFill>
                      <a:srgbClr val="FFFFFF"/>
                    </a:solidFill>
                  </a:tcPr>
                </a:tc>
                <a:tc>
                  <a:txBody>
                    <a:bodyPr/>
                    <a:lstStyle/>
                    <a:p>
                      <a:r>
                        <a:rPr sz="1500" b="0">
                          <a:solidFill>
                            <a:srgbClr val="163444"/>
                          </a:solidFill>
                        </a:rPr>
                        <a:t>Graph V3-large và polynomial dùng cùng unified ledger và grouped outer folds</a:t>
                      </a:r>
                    </a:p>
                  </a:txBody>
                  <a:tcPr marL="91440" marR="91440" marT="45720" marB="45720">
                    <a:solidFill>
                      <a:srgbClr val="FFFFFF"/>
                    </a:solidFill>
                  </a:tcPr>
                </a:tc>
                <a:tc>
                  <a:txBody>
                    <a:bodyPr/>
                    <a:lstStyle/>
                    <a:p>
                      <a:r>
                        <a:rPr sz="1500" b="0">
                          <a:solidFill>
                            <a:srgbClr val="163444"/>
                          </a:solidFill>
                        </a:rPr>
                        <a:t>So sánh theo source-local shared rows</a:t>
                      </a:r>
                    </a:p>
                  </a:txBody>
                  <a:tcPr marL="91440" marR="91440" marT="45720" marB="45720">
                    <a:solidFill>
                      <a:srgbClr val="FFFFFF"/>
                    </a:solidFill>
                  </a:tcPr>
                </a:tc>
              </a:tr>
              <a:tr h="723900">
                <a:tc>
                  <a:txBody>
                    <a:bodyPr/>
                    <a:lstStyle/>
                    <a:p>
                      <a:r>
                        <a:rPr sz="1500" b="0">
                          <a:solidFill>
                            <a:srgbClr val="163444"/>
                          </a:solidFill>
                        </a:rPr>
                        <a:t>Fit</a:t>
                      </a:r>
                    </a:p>
                  </a:txBody>
                  <a:tcPr marL="91440" marR="91440" marT="45720" marB="45720">
                    <a:solidFill>
                      <a:srgbClr val="F4F7F8"/>
                    </a:solidFill>
                  </a:tcPr>
                </a:tc>
                <a:tc>
                  <a:txBody>
                    <a:bodyPr/>
                    <a:lstStyle/>
                    <a:p>
                      <a:r>
                        <a:rPr sz="1500" b="0">
                          <a:solidFill>
                            <a:srgbClr val="163444"/>
                          </a:solidFill>
                        </a:rPr>
                        <a:t>Preprocessing và calibration chỉ fit trên outer-train</a:t>
                      </a:r>
                    </a:p>
                  </a:txBody>
                  <a:tcPr marL="91440" marR="91440" marT="45720" marB="45720">
                    <a:solidFill>
                      <a:srgbClr val="F4F7F8"/>
                    </a:solidFill>
                  </a:tcPr>
                </a:tc>
                <a:tc>
                  <a:txBody>
                    <a:bodyPr/>
                    <a:lstStyle/>
                    <a:p>
                      <a:r>
                        <a:rPr sz="1500" b="0">
                          <a:solidFill>
                            <a:srgbClr val="163444"/>
                          </a:solidFill>
                        </a:rPr>
                        <a:t>Không chọn theo labels của test</a:t>
                      </a:r>
                    </a:p>
                  </a:txBody>
                  <a:tcPr marL="91440" marR="91440" marT="45720" marB="45720">
                    <a:solidFill>
                      <a:srgbClr val="F4F7F8"/>
                    </a:solidFill>
                  </a:tcPr>
                </a:tc>
              </a:tr>
              <a:tr h="723900">
                <a:tc>
                  <a:txBody>
                    <a:bodyPr/>
                    <a:lstStyle/>
                    <a:p>
                      <a:r>
                        <a:rPr sz="1500" b="0">
                          <a:solidFill>
                            <a:srgbClr val="163444"/>
                          </a:solidFill>
                        </a:rPr>
                        <a:t>Coverage</a:t>
                      </a:r>
                    </a:p>
                  </a:txBody>
                  <a:tcPr marL="91440" marR="91440" marT="45720" marB="45720">
                    <a:solidFill>
                      <a:srgbClr val="FFFFFF"/>
                    </a:solidFill>
                  </a:tcPr>
                </a:tc>
                <a:tc>
                  <a:txBody>
                    <a:bodyPr/>
                    <a:lstStyle/>
                    <a:p>
                      <a:r>
                        <a:rPr sz="1500" b="0">
                          <a:solidFill>
                            <a:srgbClr val="163444"/>
                          </a:solidFill>
                        </a:rPr>
                        <a:t>Unavailable và failures giữ trong denominator được giao</a:t>
                      </a:r>
                    </a:p>
                  </a:txBody>
                  <a:tcPr marL="91440" marR="91440" marT="45720" marB="45720">
                    <a:solidFill>
                      <a:srgbClr val="FFFFFF"/>
                    </a:solidFill>
                  </a:tcPr>
                </a:tc>
                <a:tc>
                  <a:txBody>
                    <a:bodyPr/>
                    <a:lstStyle/>
                    <a:p>
                      <a:r>
                        <a:rPr sz="1500" b="0">
                          <a:solidFill>
                            <a:srgbClr val="163444"/>
                          </a:solidFill>
                        </a:rPr>
                        <a:t>Coverage khác accuracy</a:t>
                      </a:r>
                    </a:p>
                  </a:txBody>
                  <a:tcPr marL="91440" marR="91440" marT="45720" marB="45720">
                    <a:solidFill>
                      <a:srgbClr val="FFFFFF"/>
                    </a:solidFill>
                  </a:tcPr>
                </a:tc>
              </a:tr>
              <a:tr h="723900">
                <a:tc>
                  <a:txBody>
                    <a:bodyPr/>
                    <a:lstStyle/>
                    <a:p>
                      <a:r>
                        <a:rPr sz="1500" b="0">
                          <a:solidFill>
                            <a:srgbClr val="163444"/>
                          </a:solidFill>
                        </a:rPr>
                        <a:t>Clock</a:t>
                      </a:r>
                    </a:p>
                  </a:txBody>
                  <a:tcPr marL="91440" marR="91440" marT="45720" marB="45720">
                    <a:solidFill>
                      <a:srgbClr val="F4F7F8"/>
                    </a:solidFill>
                  </a:tcPr>
                </a:tc>
                <a:tc>
                  <a:txBody>
                    <a:bodyPr/>
                    <a:lstStyle/>
                    <a:p>
                      <a:r>
                        <a:rPr sz="1500" b="0">
                          <a:solidFill>
                            <a:srgbClr val="163444"/>
                          </a:solidFill>
                        </a:rPr>
                        <a:t>Hiển thị output clock cùng evaluation target clock</a:t>
                      </a:r>
                    </a:p>
                  </a:txBody>
                  <a:tcPr marL="91440" marR="91440" marT="45720" marB="45720">
                    <a:solidFill>
                      <a:srgbClr val="F4F7F8"/>
                    </a:solidFill>
                  </a:tcPr>
                </a:tc>
                <a:tc>
                  <a:txBody>
                    <a:bodyPr/>
                    <a:lstStyle/>
                    <a:p>
                      <a:r>
                        <a:rPr sz="1500" b="0">
                          <a:solidFill>
                            <a:srgbClr val="163444"/>
                          </a:solidFill>
                        </a:rPr>
                        <a:t>Không xếp hạng chéo clock</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98904E54-DB50-4584-80A4-C10F90ECE570}"/>
              </a:ext>
            </a:extLst>
          </p:cNvPr>
          <p:cNvSpPr>
            <a:spLocks xmlns:a="http://schemas.openxmlformats.org/drawingml/2006/main" noGrp="1"/>
          </p:cNvSpPr>
          <p:nvPr/>
        </p:nvSpPr>
        <p:spPr>
          <a:xfrm xmlns:a="http://schemas.openxmlformats.org/drawingml/2006/main">
            <a:off x="723900" y="55245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MAE thấp hơn trên shared rows không tự động chứng minh superiority trên toàn ledger.</a:t>
            </a:r>
          </a:p>
        </p:txBody>
      </p:sp>
    </p:spTree>
    <p:extLst>
      <p:ext uri="{BB962C8B-B14F-4D97-AF65-F5344CB8AC3E}">
        <p14:creationId xmlns:p14="http://schemas.microsoft.com/office/powerpoint/2010/main" val="2468314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CC5913-419C-416C-807A-2A38AE3D5E8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Coverage phương pháp</a:t>
            </a:r>
          </a:p>
        </p:txBody>
      </p:sp>
      <p:sp>
        <p:nvSpPr>
          <p:cNvPr id="2" name="">
            <a:extLst xmlns:a="http://schemas.openxmlformats.org/drawingml/2006/main">
              <a:ext uri="{FF2B5EF4-FFF2-40B4-BE49-F238E27FC236}">
                <a16:creationId xmlns:a16="http://schemas.microsoft.com/office/drawing/2014/main" id="{58B7F14A-EE62-4CAC-8F43-7A408BC5E6C8}"/>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04</a:t>
            </a:r>
          </a:p>
        </p:txBody>
      </p:sp>
      <p:graphicFrame>
        <p:nvGraphicFramePr>
          <p:cNvPr id="7" name=""/>
          <p:cNvGraphicFramePr/>
          <p:nvPr/>
        </p:nvGraphicFramePr>
        <p:xfrm>
          <a:off xmlns:a="http://schemas.openxmlformats.org/drawingml/2006/main" x="609600" y="1409700"/>
          <a:ext xmlns:a="http://schemas.openxmlformats.org/drawingml/2006/main" cx="10972800" cy="4286250"/>
        </p:xfrm>
        <a:graphic xmlns:a="http://schemas.openxmlformats.org/drawingml/2006/main">
          <a:graphicData uri="http://schemas.openxmlformats.org/drawingml/2006/table">
            <a:tbl>
              <a:tblPr/>
              <a:tblGrid>
                <a:gridCol w="1952625"/>
                <a:gridCol w="3286125"/>
                <a:gridCol w="2000250"/>
                <a:gridCol w="3733800"/>
              </a:tblGrid>
              <a:tr h="612321">
                <a:tc>
                  <a:txBody>
                    <a:bodyPr/>
                    <a:lstStyle/>
                    <a:p>
                      <a:r>
                        <a:rPr sz="1350" b="1">
                          <a:solidFill>
                            <a:srgbClr val="FFFFFF"/>
                          </a:solidFill>
                        </a:rPr>
                        <a:t>QPU approach</a:t>
                      </a:r>
                    </a:p>
                  </a:txBody>
                  <a:tcPr marL="91440" marR="91440" marT="45720" marB="45720">
                    <a:solidFill>
                      <a:srgbClr val="25495A"/>
                    </a:solidFill>
                  </a:tcPr>
                </a:tc>
                <a:tc>
                  <a:txBody>
                    <a:bodyPr/>
                    <a:lstStyle/>
                    <a:p>
                      <a:r>
                        <a:rPr sz="1350" b="1">
                          <a:solidFill>
                            <a:srgbClr val="FFFFFF"/>
                          </a:solidFill>
                        </a:rPr>
                        <a:t>Evidence status</a:t>
                      </a:r>
                    </a:p>
                  </a:txBody>
                  <a:tcPr marL="91440" marR="91440" marT="45720" marB="45720">
                    <a:solidFill>
                      <a:srgbClr val="25495A"/>
                    </a:solidFill>
                  </a:tcPr>
                </a:tc>
                <a:tc>
                  <a:txBody>
                    <a:bodyPr/>
                    <a:lstStyle/>
                    <a:p>
                      <a:r>
                        <a:rPr sz="1350" b="1">
                          <a:solidFill>
                            <a:srgbClr val="FFFFFF"/>
                          </a:solidFill>
                        </a:rPr>
                        <a:t>Simulator approach</a:t>
                      </a:r>
                    </a:p>
                  </a:txBody>
                  <a:tcPr marL="91440" marR="91440" marT="45720" marB="45720">
                    <a:solidFill>
                      <a:srgbClr val="25495A"/>
                    </a:solidFill>
                  </a:tcPr>
                </a:tc>
                <a:tc>
                  <a:txBody>
                    <a:bodyPr/>
                    <a:lstStyle/>
                    <a:p>
                      <a:r>
                        <a:rPr sz="1350" b="1">
                          <a:solidFill>
                            <a:srgbClr val="FFFFFF"/>
                          </a:solidFill>
                        </a:rPr>
                        <a:t>Evidence status</a:t>
                      </a:r>
                    </a:p>
                  </a:txBody>
                  <a:tcPr marL="91440" marR="91440" marT="45720" marB="45720">
                    <a:solidFill>
                      <a:srgbClr val="25495A"/>
                    </a:solidFill>
                  </a:tcPr>
                </a:tc>
              </a:tr>
              <a:tr h="612321">
                <a:tc>
                  <a:txBody>
                    <a:bodyPr/>
                    <a:lstStyle/>
                    <a:p>
                      <a:r>
                        <a:rPr sz="1275" b="0">
                          <a:solidFill>
                            <a:srgbClr val="163444"/>
                          </a:solidFill>
                        </a:rPr>
                        <a:t>Ma–Li graph</a:t>
                      </a:r>
                    </a:p>
                  </a:txBody>
                  <a:tcPr marL="91440" marR="91440" marT="45720" marB="45720">
                    <a:solidFill>
                      <a:srgbClr val="FFFFFF"/>
                    </a:solidFill>
                  </a:tcPr>
                </a:tc>
                <a:tc>
                  <a:txBody>
                    <a:bodyPr/>
                    <a:lstStyle/>
                    <a:p>
                      <a:r>
                        <a:rPr sz="1275" b="0">
                          <a:solidFill>
                            <a:srgbClr val="163444"/>
                          </a:solidFill>
                        </a:rPr>
                        <a:t>Unified adaptation; V3 and V3-large</a:t>
                      </a:r>
                    </a:p>
                  </a:txBody>
                  <a:tcPr marL="91440" marR="91440" marT="45720" marB="45720">
                    <a:solidFill>
                      <a:srgbClr val="FFFFFF"/>
                    </a:solidFill>
                  </a:tcPr>
                </a:tc>
                <a:tc>
                  <a:txBody>
                    <a:bodyPr/>
                    <a:lstStyle/>
                    <a:p>
                      <a:r>
                        <a:rPr sz="1275" b="0">
                          <a:solidFill>
                            <a:srgbClr val="163444"/>
                          </a:solidFill>
                        </a:rPr>
                        <a:t>Ma–Li local graph</a:t>
                      </a:r>
                    </a:p>
                  </a:txBody>
                  <a:tcPr marL="91440" marR="91440" marT="45720" marB="45720">
                    <a:solidFill>
                      <a:srgbClr val="FFFFFF"/>
                    </a:solidFill>
                  </a:tcPr>
                </a:tc>
                <a:tc>
                  <a:txBody>
                    <a:bodyPr/>
                    <a:lstStyle/>
                    <a:p>
                      <a:r>
                        <a:rPr sz="1275" b="0">
                          <a:solidFill>
                            <a:srgbClr val="163444"/>
                          </a:solidFill>
                        </a:rPr>
                        <a:t>162 core rows; supplementary diagnostic</a:t>
                      </a:r>
                    </a:p>
                  </a:txBody>
                  <a:tcPr marL="91440" marR="91440" marT="45720" marB="45720">
                    <a:solidFill>
                      <a:srgbClr val="FFFFFF"/>
                    </a:solidFill>
                  </a:tcPr>
                </a:tc>
              </a:tr>
              <a:tr h="612321">
                <a:tc>
                  <a:txBody>
                    <a:bodyPr/>
                    <a:lstStyle/>
                    <a:p>
                      <a:r>
                        <a:rPr sz="1275" b="0">
                          <a:solidFill>
                            <a:srgbClr val="163444"/>
                          </a:solidFill>
                        </a:rPr>
                        <a:t>Qonductor</a:t>
                      </a:r>
                    </a:p>
                  </a:txBody>
                  <a:tcPr marL="91440" marR="91440" marT="45720" marB="45720">
                    <a:solidFill>
                      <a:srgbClr val="F4F7F8"/>
                    </a:solidFill>
                  </a:tcPr>
                </a:tc>
                <a:tc>
                  <a:txBody>
                    <a:bodyPr/>
                    <a:lstStyle/>
                    <a:p>
                      <a:r>
                        <a:rPr sz="1275" b="0">
                          <a:solidFill>
                            <a:srgbClr val="163444"/>
                          </a:solidFill>
                        </a:rPr>
                        <a:t>Unified polynomial adaptation</a:t>
                      </a:r>
                    </a:p>
                  </a:txBody>
                  <a:tcPr marL="91440" marR="91440" marT="45720" marB="45720">
                    <a:solidFill>
                      <a:srgbClr val="F4F7F8"/>
                    </a:solidFill>
                  </a:tcPr>
                </a:tc>
                <a:tc>
                  <a:txBody>
                    <a:bodyPr/>
                    <a:lstStyle/>
                    <a:p>
                      <a:r>
                        <a:rPr sz="1275" b="0">
                          <a:solidFill>
                            <a:srgbClr val="163444"/>
                          </a:solidFill>
                        </a:rPr>
                        <a:t>Azizov</a:t>
                      </a:r>
                    </a:p>
                  </a:txBody>
                  <a:tcPr marL="91440" marR="91440" marT="45720" marB="45720">
                    <a:solidFill>
                      <a:srgbClr val="F4F7F8"/>
                    </a:solidFill>
                  </a:tcPr>
                </a:tc>
                <a:tc>
                  <a:txBody>
                    <a:bodyPr/>
                    <a:lstStyle/>
                    <a:p>
                      <a:r>
                        <a:rPr sz="1275" b="0">
                          <a:solidFill>
                            <a:srgbClr val="163444"/>
                          </a:solidFill>
                        </a:rPr>
                        <a:t>Classical adaptations only</a:t>
                      </a:r>
                    </a:p>
                  </a:txBody>
                  <a:tcPr marL="91440" marR="91440" marT="45720" marB="45720">
                    <a:solidFill>
                      <a:srgbClr val="F4F7F8"/>
                    </a:solidFill>
                  </a:tcPr>
                </a:tc>
              </a:tr>
              <a:tr h="612321">
                <a:tc>
                  <a:txBody>
                    <a:bodyPr/>
                    <a:lstStyle/>
                    <a:p>
                      <a:r>
                        <a:rPr sz="1275" b="0">
                          <a:solidFill>
                            <a:srgbClr val="163444"/>
                          </a:solidFill>
                        </a:rPr>
                        <a:t>Scholten</a:t>
                      </a:r>
                    </a:p>
                  </a:txBody>
                  <a:tcPr marL="91440" marR="91440" marT="45720" marB="45720">
                    <a:solidFill>
                      <a:srgbClr val="FFFFFF"/>
                    </a:solidFill>
                  </a:tcPr>
                </a:tc>
                <a:tc>
                  <a:txBody>
                    <a:bodyPr/>
                    <a:lstStyle/>
                    <a:p>
                      <a:r>
                        <a:rPr sz="1275" b="0">
                          <a:solidFill>
                            <a:srgbClr val="163444"/>
                          </a:solidFill>
                        </a:rPr>
                        <a:t>Nominal proxy; 5,769 / 8,767</a:t>
                      </a:r>
                    </a:p>
                  </a:txBody>
                  <a:tcPr marL="91440" marR="91440" marT="45720" marB="45720">
                    <a:solidFill>
                      <a:srgbClr val="FFFFFF"/>
                    </a:solidFill>
                  </a:tcPr>
                </a:tc>
                <a:tc>
                  <a:txBody>
                    <a:bodyPr/>
                    <a:lstStyle/>
                    <a:p>
                      <a:r>
                        <a:rPr sz="1275" b="0">
                          <a:solidFill>
                            <a:srgbClr val="163444"/>
                          </a:solidFill>
                        </a:rPr>
                        <a:t>Family-aware</a:t>
                      </a:r>
                    </a:p>
                  </a:txBody>
                  <a:tcPr marL="91440" marR="91440" marT="45720" marB="45720">
                    <a:solidFill>
                      <a:srgbClr val="FFFFFF"/>
                    </a:solidFill>
                  </a:tcPr>
                </a:tc>
                <a:tc>
                  <a:txBody>
                    <a:bodyPr/>
                    <a:lstStyle/>
                    <a:p>
                      <a:r>
                        <a:rPr sz="1275" b="0">
                          <a:solidFill>
                            <a:srgbClr val="163444"/>
                          </a:solidFill>
                        </a:rPr>
                        <a:t>Local joint task not evaluated</a:t>
                      </a:r>
                    </a:p>
                  </a:txBody>
                  <a:tcPr marL="91440" marR="91440" marT="45720" marB="45720">
                    <a:solidFill>
                      <a:srgbClr val="FFFFFF"/>
                    </a:solidFill>
                  </a:tcPr>
                </a:tc>
              </a:tr>
              <a:tr h="612321">
                <a:tc>
                  <a:txBody>
                    <a:bodyPr/>
                    <a:lstStyle/>
                    <a:p>
                      <a:r>
                        <a:rPr sz="1275" b="0">
                          <a:solidFill>
                            <a:srgbClr val="163444"/>
                          </a:solidFill>
                        </a:rPr>
                        <a:t>QCRE</a:t>
                      </a:r>
                    </a:p>
                  </a:txBody>
                  <a:tcPr marL="91440" marR="91440" marT="45720" marB="45720">
                    <a:solidFill>
                      <a:srgbClr val="F4F7F8"/>
                    </a:solidFill>
                  </a:tcPr>
                </a:tc>
                <a:tc>
                  <a:txBody>
                    <a:bodyPr/>
                    <a:lstStyle/>
                    <a:p>
                      <a:r>
                        <a:rPr sz="1275" b="0">
                          <a:solidFill>
                            <a:srgbClr val="163444"/>
                          </a:solidFill>
                        </a:rPr>
                        <a:t>Scheduled proxy; 8,766 / 8,767</a:t>
                      </a:r>
                    </a:p>
                  </a:txBody>
                  <a:tcPr marL="91440" marR="91440" marT="45720" marB="45720">
                    <a:solidFill>
                      <a:srgbClr val="F4F7F8"/>
                    </a:solidFill>
                  </a:tcPr>
                </a:tc>
                <a:tc>
                  <a:txBody>
                    <a:bodyPr/>
                    <a:lstStyle/>
                    <a:p>
                      <a:r>
                        <a:rPr sz="1275" b="0">
                          <a:solidFill>
                            <a:srgbClr val="163444"/>
                          </a:solidFill>
                        </a:rPr>
                        <a:t>Maestro</a:t>
                      </a:r>
                    </a:p>
                  </a:txBody>
                  <a:tcPr marL="91440" marR="91440" marT="45720" marB="45720">
                    <a:solidFill>
                      <a:srgbClr val="F4F7F8"/>
                    </a:solidFill>
                  </a:tcPr>
                </a:tc>
                <a:tc>
                  <a:txBody>
                    <a:bodyPr/>
                    <a:lstStyle/>
                    <a:p>
                      <a:r>
                        <a:rPr sz="1275" b="0">
                          <a:solidFill>
                            <a:srgbClr val="163444"/>
                          </a:solidFill>
                        </a:rPr>
                        <a:t>Pilot gate failed; no predictor score</a:t>
                      </a:r>
                    </a:p>
                  </a:txBody>
                  <a:tcPr marL="91440" marR="91440" marT="45720" marB="45720">
                    <a:solidFill>
                      <a:srgbClr val="F4F7F8"/>
                    </a:solidFill>
                  </a:tcPr>
                </a:tc>
              </a:tr>
              <a:tr h="612321">
                <a:tc>
                  <a:txBody>
                    <a:bodyPr/>
                    <a:lstStyle/>
                    <a:p>
                      <a:r>
                        <a:rPr sz="1275" b="0">
                          <a:solidFill>
                            <a:srgbClr val="163444"/>
                          </a:solidFill>
                        </a:rPr>
                        <a:t>Qiskit estimate_duration</a:t>
                      </a:r>
                    </a:p>
                  </a:txBody>
                  <a:tcPr marL="91440" marR="91440" marT="45720" marB="45720">
                    <a:solidFill>
                      <a:srgbClr val="FFFFFF"/>
                    </a:solidFill>
                  </a:tcPr>
                </a:tc>
                <a:tc>
                  <a:txBody>
                    <a:bodyPr/>
                    <a:lstStyle/>
                    <a:p>
                      <a:r>
                        <a:rPr sz="1275" b="0">
                          <a:solidFill>
                            <a:srgbClr val="163444"/>
                          </a:solidFill>
                        </a:rPr>
                        <a:t>Native schedule; 8,766 / 8,767</a:t>
                      </a:r>
                    </a:p>
                  </a:txBody>
                  <a:tcPr marL="91440" marR="91440" marT="45720" marB="45720">
                    <a:solidFill>
                      <a:srgbClr val="FFFFFF"/>
                    </a:solidFill>
                  </a:tcPr>
                </a:tc>
                <a:tc>
                  <a:txBody>
                    <a:bodyPr/>
                    <a:lstStyle/>
                    <a:p>
                      <a:r>
                        <a:rPr sz="1275" b="0">
                          <a:solidFill>
                            <a:srgbClr val="163444"/>
                          </a:solidFill>
                        </a:rPr>
                        <a:t>cuTensorNet</a:t>
                      </a:r>
                    </a:p>
                  </a:txBody>
                  <a:tcPr marL="91440" marR="91440" marT="45720" marB="45720">
                    <a:solidFill>
                      <a:srgbClr val="FFFFFF"/>
                    </a:solidFill>
                  </a:tcPr>
                </a:tc>
                <a:tc>
                  <a:txBody>
                    <a:bodyPr/>
                    <a:lstStyle/>
                    <a:p>
                      <a:r>
                        <a:rPr sz="1275" b="0">
                          <a:solidFill>
                            <a:srgbClr val="163444"/>
                          </a:solidFill>
                        </a:rPr>
                        <a:t>Same-plan estimate; 603 / 612 ok</a:t>
                      </a:r>
                    </a:p>
                  </a:txBody>
                  <a:tcPr marL="91440" marR="91440" marT="45720" marB="45720">
                    <a:solidFill>
                      <a:srgbClr val="FFFFFF"/>
                    </a:solidFill>
                  </a:tcPr>
                </a:tc>
              </a:tr>
              <a:tr h="612321">
                <a:tc>
                  <a:txBody>
                    <a:bodyPr/>
                    <a:lstStyle/>
                    <a:p>
                      <a:r>
                        <a:rPr sz="1275" b="0">
                          <a:solidFill>
                            <a:srgbClr val="163444"/>
                          </a:solidFill>
                        </a:rPr>
                        <a:t>Hyb-HANAS</a:t>
                      </a:r>
                    </a:p>
                  </a:txBody>
                  <a:tcPr marL="91440" marR="91440" marT="45720" marB="45720">
                    <a:solidFill>
                      <a:srgbClr val="F4F7F8"/>
                    </a:solidFill>
                  </a:tcPr>
                </a:tc>
                <a:tc>
                  <a:txBody>
                    <a:bodyPr/>
                    <a:lstStyle/>
                    <a:p>
                      <a:r>
                        <a:rPr sz="1275" b="0">
                          <a:solidFill>
                            <a:srgbClr val="163444"/>
                          </a:solidFill>
                        </a:rPr>
                        <a:t>One-circuit cost adaptation; 8,420 finite</a:t>
                      </a:r>
                    </a:p>
                  </a:txBody>
                  <a:tcPr marL="91440" marR="91440" marT="45720" marB="45720">
                    <a:solidFill>
                      <a:srgbClr val="F4F7F8"/>
                    </a:solidFill>
                  </a:tcPr>
                </a:tc>
                <a:tc>
                  <a:txBody>
                    <a:bodyPr/>
                    <a:lstStyle/>
                    <a:p>
                      <a:r>
                        <a:rPr sz="1275" b="0">
                          <a:solidFill>
                            <a:srgbClr val="163444"/>
                          </a:solidFill>
                        </a:rPr>
                        <a:t>Pasqal emu-MPS</a:t>
                      </a:r>
                    </a:p>
                  </a:txBody>
                  <a:tcPr marL="91440" marR="91440" marT="45720" marB="45720">
                    <a:solidFill>
                      <a:srgbClr val="F4F7F8"/>
                    </a:solidFill>
                  </a:tcPr>
                </a:tc>
                <a:tc>
                  <a:txBody>
                    <a:bodyPr/>
                    <a:lstStyle/>
                    <a:p>
                      <a:r>
                        <a:rPr sz="1275" b="0">
                          <a:solidFill>
                            <a:srgbClr val="163444"/>
                          </a:solidFill>
                        </a:rPr>
                        <a:t>Analog pilot not promoted</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C0F522A8-18F4-485B-A599-CE10C813288D}"/>
              </a:ext>
            </a:extLst>
          </p:cNvPr>
          <p:cNvSpPr>
            <a:spLocks xmlns:a="http://schemas.openxmlformats.org/drawingml/2006/main" noGrp="1"/>
          </p:cNvSpPr>
          <p:nvPr/>
        </p:nvSpPr>
        <p:spPr>
          <a:xfrm xmlns:a="http://schemas.openxmlformats.org/drawingml/2006/main">
            <a:off x="666750" y="5857875"/>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F78"/>
                </a:solidFill>
                <a:latin typeface="Noto Sans"/>
                <a:ea typeface="Noto Sans"/>
                <a:cs typeface="Noto Sans"/>
              </a:defRPr>
            </a:pPr>
            <a:r>
              <a:rPr sz="1575" b="1">
                <a:solidFill>
                  <a:srgbClr val="007F78"/>
                </a:solidFill>
                <a:latin typeface="Noto Sans"/>
                <a:ea typeface="Noto Sans"/>
                <a:cs typeface="Noto Sans"/>
              </a:rPr>
              <a:t>24 QPU variants are not 24 papers. Coverage is not accuracy; output clocks differ.</a:t>
            </a:r>
          </a:p>
        </p:txBody>
      </p:sp>
    </p:spTree>
    <p:extLst>
      <p:ext uri="{BB962C8B-B14F-4D97-AF65-F5344CB8AC3E}">
        <p14:creationId xmlns:p14="http://schemas.microsoft.com/office/powerpoint/2010/main" val="19128660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CA6B2A-AAC7-469B-8578-BC754B6FE28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MAE theo source trên shared rows</a:t>
            </a:r>
          </a:p>
        </p:txBody>
      </p:sp>
      <p:sp>
        <p:nvSpPr>
          <p:cNvPr id="2" name="">
            <a:extLst xmlns:a="http://schemas.openxmlformats.org/drawingml/2006/main">
              <a:ext uri="{FF2B5EF4-FFF2-40B4-BE49-F238E27FC236}">
                <a16:creationId xmlns:a16="http://schemas.microsoft.com/office/drawing/2014/main" id="{C51DFCA6-43A1-4AB6-89FA-5C26FF897458}"/>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dc268363f184d94"/>
          <a:stretch xmlns:a="http://schemas.openxmlformats.org/drawingml/2006/main"/>
        </p:blipFill>
        <p:spPr>
          <a:xfrm xmlns:a="http://schemas.openxmlformats.org/drawingml/2006/main">
            <a:off x="1101808" y="1352550"/>
            <a:ext cx="9988384" cy="4514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7A5045B-2890-445B-8CF1-6F13F558E33D}"/>
              </a:ext>
            </a:extLst>
          </p:cNvPr>
          <p:cNvSpPr>
            <a:spLocks xmlns:a="http://schemas.openxmlformats.org/drawingml/2006/main" noGrp="1"/>
          </p:cNvSpPr>
          <p:nvPr/>
        </p:nvSpPr>
        <p:spPr>
          <a:xfrm xmlns:a="http://schemas.openxmlformats.org/drawingml/2006/main">
            <a:off x="7429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526873"/>
                </a:solidFill>
                <a:latin typeface="Noto Sans"/>
                <a:ea typeface="Noto Sans"/>
                <a:cs typeface="Noto Sans"/>
              </a:defRPr>
            </a:pPr>
            <a:r>
              <a:rPr sz="1275">
                <a:solidFill>
                  <a:srgbClr val="526873"/>
                </a:solidFill>
                <a:latin typeface="Noto Sans"/>
                <a:ea typeface="Noto Sans"/>
                <a:cs typeface="Noto Sans"/>
              </a:rPr>
              <a:t>Shared rows by source. 95% grouped-bootstrap CI for graph minus polynomial MAE. Lower MAE favors the graph adaptation.</a:t>
            </a:r>
          </a:p>
        </p:txBody>
      </p:sp>
    </p:spTree>
    <p:extLst>
      <p:ext uri="{BB962C8B-B14F-4D97-AF65-F5344CB8AC3E}">
        <p14:creationId xmlns:p14="http://schemas.microsoft.com/office/powerpoint/2010/main" val="1154855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78C6B79-6671-494E-A5FB-4A8CF0987D2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QPack: MAE và R²</a:t>
            </a:r>
          </a:p>
        </p:txBody>
      </p:sp>
      <p:sp>
        <p:nvSpPr>
          <p:cNvPr id="2" name="">
            <a:extLst xmlns:a="http://schemas.openxmlformats.org/drawingml/2006/main">
              <a:ext uri="{FF2B5EF4-FFF2-40B4-BE49-F238E27FC236}">
                <a16:creationId xmlns:a16="http://schemas.microsoft.com/office/drawing/2014/main" id="{035A41CB-605D-4360-B591-EEDF511139FB}"/>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01F2C2D8-492F-45DE-AD69-2E8908456F54}"/>
              </a:ext>
            </a:extLst>
          </p:cNvPr>
          <p:cNvSpPr>
            <a:spLocks xmlns:a="http://schemas.openxmlformats.org/drawingml/2006/main" noGrp="1"/>
          </p:cNvSpPr>
          <p:nvPr/>
        </p:nvSpPr>
        <p:spPr>
          <a:xfrm xmlns:a="http://schemas.openxmlformats.org/drawingml/2006/main">
            <a:off x="1047750" y="1428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MAE (s)</a:t>
            </a:r>
          </a:p>
        </p:txBody>
      </p:sp>
      <p:graphicFrame>
        <p:nvGraphicFramePr>
          <p:cNvPr id="27" name="Chart"/>
          <p:cNvGraphicFramePr/>
          <p:nvPr/>
        </p:nvGraphicFramePr>
        <p:xfrm>
          <a:off xmlns:a="http://schemas.openxmlformats.org/drawingml/2006/main" x="762000" y="1809750"/>
          <a:ext xmlns:a="http://schemas.openxmlformats.org/drawingml/2006/main" cx="4857750" cy="3143250"/>
        </p:xfrm>
        <a:graphic xmlns:a="http://schemas.openxmlformats.org/drawingml/2006/main">
          <a:graphicData uri="http://schemas.openxmlformats.org/drawingml/2006/chart">
            <c:chart xmlns:r="http://schemas.openxmlformats.org/officeDocument/2006/relationships" xmlns:c="http://schemas.openxmlformats.org/drawingml/2006/chart" r:id="Ref8ab75a83174ebb"/>
          </a:graphicData>
        </a:graphic>
      </p:graphicFrame>
      <p:sp>
        <p:nvSpPr>
          <p:cNvPr id="5" name="">
            <a:extLst xmlns:a="http://schemas.openxmlformats.org/drawingml/2006/main">
              <a:ext uri="{FF2B5EF4-FFF2-40B4-BE49-F238E27FC236}">
                <a16:creationId xmlns:a16="http://schemas.microsoft.com/office/drawing/2014/main" id="{0CDE9308-758F-450C-896C-437AFA27D6DF}"/>
              </a:ext>
            </a:extLst>
          </p:cNvPr>
          <p:cNvSpPr>
            <a:spLocks xmlns:a="http://schemas.openxmlformats.org/drawingml/2006/main" noGrp="1"/>
          </p:cNvSpPr>
          <p:nvPr/>
        </p:nvSpPr>
        <p:spPr>
          <a:xfrm xmlns:a="http://schemas.openxmlformats.org/drawingml/2006/main">
            <a:off x="6572250" y="1428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R²</a:t>
            </a:r>
          </a:p>
        </p:txBody>
      </p:sp>
      <p:sp>
        <p:nvSpPr>
          <p:cNvPr id="6" name="">
            <a:extLst xmlns:a="http://schemas.openxmlformats.org/drawingml/2006/main">
              <a:ext uri="{FF2B5EF4-FFF2-40B4-BE49-F238E27FC236}">
                <a16:creationId xmlns:a16="http://schemas.microsoft.com/office/drawing/2014/main" id="{05766098-5740-4244-9C19-6814EE069B71}"/>
              </a:ext>
            </a:extLst>
          </p:cNvPr>
          <p:cNvSpPr>
            <a:spLocks xmlns:a="http://schemas.openxmlformats.org/drawingml/2006/main" noGrp="1"/>
          </p:cNvSpPr>
          <p:nvPr/>
        </p:nvSpPr>
        <p:spPr>
          <a:xfrm xmlns:a="http://schemas.openxmlformats.org/drawingml/2006/main">
            <a:off x="76676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A02CD5-8546-42CD-BB94-19946BD5B7BA}"/>
              </a:ext>
            </a:extLst>
          </p:cNvPr>
          <p:cNvSpPr>
            <a:spLocks xmlns:a="http://schemas.openxmlformats.org/drawingml/2006/main" noGrp="1"/>
          </p:cNvSpPr>
          <p:nvPr/>
        </p:nvSpPr>
        <p:spPr>
          <a:xfrm xmlns:a="http://schemas.openxmlformats.org/drawingml/2006/main">
            <a:off x="7439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-0.8</a:t>
            </a:r>
          </a:p>
        </p:txBody>
      </p:sp>
      <p:sp>
        <p:nvSpPr>
          <p:cNvPr id="8" name="">
            <a:extLst xmlns:a="http://schemas.openxmlformats.org/drawingml/2006/main">
              <a:ext uri="{FF2B5EF4-FFF2-40B4-BE49-F238E27FC236}">
                <a16:creationId xmlns:a16="http://schemas.microsoft.com/office/drawing/2014/main" id="{25C384CF-C70A-4CC4-A9DE-183BF5EFF6E8}"/>
              </a:ext>
            </a:extLst>
          </p:cNvPr>
          <p:cNvSpPr>
            <a:spLocks xmlns:a="http://schemas.openxmlformats.org/drawingml/2006/main" noGrp="1"/>
          </p:cNvSpPr>
          <p:nvPr/>
        </p:nvSpPr>
        <p:spPr>
          <a:xfrm xmlns:a="http://schemas.openxmlformats.org/drawingml/2006/main">
            <a:off x="82391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8BABC2-8AB7-444C-BFEA-BC7943444246}"/>
              </a:ext>
            </a:extLst>
          </p:cNvPr>
          <p:cNvSpPr>
            <a:spLocks xmlns:a="http://schemas.openxmlformats.org/drawingml/2006/main" noGrp="1"/>
          </p:cNvSpPr>
          <p:nvPr/>
        </p:nvSpPr>
        <p:spPr>
          <a:xfrm xmlns:a="http://schemas.openxmlformats.org/drawingml/2006/main">
            <a:off x="80105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-0.6</a:t>
            </a:r>
          </a:p>
        </p:txBody>
      </p:sp>
      <p:sp>
        <p:nvSpPr>
          <p:cNvPr id="10" name="">
            <a:extLst xmlns:a="http://schemas.openxmlformats.org/drawingml/2006/main">
              <a:ext uri="{FF2B5EF4-FFF2-40B4-BE49-F238E27FC236}">
                <a16:creationId xmlns:a16="http://schemas.microsoft.com/office/drawing/2014/main" id="{50F09C5B-DC6C-4247-AFAF-FAA53499C84C}"/>
              </a:ext>
            </a:extLst>
          </p:cNvPr>
          <p:cNvSpPr>
            <a:spLocks xmlns:a="http://schemas.openxmlformats.org/drawingml/2006/main" noGrp="1"/>
          </p:cNvSpPr>
          <p:nvPr/>
        </p:nvSpPr>
        <p:spPr>
          <a:xfrm xmlns:a="http://schemas.openxmlformats.org/drawingml/2006/main">
            <a:off x="88106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0DCA5B-A9AF-4CB2-923A-D0E8C56510F6}"/>
              </a:ext>
            </a:extLst>
          </p:cNvPr>
          <p:cNvSpPr>
            <a:spLocks xmlns:a="http://schemas.openxmlformats.org/drawingml/2006/main" noGrp="1"/>
          </p:cNvSpPr>
          <p:nvPr/>
        </p:nvSpPr>
        <p:spPr>
          <a:xfrm xmlns:a="http://schemas.openxmlformats.org/drawingml/2006/main">
            <a:off x="8582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-0.4</a:t>
            </a:r>
          </a:p>
        </p:txBody>
      </p:sp>
      <p:sp>
        <p:nvSpPr>
          <p:cNvPr id="12" name="">
            <a:extLst xmlns:a="http://schemas.openxmlformats.org/drawingml/2006/main">
              <a:ext uri="{FF2B5EF4-FFF2-40B4-BE49-F238E27FC236}">
                <a16:creationId xmlns:a16="http://schemas.microsoft.com/office/drawing/2014/main" id="{6C840256-DC2D-4AA4-90B1-44AB69C3FCDA}"/>
              </a:ext>
            </a:extLst>
          </p:cNvPr>
          <p:cNvSpPr>
            <a:spLocks xmlns:a="http://schemas.openxmlformats.org/drawingml/2006/main" noGrp="1"/>
          </p:cNvSpPr>
          <p:nvPr/>
        </p:nvSpPr>
        <p:spPr>
          <a:xfrm xmlns:a="http://schemas.openxmlformats.org/drawingml/2006/main">
            <a:off x="93821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802948-B9C6-4B0D-971E-9EEDCAFDED75}"/>
              </a:ext>
            </a:extLst>
          </p:cNvPr>
          <p:cNvSpPr>
            <a:spLocks xmlns:a="http://schemas.openxmlformats.org/drawingml/2006/main" noGrp="1"/>
          </p:cNvSpPr>
          <p:nvPr/>
        </p:nvSpPr>
        <p:spPr>
          <a:xfrm xmlns:a="http://schemas.openxmlformats.org/drawingml/2006/main">
            <a:off x="91535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-0.2</a:t>
            </a:r>
          </a:p>
        </p:txBody>
      </p:sp>
      <p:sp>
        <p:nvSpPr>
          <p:cNvPr id="14" name="">
            <a:extLst xmlns:a="http://schemas.openxmlformats.org/drawingml/2006/main">
              <a:ext uri="{FF2B5EF4-FFF2-40B4-BE49-F238E27FC236}">
                <a16:creationId xmlns:a16="http://schemas.microsoft.com/office/drawing/2014/main" id="{1A9864C5-B98A-4C49-91F7-27358DACA45B}"/>
              </a:ext>
            </a:extLst>
          </p:cNvPr>
          <p:cNvSpPr>
            <a:spLocks xmlns:a="http://schemas.openxmlformats.org/drawingml/2006/main" noGrp="1"/>
          </p:cNvSpPr>
          <p:nvPr/>
        </p:nvSpPr>
        <p:spPr>
          <a:xfrm xmlns:a="http://schemas.openxmlformats.org/drawingml/2006/main">
            <a:off x="9953625" y="2209800"/>
            <a:ext cx="19050" cy="2552700"/>
          </a:xfrm>
          <a:prstGeom xmlns:a="http://schemas.openxmlformats.org/drawingml/2006/main" prst="rect">
            <a:avLst/>
          </a:prstGeom>
          <a:solidFill xmlns:a="http://schemas.openxmlformats.org/drawingml/2006/main">
            <a:srgbClr val="CBD6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FC5E65-D3CF-42D1-8E40-8CC17695D0E0}"/>
              </a:ext>
            </a:extLst>
          </p:cNvPr>
          <p:cNvSpPr>
            <a:spLocks xmlns:a="http://schemas.openxmlformats.org/drawingml/2006/main" noGrp="1"/>
          </p:cNvSpPr>
          <p:nvPr/>
        </p:nvSpPr>
        <p:spPr>
          <a:xfrm xmlns:a="http://schemas.openxmlformats.org/drawingml/2006/main">
            <a:off x="9725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0.0</a:t>
            </a:r>
          </a:p>
        </p:txBody>
      </p:sp>
      <p:sp>
        <p:nvSpPr>
          <p:cNvPr id="16" name="">
            <a:extLst xmlns:a="http://schemas.openxmlformats.org/drawingml/2006/main">
              <a:ext uri="{FF2B5EF4-FFF2-40B4-BE49-F238E27FC236}">
                <a16:creationId xmlns:a16="http://schemas.microsoft.com/office/drawing/2014/main" id="{EF0B499E-D422-4195-8D77-C256F7B3C896}"/>
              </a:ext>
            </a:extLst>
          </p:cNvPr>
          <p:cNvSpPr>
            <a:spLocks xmlns:a="http://schemas.openxmlformats.org/drawingml/2006/main" noGrp="1"/>
          </p:cNvSpPr>
          <p:nvPr/>
        </p:nvSpPr>
        <p:spPr>
          <a:xfrm xmlns:a="http://schemas.openxmlformats.org/drawingml/2006/main">
            <a:off x="6191250" y="247650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526873"/>
                </a:solidFill>
                <a:latin typeface="Noto Sans"/>
                <a:ea typeface="Noto Sans"/>
                <a:cs typeface="Noto Sans"/>
              </a:defRPr>
            </a:pPr>
            <a:r>
              <a:rPr sz="1350">
                <a:solidFill>
                  <a:srgbClr val="526873"/>
                </a:solidFill>
                <a:latin typeface="Noto Sans"/>
                <a:ea typeface="Noto Sans"/>
                <a:cs typeface="Noto Sans"/>
              </a:rPr>
              <a:t>Polynomial</a:t>
            </a:r>
          </a:p>
        </p:txBody>
      </p:sp>
      <p:sp>
        <p:nvSpPr>
          <p:cNvPr id="17" name="">
            <a:extLst xmlns:a="http://schemas.openxmlformats.org/drawingml/2006/main">
              <a:ext uri="{FF2B5EF4-FFF2-40B4-BE49-F238E27FC236}">
                <a16:creationId xmlns:a16="http://schemas.microsoft.com/office/drawing/2014/main" id="{A0974193-D63F-42E1-B358-ABB167A5B9D9}"/>
              </a:ext>
            </a:extLst>
          </p:cNvPr>
          <p:cNvSpPr>
            <a:spLocks xmlns:a="http://schemas.openxmlformats.org/drawingml/2006/main" noGrp="1"/>
          </p:cNvSpPr>
          <p:nvPr/>
        </p:nvSpPr>
        <p:spPr>
          <a:xfrm xmlns:a="http://schemas.openxmlformats.org/drawingml/2006/main">
            <a:off x="8148745" y="2295525"/>
            <a:ext cx="1804880" cy="666750"/>
          </a:xfrm>
          <a:prstGeom xmlns:a="http://schemas.openxmlformats.org/drawingml/2006/main" prst="rect">
            <a:avLst/>
          </a:prstGeom>
          <a:solidFill xmlns:a="http://schemas.openxmlformats.org/drawingml/2006/main">
            <a:srgbClr val="B66A1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26C832-B368-42C8-84AC-81B2EE9D3500}"/>
              </a:ext>
            </a:extLst>
          </p:cNvPr>
          <p:cNvSpPr>
            <a:spLocks xmlns:a="http://schemas.openxmlformats.org/drawingml/2006/main" noGrp="1"/>
          </p:cNvSpPr>
          <p:nvPr/>
        </p:nvSpPr>
        <p:spPr>
          <a:xfrm xmlns:a="http://schemas.openxmlformats.org/drawingml/2006/main">
            <a:off x="10077450" y="2476500"/>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3444"/>
                </a:solidFill>
                <a:latin typeface="Noto Sans"/>
                <a:ea typeface="Noto Sans"/>
                <a:cs typeface="Noto Sans"/>
              </a:defRPr>
            </a:pPr>
            <a:r>
              <a:rPr sz="1350" b="1">
                <a:solidFill>
                  <a:srgbClr val="163444"/>
                </a:solidFill>
                <a:latin typeface="Noto Sans"/>
                <a:ea typeface="Noto Sans"/>
                <a:cs typeface="Noto Sans"/>
              </a:rPr>
              <a:t>−0.631629</a:t>
            </a:r>
          </a:p>
        </p:txBody>
      </p:sp>
      <p:sp>
        <p:nvSpPr>
          <p:cNvPr id="19" name="">
            <a:extLst xmlns:a="http://schemas.openxmlformats.org/drawingml/2006/main">
              <a:ext uri="{FF2B5EF4-FFF2-40B4-BE49-F238E27FC236}">
                <a16:creationId xmlns:a16="http://schemas.microsoft.com/office/drawing/2014/main" id="{0FAF4339-7858-479E-92D1-440C3BDCF655}"/>
              </a:ext>
            </a:extLst>
          </p:cNvPr>
          <p:cNvSpPr>
            <a:spLocks xmlns:a="http://schemas.openxmlformats.org/drawingml/2006/main" noGrp="1"/>
          </p:cNvSpPr>
          <p:nvPr/>
        </p:nvSpPr>
        <p:spPr>
          <a:xfrm xmlns:a="http://schemas.openxmlformats.org/drawingml/2006/main">
            <a:off x="6191250" y="375285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526873"/>
                </a:solidFill>
                <a:latin typeface="Noto Sans"/>
                <a:ea typeface="Noto Sans"/>
                <a:cs typeface="Noto Sans"/>
              </a:defRPr>
            </a:pPr>
            <a:r>
              <a:rPr sz="1350">
                <a:solidFill>
                  <a:srgbClr val="526873"/>
                </a:solidFill>
                <a:latin typeface="Noto Sans"/>
                <a:ea typeface="Noto Sans"/>
                <a:cs typeface="Noto Sans"/>
              </a:rPr>
              <a:t>Graph V3-large</a:t>
            </a:r>
          </a:p>
        </p:txBody>
      </p:sp>
      <p:sp>
        <p:nvSpPr>
          <p:cNvPr id="20" name="">
            <a:extLst xmlns:a="http://schemas.openxmlformats.org/drawingml/2006/main">
              <a:ext uri="{FF2B5EF4-FFF2-40B4-BE49-F238E27FC236}">
                <a16:creationId xmlns:a16="http://schemas.microsoft.com/office/drawing/2014/main" id="{1A2B552D-0985-42C5-9672-DF7630EBC78C}"/>
              </a:ext>
            </a:extLst>
          </p:cNvPr>
          <p:cNvSpPr>
            <a:spLocks xmlns:a="http://schemas.openxmlformats.org/drawingml/2006/main" noGrp="1"/>
          </p:cNvSpPr>
          <p:nvPr/>
        </p:nvSpPr>
        <p:spPr>
          <a:xfrm xmlns:a="http://schemas.openxmlformats.org/drawingml/2006/main">
            <a:off x="9682485" y="3571875"/>
            <a:ext cx="271140" cy="666750"/>
          </a:xfrm>
          <a:prstGeom xmlns:a="http://schemas.openxmlformats.org/drawingml/2006/main" prst="rect">
            <a:avLst/>
          </a:prstGeom>
          <a:solidFill xmlns:a="http://schemas.openxmlformats.org/drawingml/2006/main">
            <a:srgbClr val="B66A1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E44C954-E8B8-43D0-B963-0764845E3D45}"/>
              </a:ext>
            </a:extLst>
          </p:cNvPr>
          <p:cNvSpPr>
            <a:spLocks xmlns:a="http://schemas.openxmlformats.org/drawingml/2006/main" noGrp="1"/>
          </p:cNvSpPr>
          <p:nvPr/>
        </p:nvSpPr>
        <p:spPr>
          <a:xfrm xmlns:a="http://schemas.openxmlformats.org/drawingml/2006/main">
            <a:off x="10077450" y="3752850"/>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3444"/>
                </a:solidFill>
                <a:latin typeface="Noto Sans"/>
                <a:ea typeface="Noto Sans"/>
                <a:cs typeface="Noto Sans"/>
              </a:defRPr>
            </a:pPr>
            <a:r>
              <a:rPr sz="1350" b="1">
                <a:solidFill>
                  <a:srgbClr val="163444"/>
                </a:solidFill>
                <a:latin typeface="Noto Sans"/>
                <a:ea typeface="Noto Sans"/>
                <a:cs typeface="Noto Sans"/>
              </a:rPr>
              <a:t>−0.094887</a:t>
            </a:r>
          </a:p>
        </p:txBody>
      </p:sp>
      <p:sp>
        <p:nvSpPr>
          <p:cNvPr id="22" name="">
            <a:extLst xmlns:a="http://schemas.openxmlformats.org/drawingml/2006/main">
              <a:ext uri="{FF2B5EF4-FFF2-40B4-BE49-F238E27FC236}">
                <a16:creationId xmlns:a16="http://schemas.microsoft.com/office/drawing/2014/main" id="{34D955BA-9481-4576-B3D5-5073CACECEFB}"/>
              </a:ext>
            </a:extLst>
          </p:cNvPr>
          <p:cNvSpPr>
            <a:spLocks xmlns:a="http://schemas.openxmlformats.org/drawingml/2006/main" noGrp="1"/>
          </p:cNvSpPr>
          <p:nvPr/>
        </p:nvSpPr>
        <p:spPr>
          <a:xfrm xmlns:a="http://schemas.openxmlformats.org/drawingml/2006/main">
            <a:off x="742950" y="5286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25495A"/>
                </a:solidFill>
                <a:latin typeface="Noto Sans"/>
                <a:ea typeface="Noto Sans"/>
                <a:cs typeface="Noto Sans"/>
              </a:defRPr>
            </a:pPr>
            <a:r>
              <a:rPr sz="1500">
                <a:solidFill>
                  <a:srgbClr val="25495A"/>
                </a:solidFill>
                <a:latin typeface="Noto Sans"/>
                <a:ea typeface="Noto Sans"/>
                <a:cs typeface="Noto Sans"/>
              </a:rPr>
              <a:t>Equal-workflow MAE diagnostic: 0.946290 s vs 1.217754 s across 46 workflows. Both R² values remain negative.</a:t>
            </a:r>
          </a:p>
        </p:txBody>
      </p:sp>
      <p:sp>
        <p:nvSpPr>
          <p:cNvPr id="23" name="">
            <a:extLst xmlns:a="http://schemas.openxmlformats.org/drawingml/2006/main">
              <a:ext uri="{FF2B5EF4-FFF2-40B4-BE49-F238E27FC236}">
                <a16:creationId xmlns:a16="http://schemas.microsoft.com/office/drawing/2014/main" id="{7DEA26F5-496A-4C17-9EFF-3AB94B75C25F}"/>
              </a:ext>
            </a:extLst>
          </p:cNvPr>
          <p:cNvSpPr>
            <a:spLocks xmlns:a="http://schemas.openxmlformats.org/drawingml/2006/main" noGrp="1"/>
          </p:cNvSpPr>
          <p:nvPr/>
        </p:nvSpPr>
        <p:spPr>
          <a:xfrm xmlns:a="http://schemas.openxmlformats.org/drawingml/2006/main">
            <a:off x="74295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526873"/>
                </a:solidFill>
                <a:latin typeface="Noto Sans"/>
                <a:ea typeface="Noto Sans"/>
                <a:cs typeface="Noto Sans"/>
              </a:defRPr>
            </a:pPr>
            <a:r>
              <a:rPr sz="1425">
                <a:solidFill>
                  <a:srgbClr val="526873"/>
                </a:solidFill>
                <a:latin typeface="Noto Sans"/>
                <a:ea typeface="Noto Sans"/>
                <a:cs typeface="Noto Sans"/>
              </a:rPr>
              <a:t>6 templates recur; workflow holdout is not unseen-template validation.</a:t>
            </a:r>
          </a:p>
        </p:txBody>
      </p:sp>
    </p:spTree>
    <p:extLst>
      <p:ext uri="{BB962C8B-B14F-4D97-AF65-F5344CB8AC3E}">
        <p14:creationId xmlns:p14="http://schemas.microsoft.com/office/powerpoint/2010/main" val="9382090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2248A5-346F-442C-83CE-152022F22C1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Scheduled duration và observed service time</a:t>
            </a:r>
          </a:p>
        </p:txBody>
      </p:sp>
      <p:sp>
        <p:nvSpPr>
          <p:cNvPr id="2" name="">
            <a:extLst xmlns:a="http://schemas.openxmlformats.org/drawingml/2006/main">
              <a:ext uri="{FF2B5EF4-FFF2-40B4-BE49-F238E27FC236}">
                <a16:creationId xmlns:a16="http://schemas.microsoft.com/office/drawing/2014/main" id="{406380DA-C514-49BC-B767-83E66187526F}"/>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07</a:t>
            </a:r>
          </a:p>
        </p:txBody>
      </p:sp>
      <p:graphicFrame>
        <p:nvGraphicFramePr>
          <p:cNvPr id="7" name=""/>
          <p:cNvGraphicFramePr/>
          <p:nvPr/>
        </p:nvGraphicFramePr>
        <p:xfrm>
          <a:off xmlns:a="http://schemas.openxmlformats.org/drawingml/2006/main" x="666750" y="1466850"/>
          <a:ext xmlns:a="http://schemas.openxmlformats.org/drawingml/2006/main" cx="10858500" cy="3429000"/>
        </p:xfrm>
        <a:graphic xmlns:a="http://schemas.openxmlformats.org/drawingml/2006/main">
          <a:graphicData uri="http://schemas.openxmlformats.org/drawingml/2006/table">
            <a:tbl>
              <a:tblPr/>
              <a:tblGrid>
                <a:gridCol w="2667000"/>
                <a:gridCol w="2952750"/>
                <a:gridCol w="5238750"/>
              </a:tblGrid>
              <a:tr h="685800">
                <a:tc>
                  <a:txBody>
                    <a:bodyPr/>
                    <a:lstStyle/>
                    <a:p>
                      <a:r>
                        <a:rPr sz="1500" b="1">
                          <a:solidFill>
                            <a:srgbClr val="FFFFFF"/>
                          </a:solidFill>
                        </a:rPr>
                        <a:t>Route</a:t>
                      </a:r>
                    </a:p>
                  </a:txBody>
                  <a:tcPr marL="91440" marR="91440" marT="45720" marB="45720">
                    <a:solidFill>
                      <a:srgbClr val="25495A"/>
                    </a:solidFill>
                  </a:tcPr>
                </a:tc>
                <a:tc>
                  <a:txBody>
                    <a:bodyPr/>
                    <a:lstStyle/>
                    <a:p>
                      <a:r>
                        <a:rPr sz="1500" b="1">
                          <a:solidFill>
                            <a:srgbClr val="FFFFFF"/>
                          </a:solidFill>
                        </a:rPr>
                        <a:t>Output clock</a:t>
                      </a:r>
                    </a:p>
                  </a:txBody>
                  <a:tcPr marL="91440" marR="91440" marT="45720" marB="45720">
                    <a:solidFill>
                      <a:srgbClr val="25495A"/>
                    </a:solidFill>
                  </a:tcPr>
                </a:tc>
                <a:tc>
                  <a:txBody>
                    <a:bodyPr/>
                    <a:lstStyle/>
                    <a:p>
                      <a:r>
                        <a:rPr sz="1500" b="1">
                          <a:solidFill>
                            <a:srgbClr val="FFFFFF"/>
                          </a:solidFill>
                        </a:rPr>
                        <a:t>What it excludes or changes</a:t>
                      </a:r>
                    </a:p>
                  </a:txBody>
                  <a:tcPr marL="91440" marR="91440" marT="45720" marB="45720">
                    <a:solidFill>
                      <a:srgbClr val="25495A"/>
                    </a:solidFill>
                  </a:tcPr>
                </a:tc>
              </a:tr>
              <a:tr h="685800">
                <a:tc>
                  <a:txBody>
                    <a:bodyPr/>
                    <a:lstStyle/>
                    <a:p>
                      <a:r>
                        <a:rPr sz="1500" b="0">
                          <a:solidFill>
                            <a:srgbClr val="163444"/>
                          </a:solidFill>
                        </a:rPr>
                        <a:t>QCRE critical path</a:t>
                      </a:r>
                    </a:p>
                  </a:txBody>
                  <a:tcPr marL="91440" marR="91440" marT="45720" marB="45720">
                    <a:solidFill>
                      <a:srgbClr val="FFFFFF"/>
                    </a:solidFill>
                  </a:tcPr>
                </a:tc>
                <a:tc>
                  <a:txBody>
                    <a:bodyPr/>
                    <a:lstStyle/>
                    <a:p>
                      <a:r>
                        <a:rPr sz="1500" b="0">
                          <a:solidFill>
                            <a:srgbClr val="163444"/>
                          </a:solidFill>
                        </a:rPr>
                        <a:t>Scheduled single-shot</a:t>
                      </a:r>
                    </a:p>
                  </a:txBody>
                  <a:tcPr marL="91440" marR="91440" marT="45720" marB="45720">
                    <a:solidFill>
                      <a:srgbClr val="FFFFFF"/>
                    </a:solidFill>
                  </a:tcPr>
                </a:tc>
                <a:tc>
                  <a:txBody>
                    <a:bodyPr/>
                    <a:lstStyle/>
                    <a:p>
                      <a:r>
                        <a:rPr sz="1500" b="0">
                          <a:solidFill>
                            <a:srgbClr val="163444"/>
                          </a:solidFill>
                        </a:rPr>
                        <a:t>No queue, service, transport, or fixed overhead</a:t>
                      </a:r>
                    </a:p>
                  </a:txBody>
                  <a:tcPr marL="91440" marR="91440" marT="45720" marB="45720">
                    <a:solidFill>
                      <a:srgbClr val="FFFFFF"/>
                    </a:solidFill>
                  </a:tcPr>
                </a:tc>
              </a:tr>
              <a:tr h="685800">
                <a:tc>
                  <a:txBody>
                    <a:bodyPr/>
                    <a:lstStyle/>
                    <a:p>
                      <a:r>
                        <a:rPr sz="1500" b="0">
                          <a:solidFill>
                            <a:srgbClr val="163444"/>
                          </a:solidFill>
                        </a:rPr>
                        <a:t>Qiskit estimate_duration</a:t>
                      </a:r>
                    </a:p>
                  </a:txBody>
                  <a:tcPr marL="91440" marR="91440" marT="45720" marB="45720">
                    <a:solidFill>
                      <a:srgbClr val="F4F7F8"/>
                    </a:solidFill>
                  </a:tcPr>
                </a:tc>
                <a:tc>
                  <a:txBody>
                    <a:bodyPr/>
                    <a:lstStyle/>
                    <a:p>
                      <a:r>
                        <a:rPr sz="1500" b="0">
                          <a:solidFill>
                            <a:srgbClr val="163444"/>
                          </a:solidFill>
                        </a:rPr>
                        <a:t>Scheduled single-shot</a:t>
                      </a:r>
                    </a:p>
                  </a:txBody>
                  <a:tcPr marL="91440" marR="91440" marT="45720" marB="45720">
                    <a:solidFill>
                      <a:srgbClr val="F4F7F8"/>
                    </a:solidFill>
                  </a:tcPr>
                </a:tc>
                <a:tc>
                  <a:txBody>
                    <a:bodyPr/>
                    <a:lstStyle/>
                    <a:p>
                      <a:r>
                        <a:rPr sz="1500" b="0">
                          <a:solidFill>
                            <a:srgbClr val="163444"/>
                          </a:solidFill>
                        </a:rPr>
                        <a:t>Native API output under frozen Target</a:t>
                      </a:r>
                    </a:p>
                  </a:txBody>
                  <a:tcPr marL="91440" marR="91440" marT="45720" marB="45720">
                    <a:solidFill>
                      <a:srgbClr val="F4F7F8"/>
                    </a:solidFill>
                  </a:tcPr>
                </a:tc>
              </a:tr>
              <a:tr h="685800">
                <a:tc>
                  <a:txBody>
                    <a:bodyPr/>
                    <a:lstStyle/>
                    <a:p>
                      <a:r>
                        <a:rPr sz="1500" b="0">
                          <a:solidFill>
                            <a:srgbClr val="163444"/>
                          </a:solidFill>
                        </a:rPr>
                        <a:t>Shot-scaled variants</a:t>
                      </a:r>
                    </a:p>
                  </a:txBody>
                  <a:tcPr marL="91440" marR="91440" marT="45720" marB="45720">
                    <a:solidFill>
                      <a:srgbClr val="FFFFFF"/>
                    </a:solidFill>
                  </a:tcPr>
                </a:tc>
                <a:tc>
                  <a:txBody>
                    <a:bodyPr/>
                    <a:lstStyle/>
                    <a:p>
                      <a:r>
                        <a:rPr sz="1500" b="0">
                          <a:solidFill>
                            <a:srgbClr val="163444"/>
                          </a:solidFill>
                        </a:rPr>
                        <a:t>Scheduled total proxy</a:t>
                      </a:r>
                    </a:p>
                  </a:txBody>
                  <a:tcPr marL="91440" marR="91440" marT="45720" marB="45720">
                    <a:solidFill>
                      <a:srgbClr val="FFFFFF"/>
                    </a:solidFill>
                  </a:tcPr>
                </a:tc>
                <a:tc>
                  <a:txBody>
                    <a:bodyPr/>
                    <a:lstStyle/>
                    <a:p>
                      <a:r>
                        <a:rPr sz="1500" b="0">
                          <a:solidFill>
                            <a:srgbClr val="163444"/>
                          </a:solidFill>
                        </a:rPr>
                        <a:t>Non-native multiplication by shots</a:t>
                      </a:r>
                    </a:p>
                  </a:txBody>
                  <a:tcPr marL="91440" marR="91440" marT="45720" marB="45720">
                    <a:solidFill>
                      <a:srgbClr val="FFFFFF"/>
                    </a:solidFill>
                  </a:tcPr>
                </a:tc>
              </a:tr>
              <a:tr h="685800">
                <a:tc>
                  <a:txBody>
                    <a:bodyPr/>
                    <a:lstStyle/>
                    <a:p>
                      <a:r>
                        <a:rPr sz="1500" b="0">
                          <a:solidFill>
                            <a:srgbClr val="163444"/>
                          </a:solidFill>
                        </a:rPr>
                        <a:t>Outer-train calibration</a:t>
                      </a:r>
                    </a:p>
                  </a:txBody>
                  <a:tcPr marL="91440" marR="91440" marT="45720" marB="45720">
                    <a:solidFill>
                      <a:srgbClr val="F4F7F8"/>
                    </a:solidFill>
                  </a:tcPr>
                </a:tc>
                <a:tc>
                  <a:txBody>
                    <a:bodyPr/>
                    <a:lstStyle/>
                    <a:p>
                      <a:r>
                        <a:rPr sz="1500" b="0">
                          <a:solidFill>
                            <a:srgbClr val="163444"/>
                          </a:solidFill>
                        </a:rPr>
                        <a:t>Calibrated service-time target</a:t>
                      </a:r>
                    </a:p>
                  </a:txBody>
                  <a:tcPr marL="91440" marR="91440" marT="45720" marB="45720">
                    <a:solidFill>
                      <a:srgbClr val="F4F7F8"/>
                    </a:solidFill>
                  </a:tcPr>
                </a:tc>
                <a:tc>
                  <a:txBody>
                    <a:bodyPr/>
                    <a:lstStyle/>
                    <a:p>
                      <a:r>
                        <a:rPr sz="1500" b="0">
                          <a:solidFill>
                            <a:srgbClr val="163444"/>
                          </a:solidFill>
                        </a:rPr>
                        <a:t>Adaptation, fit on outer-train only</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CED6F699-4E70-4329-A647-E07384505AB7}"/>
              </a:ext>
            </a:extLst>
          </p:cNvPr>
          <p:cNvSpPr>
            <a:spLocks xmlns:a="http://schemas.openxmlformats.org/drawingml/2006/main" noGrp="1"/>
          </p:cNvSpPr>
          <p:nvPr/>
        </p:nvSpPr>
        <p:spPr>
          <a:xfrm xmlns:a="http://schemas.openxmlformats.org/drawingml/2006/main">
            <a:off x="742950" y="5286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Noto Sans"/>
                <a:ea typeface="Noto Sans"/>
                <a:cs typeface="Noto Sans"/>
              </a:defRPr>
            </a:pPr>
            <a:r>
              <a:rPr sz="1725" b="1">
                <a:solidFill>
                  <a:srgbClr val="007F78"/>
                </a:solidFill>
                <a:latin typeface="Noto Sans"/>
                <a:ea typeface="Noto Sans"/>
                <a:cs typeface="Noto Sans"/>
              </a:rPr>
              <a:t>8.766 predictions per raw route. Row4477 is unavailable. Scheduled duration does not replace observed QPU service time.</a:t>
            </a:r>
          </a:p>
        </p:txBody>
      </p:sp>
    </p:spTree>
    <p:extLst>
      <p:ext uri="{BB962C8B-B14F-4D97-AF65-F5344CB8AC3E}">
        <p14:creationId xmlns:p14="http://schemas.microsoft.com/office/powerpoint/2010/main" val="1083839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B83201-4622-47BA-B026-67B5A659117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Simulator: coverage và quality gate</a:t>
            </a:r>
          </a:p>
        </p:txBody>
      </p:sp>
      <p:sp>
        <p:nvSpPr>
          <p:cNvPr id="2" name="">
            <a:extLst xmlns:a="http://schemas.openxmlformats.org/drawingml/2006/main">
              <a:ext uri="{FF2B5EF4-FFF2-40B4-BE49-F238E27FC236}">
                <a16:creationId xmlns:a16="http://schemas.microsoft.com/office/drawing/2014/main" id="{793DED2B-24D4-44A8-8C1D-68439F1B6C86}"/>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9a93bfeb52544b0"/>
          <a:stretch xmlns:a="http://schemas.openxmlformats.org/drawingml/2006/main"/>
        </p:blipFill>
        <p:spPr>
          <a:xfrm xmlns:a="http://schemas.openxmlformats.org/drawingml/2006/main">
            <a:off x="1955660" y="1295400"/>
            <a:ext cx="8280681"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CD55E0-D79B-4725-855B-2D8EF1199BDC}"/>
              </a:ext>
            </a:extLst>
          </p:cNvPr>
          <p:cNvSpPr>
            <a:spLocks xmlns:a="http://schemas.openxmlformats.org/drawingml/2006/main" noGrp="1"/>
          </p:cNvSpPr>
          <p:nvPr/>
        </p:nvSpPr>
        <p:spPr>
          <a:xfrm xmlns:a="http://schemas.openxmlformats.org/drawingml/2006/main">
            <a:off x="704850" y="54673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25495A"/>
                </a:solidFill>
                <a:latin typeface="Noto Sans"/>
                <a:ea typeface="Noto Sans"/>
                <a:cs typeface="Noto Sans"/>
              </a:defRPr>
            </a:pPr>
            <a:r>
              <a:rPr sz="1425">
                <a:solidFill>
                  <a:srgbClr val="25495A"/>
                </a:solidFill>
                <a:latin typeface="Noto Sans"/>
                <a:ea typeface="Noto Sans"/>
                <a:cs typeface="Noto Sans"/>
              </a:rPr>
              <a:t>MPS: 612 session-cells per clock, 573 ok, 21 quality_failed, 18 adapter_error. TN: 612 sessions, 603 ok, 9 timeout.</a:t>
            </a:r>
          </a:p>
        </p:txBody>
      </p:sp>
      <p:sp>
        <p:nvSpPr>
          <p:cNvPr id="5" name="">
            <a:extLst xmlns:a="http://schemas.openxmlformats.org/drawingml/2006/main">
              <a:ext uri="{FF2B5EF4-FFF2-40B4-BE49-F238E27FC236}">
                <a16:creationId xmlns:a16="http://schemas.microsoft.com/office/drawing/2014/main" id="{058D9F7D-8E45-4438-AFA2-5F600AA623A9}"/>
              </a:ext>
            </a:extLst>
          </p:cNvPr>
          <p:cNvSpPr>
            <a:spLocks xmlns:a="http://schemas.openxmlformats.org/drawingml/2006/main" noGrp="1"/>
          </p:cNvSpPr>
          <p:nvPr/>
        </p:nvSpPr>
        <p:spPr>
          <a:xfrm xmlns:a="http://schemas.openxmlformats.org/drawingml/2006/main">
            <a:off x="704850" y="5857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7F78"/>
                </a:solidFill>
                <a:latin typeface="Noto Sans"/>
                <a:ea typeface="Noto Sans"/>
                <a:cs typeface="Noto Sans"/>
              </a:defRPr>
            </a:pPr>
            <a:r>
              <a:rPr sz="1425" b="1">
                <a:solidFill>
                  <a:srgbClr val="007F78"/>
                </a:solidFill>
                <a:latin typeface="Noto Sans"/>
                <a:ea typeface="Noto Sans"/>
                <a:cs typeface="Noto Sans"/>
              </a:rPr>
              <a:t>Panel 204 members / 191 exact hashes. Failures remain in coverage; session-cells are not distinct circuits.</a:t>
            </a:r>
          </a:p>
        </p:txBody>
      </p:sp>
    </p:spTree>
    <p:extLst>
      <p:ext uri="{BB962C8B-B14F-4D97-AF65-F5344CB8AC3E}">
        <p14:creationId xmlns:p14="http://schemas.microsoft.com/office/powerpoint/2010/main" val="11581200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8fa950b2b14c8e"/>
          <a:stretch xmlns:a="http://schemas.openxmlformats.org/drawingml/2006/main"/>
        </p:blipFill>
        <p:spPr>
          <a:xfrm xmlns:a="http://schemas.openxmlformats.org/drawingml/2006/main">
            <a:off x="651867" y="0"/>
            <a:ext cx="10888266" cy="6858000"/>
          </a:xfrm>
          <a:prstGeom xmlns:a="http://schemas.openxmlformats.org/drawingml/2006/main" prst="rect">
            <a:avLst/>
          </a:prstGeom>
        </p:spPr>
      </p:pic>
    </p:spTree>
    <p:extLst>
      <p:ext uri="{BB962C8B-B14F-4D97-AF65-F5344CB8AC3E}">
        <p14:creationId xmlns:p14="http://schemas.microsoft.com/office/powerpoint/2010/main" val="15990312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CAECD6-B451-4BE5-A631-15A9EB81173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Kết luận và phạm vi còn thiếu</a:t>
            </a:r>
          </a:p>
        </p:txBody>
      </p:sp>
      <p:sp>
        <p:nvSpPr>
          <p:cNvPr id="2" name="">
            <a:extLst xmlns:a="http://schemas.openxmlformats.org/drawingml/2006/main">
              <a:ext uri="{FF2B5EF4-FFF2-40B4-BE49-F238E27FC236}">
                <a16:creationId xmlns:a16="http://schemas.microsoft.com/office/drawing/2014/main" id="{791346BF-6AF7-448C-AF5E-EE3D7C05F675}"/>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10</a:t>
            </a:r>
          </a:p>
        </p:txBody>
      </p:sp>
      <p:graphicFrame>
        <p:nvGraphicFramePr>
          <p:cNvPr id="7" name=""/>
          <p:cNvGraphicFramePr/>
          <p:nvPr/>
        </p:nvGraphicFramePr>
        <p:xfrm>
          <a:off xmlns:a="http://schemas.openxmlformats.org/drawingml/2006/main" x="666750" y="1428750"/>
          <a:ext xmlns:a="http://schemas.openxmlformats.org/drawingml/2006/main" cx="10858500" cy="3714750"/>
        </p:xfrm>
        <a:graphic xmlns:a="http://schemas.openxmlformats.org/drawingml/2006/main">
          <a:graphicData uri="http://schemas.openxmlformats.org/drawingml/2006/table">
            <a:tbl>
              <a:tblPr/>
              <a:tblGrid>
                <a:gridCol w="5238750"/>
                <a:gridCol w="5619750"/>
              </a:tblGrid>
              <a:tr h="742950">
                <a:tc>
                  <a:txBody>
                    <a:bodyPr/>
                    <a:lstStyle/>
                    <a:p>
                      <a:r>
                        <a:rPr sz="1575" b="1">
                          <a:solidFill>
                            <a:srgbClr val="FFFFFF"/>
                          </a:solidFill>
                        </a:rPr>
                        <a:t>Có thể kết luận</a:t>
                      </a:r>
                    </a:p>
                  </a:txBody>
                  <a:tcPr marL="91440" marR="91440" marT="45720" marB="45720">
                    <a:solidFill>
                      <a:srgbClr val="25495A"/>
                    </a:solidFill>
                  </a:tcPr>
                </a:tc>
                <a:tc>
                  <a:txBody>
                    <a:bodyPr/>
                    <a:lstStyle/>
                    <a:p>
                      <a:r>
                        <a:rPr sz="1575" b="1">
                          <a:solidFill>
                            <a:srgbClr val="FFFFFF"/>
                          </a:solidFill>
                        </a:rPr>
                        <a:t>Chưa đủ evidence để kết luận</a:t>
                      </a:r>
                    </a:p>
                  </a:txBody>
                  <a:tcPr marL="91440" marR="91440" marT="45720" marB="45720">
                    <a:solidFill>
                      <a:srgbClr val="25495A"/>
                    </a:solidFill>
                  </a:tcPr>
                </a:tc>
              </a:tr>
              <a:tr h="742950">
                <a:tc>
                  <a:txBody>
                    <a:bodyPr/>
                    <a:lstStyle/>
                    <a:p>
                      <a:r>
                        <a:rPr sz="1500" b="0">
                          <a:solidFill>
                            <a:srgbClr val="163444"/>
                          </a:solidFill>
                        </a:rPr>
                        <a:t>Graph V3-large có MAE thấp hơn polynomial trên source-local shared rows.</a:t>
                      </a:r>
                    </a:p>
                  </a:txBody>
                  <a:tcPr marL="91440" marR="91440" marT="45720" marB="45720">
                    <a:solidFill>
                      <a:srgbClr val="FFFFFF"/>
                    </a:solidFill>
                  </a:tcPr>
                </a:tc>
                <a:tc>
                  <a:txBody>
                    <a:bodyPr/>
                    <a:lstStyle/>
                    <a:p>
                      <a:r>
                        <a:rPr sz="1500" b="0">
                          <a:solidFill>
                            <a:srgbClr val="163444"/>
                          </a:solidFill>
                        </a:rPr>
                        <a:t>Không có pooled cross-source superiority claim.</a:t>
                      </a:r>
                    </a:p>
                  </a:txBody>
                  <a:tcPr marL="91440" marR="91440" marT="45720" marB="45720">
                    <a:solidFill>
                      <a:srgbClr val="FFFFFF"/>
                    </a:solidFill>
                  </a:tcPr>
                </a:tc>
              </a:tr>
              <a:tr h="742950">
                <a:tc>
                  <a:txBody>
                    <a:bodyPr/>
                    <a:lstStyle/>
                    <a:p>
                      <a:r>
                        <a:rPr sz="1500" b="0">
                          <a:solidFill>
                            <a:srgbClr val="163444"/>
                          </a:solidFill>
                        </a:rPr>
                        <a:t>QPack có MAE thấp hơn nhưng cả hai R² đều âm.</a:t>
                      </a:r>
                    </a:p>
                  </a:txBody>
                  <a:tcPr marL="91440" marR="91440" marT="45720" marB="45720">
                    <a:solidFill>
                      <a:srgbClr val="F4F7F8"/>
                    </a:solidFill>
                  </a:tcPr>
                </a:tc>
                <a:tc>
                  <a:txBody>
                    <a:bodyPr/>
                    <a:lstStyle/>
                    <a:p>
                      <a:r>
                        <a:rPr sz="1500" b="0">
                          <a:solidFill>
                            <a:srgbClr val="163444"/>
                          </a:solidFill>
                        </a:rPr>
                        <a:t>Không nói model giải thích tốt biến thiên runtime.</a:t>
                      </a:r>
                    </a:p>
                  </a:txBody>
                  <a:tcPr marL="91440" marR="91440" marT="45720" marB="45720">
                    <a:solidFill>
                      <a:srgbClr val="F4F7F8"/>
                    </a:solidFill>
                  </a:tcPr>
                </a:tc>
              </a:tr>
              <a:tr h="742950">
                <a:tc>
                  <a:txBody>
                    <a:bodyPr/>
                    <a:lstStyle/>
                    <a:p>
                      <a:r>
                        <a:rPr sz="1500" b="0">
                          <a:solidFill>
                            <a:srgbClr val="163444"/>
                          </a:solidFill>
                        </a:rPr>
                        <a:t>Simulator coverage có quality/failure gates rõ ràng.</a:t>
                      </a:r>
                    </a:p>
                  </a:txBody>
                  <a:tcPr marL="91440" marR="91440" marT="45720" marB="45720">
                    <a:solidFill>
                      <a:srgbClr val="FFFFFF"/>
                    </a:solidFill>
                  </a:tcPr>
                </a:tc>
                <a:tc>
                  <a:txBody>
                    <a:bodyPr/>
                    <a:lstStyle/>
                    <a:p>
                      <a:r>
                        <a:rPr sz="1500" b="0">
                          <a:solidFill>
                            <a:srgbClr val="163444"/>
                          </a:solidFill>
                        </a:rPr>
                        <a:t>Run completed không đồng nghĩa accuracy benchmark hoàn tất.</a:t>
                      </a:r>
                    </a:p>
                  </a:txBody>
                  <a:tcPr marL="91440" marR="91440" marT="45720" marB="45720">
                    <a:solidFill>
                      <a:srgbClr val="FFFFFF"/>
                    </a:solidFill>
                  </a:tcPr>
                </a:tc>
              </a:tr>
              <a:tr h="742950">
                <a:tc>
                  <a:txBody>
                    <a:bodyPr/>
                    <a:lstStyle/>
                    <a:p>
                      <a:r>
                        <a:rPr sz="1500" b="0">
                          <a:solidFill>
                            <a:srgbClr val="163444"/>
                          </a:solidFill>
                        </a:rPr>
                        <a:t>Maestro pilot ghi nhận stability failure.</a:t>
                      </a:r>
                    </a:p>
                  </a:txBody>
                  <a:tcPr marL="91440" marR="91440" marT="45720" marB="45720">
                    <a:solidFill>
                      <a:srgbClr val="F4F7F8"/>
                    </a:solidFill>
                  </a:tcPr>
                </a:tc>
                <a:tc>
                  <a:txBody>
                    <a:bodyPr/>
                    <a:lstStyle/>
                    <a:p>
                      <a:r>
                        <a:rPr sz="1500" b="0">
                          <a:solidFill>
                            <a:srgbClr val="163444"/>
                          </a:solidFill>
                        </a:rPr>
                        <a:t>Không có accepted predictor hoặc panel accuracy score.</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3C25055F-3896-421A-A08C-954731D18684}"/>
              </a:ext>
            </a:extLst>
          </p:cNvPr>
          <p:cNvSpPr>
            <a:spLocks xmlns:a="http://schemas.openxmlformats.org/drawingml/2006/main" noGrp="1"/>
          </p:cNvSpPr>
          <p:nvPr/>
        </p:nvSpPr>
        <p:spPr>
          <a:xfrm xmlns:a="http://schemas.openxmlformats.org/drawingml/2006/main">
            <a:off x="742950" y="54864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66A18"/>
                </a:solidFill>
                <a:latin typeface="Noto Sans"/>
                <a:ea typeface="Noto Sans"/>
                <a:cs typeface="Noto Sans"/>
              </a:defRPr>
            </a:pPr>
            <a:r>
              <a:rPr sz="1725" b="1">
                <a:solidFill>
                  <a:srgbClr val="B66A18"/>
                </a:solidFill>
                <a:latin typeface="Noto Sans"/>
                <a:ea typeface="Noto Sans"/>
                <a:cs typeface="Noto Sans"/>
              </a:rPr>
              <a:t>Scientific coverage: PARTIAL. Build validation không đồng nghĩa full replication hoặc public-release approval.</a:t>
            </a:r>
          </a:p>
        </p:txBody>
      </p:sp>
    </p:spTree>
    <p:extLst>
      <p:ext uri="{BB962C8B-B14F-4D97-AF65-F5344CB8AC3E}">
        <p14:creationId xmlns:p14="http://schemas.microsoft.com/office/powerpoint/2010/main" val="8044895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9730B4-46AE-44F6-A501-1476B34B37E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Fidelity phương pháp và tái dựng đầu vào</a:t>
            </a:r>
          </a:p>
        </p:txBody>
      </p:sp>
      <p:sp>
        <p:nvSpPr>
          <p:cNvPr id="2" name="">
            <a:extLst xmlns:a="http://schemas.openxmlformats.org/drawingml/2006/main">
              <a:ext uri="{FF2B5EF4-FFF2-40B4-BE49-F238E27FC236}">
                <a16:creationId xmlns:a16="http://schemas.microsoft.com/office/drawing/2014/main" id="{542B1E08-1B30-4C79-A68E-9A47EC361E83}"/>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11</a:t>
            </a:r>
          </a:p>
        </p:txBody>
      </p:sp>
      <p:graphicFrame>
        <p:nvGraphicFramePr>
          <p:cNvPr id="7" name=""/>
          <p:cNvGraphicFramePr/>
          <p:nvPr/>
        </p:nvGraphicFramePr>
        <p:xfrm>
          <a:off xmlns:a="http://schemas.openxmlformats.org/drawingml/2006/main" x="628650" y="1409700"/>
          <a:ext xmlns:a="http://schemas.openxmlformats.org/drawingml/2006/main" cx="10934700" cy="4191000"/>
        </p:xfrm>
        <a:graphic xmlns:a="http://schemas.openxmlformats.org/drawingml/2006/main">
          <a:graphicData uri="http://schemas.openxmlformats.org/drawingml/2006/table">
            <a:tbl>
              <a:tblPr/>
              <a:tblGrid>
                <a:gridCol w="2000250"/>
                <a:gridCol w="4667250"/>
                <a:gridCol w="4267200"/>
              </a:tblGrid>
              <a:tr h="698500">
                <a:tc>
                  <a:txBody>
                    <a:bodyPr/>
                    <a:lstStyle/>
                    <a:p>
                      <a:r>
                        <a:rPr sz="1425" b="1">
                          <a:solidFill>
                            <a:srgbClr val="FFFFFF"/>
                          </a:solidFill>
                        </a:rPr>
                        <a:t>Mảng</a:t>
                      </a:r>
                    </a:p>
                  </a:txBody>
                  <a:tcPr marL="91440" marR="91440" marT="45720" marB="45720">
                    <a:solidFill>
                      <a:srgbClr val="25495A"/>
                    </a:solidFill>
                  </a:tcPr>
                </a:tc>
                <a:tc>
                  <a:txBody>
                    <a:bodyPr/>
                    <a:lstStyle/>
                    <a:p>
                      <a:r>
                        <a:rPr sz="1425" b="1">
                          <a:solidFill>
                            <a:srgbClr val="FFFFFF"/>
                          </a:solidFill>
                        </a:rPr>
                        <a:t>Đã dùng</a:t>
                      </a:r>
                    </a:p>
                  </a:txBody>
                  <a:tcPr marL="91440" marR="91440" marT="45720" marB="45720">
                    <a:solidFill>
                      <a:srgbClr val="25495A"/>
                    </a:solidFill>
                  </a:tcPr>
                </a:tc>
                <a:tc>
                  <a:txBody>
                    <a:bodyPr/>
                    <a:lstStyle/>
                    <a:p>
                      <a:r>
                        <a:rPr sz="1425" b="1">
                          <a:solidFill>
                            <a:srgbClr val="FFFFFF"/>
                          </a:solidFill>
                        </a:rPr>
                        <a:t>Giới hạn fidelity</a:t>
                      </a:r>
                    </a:p>
                  </a:txBody>
                  <a:tcPr marL="91440" marR="91440" marT="45720" marB="45720">
                    <a:solidFill>
                      <a:srgbClr val="25495A"/>
                    </a:solidFill>
                  </a:tcPr>
                </a:tc>
              </a:tr>
              <a:tr h="698500">
                <a:tc>
                  <a:txBody>
                    <a:bodyPr/>
                    <a:lstStyle/>
                    <a:p>
                      <a:r>
                        <a:rPr sz="1350" b="0">
                          <a:solidFill>
                            <a:srgbClr val="163444"/>
                          </a:solidFill>
                        </a:rPr>
                        <a:t>QPU graph</a:t>
                      </a:r>
                    </a:p>
                  </a:txBody>
                  <a:tcPr marL="91440" marR="91440" marT="45720" marB="45720">
                    <a:solidFill>
                      <a:srgbClr val="FFFFFF"/>
                    </a:solidFill>
                  </a:tcPr>
                </a:tc>
                <a:tc>
                  <a:txBody>
                    <a:bodyPr/>
                    <a:lstStyle/>
                    <a:p>
                      <a:r>
                        <a:rPr sz="1350" b="0">
                          <a:solidFill>
                            <a:srgbClr val="163444"/>
                          </a:solidFill>
                        </a:rPr>
                        <a:t>Ma–Li/QPack logical; Qonductor exact submitted physical QASM</a:t>
                      </a:r>
                    </a:p>
                  </a:txBody>
                  <a:tcPr marL="91440" marR="91440" marT="45720" marB="45720">
                    <a:solidFill>
                      <a:srgbClr val="FFFFFF"/>
                    </a:solidFill>
                  </a:tcPr>
                </a:tc>
                <a:tc>
                  <a:txBody>
                    <a:bodyPr/>
                    <a:lstStyle/>
                    <a:p>
                      <a:r>
                        <a:rPr sz="1350" b="0">
                          <a:solidFill>
                            <a:srgbClr val="163444"/>
                          </a:solidFill>
                        </a:rPr>
                        <a:t>Không thực thi compiled-input promise cho Ma–Li/QPack</a:t>
                      </a:r>
                    </a:p>
                  </a:txBody>
                  <a:tcPr marL="91440" marR="91440" marT="45720" marB="45720">
                    <a:solidFill>
                      <a:srgbClr val="FFFFFF"/>
                    </a:solidFill>
                  </a:tcPr>
                </a:tc>
              </a:tr>
              <a:tr h="698500">
                <a:tc>
                  <a:txBody>
                    <a:bodyPr/>
                    <a:lstStyle/>
                    <a:p>
                      <a:r>
                        <a:rPr sz="1350" b="0">
                          <a:solidFill>
                            <a:srgbClr val="163444"/>
                          </a:solidFill>
                        </a:rPr>
                        <a:t>QPack replay</a:t>
                      </a:r>
                    </a:p>
                  </a:txBody>
                  <a:tcPr marL="91440" marR="91440" marT="45720" marB="45720">
                    <a:solidFill>
                      <a:srgbClr val="F4F7F8"/>
                    </a:solidFill>
                  </a:tcPr>
                </a:tc>
                <a:tc>
                  <a:txBody>
                    <a:bodyPr/>
                    <a:lstStyle/>
                    <a:p>
                      <a:r>
                        <a:rPr sz="1350" b="0">
                          <a:solidFill>
                            <a:srgbClr val="163444"/>
                          </a:solidFill>
                        </a:rPr>
                        <a:t>6 reconstructed structures; representative rz(0.3)/rx(0.2)</a:t>
                      </a:r>
                    </a:p>
                  </a:txBody>
                  <a:tcPr marL="91440" marR="91440" marT="45720" marB="45720">
                    <a:solidFill>
                      <a:srgbClr val="F4F7F8"/>
                    </a:solidFill>
                  </a:tcPr>
                </a:tc>
                <a:tc>
                  <a:txBody>
                    <a:bodyPr/>
                    <a:lstStyle/>
                    <a:p>
                      <a:r>
                        <a:rPr sz="1350" b="0">
                          <a:solidFill>
                            <a:srgbClr val="163444"/>
                          </a:solidFill>
                        </a:rPr>
                        <a:t>Không có original optimizer angles / submitted routing</a:t>
                      </a:r>
                    </a:p>
                  </a:txBody>
                  <a:tcPr marL="91440" marR="91440" marT="45720" marB="45720">
                    <a:solidFill>
                      <a:srgbClr val="F4F7F8"/>
                    </a:solidFill>
                  </a:tcPr>
                </a:tc>
              </a:tr>
              <a:tr h="698500">
                <a:tc>
                  <a:txBody>
                    <a:bodyPr/>
                    <a:lstStyle/>
                    <a:p>
                      <a:r>
                        <a:rPr sz="1350" b="0">
                          <a:solidFill>
                            <a:srgbClr val="163444"/>
                          </a:solidFill>
                        </a:rPr>
                        <a:t>Graph features</a:t>
                      </a:r>
                    </a:p>
                  </a:txBody>
                  <a:tcPr marL="91440" marR="91440" marT="45720" marB="45720">
                    <a:solidFill>
                      <a:srgbClr val="FFFFFF"/>
                    </a:solidFill>
                  </a:tcPr>
                </a:tc>
                <a:tc>
                  <a:txBody>
                    <a:bodyPr/>
                    <a:lstStyle/>
                    <a:p>
                      <a:r>
                        <a:rPr sz="1350" b="0">
                          <a:solidFill>
                            <a:srgbClr val="163444"/>
                          </a:solidFill>
                        </a:rPr>
                        <a:t>7 global features; DAG + global MLP branches</a:t>
                      </a:r>
                    </a:p>
                  </a:txBody>
                  <a:tcPr marL="91440" marR="91440" marT="45720" marB="45720">
                    <a:solidFill>
                      <a:srgbClr val="FFFFFF"/>
                    </a:solidFill>
                  </a:tcPr>
                </a:tc>
                <a:tc>
                  <a:txBody>
                    <a:bodyPr/>
                    <a:lstStyle/>
                    <a:p>
                      <a:r>
                        <a:rPr sz="1350" b="0">
                          <a:solidFill>
                            <a:srgbClr val="163444"/>
                          </a:solidFill>
                        </a:rPr>
                        <a:t>Polynomial có 5 features; không cô lập causal graph effect</a:t>
                      </a:r>
                    </a:p>
                  </a:txBody>
                  <a:tcPr marL="91440" marR="91440" marT="45720" marB="45720">
                    <a:solidFill>
                      <a:srgbClr val="FFFFFF"/>
                    </a:solidFill>
                  </a:tcPr>
                </a:tc>
              </a:tr>
              <a:tr h="698500">
                <a:tc>
                  <a:txBody>
                    <a:bodyPr/>
                    <a:lstStyle/>
                    <a:p>
                      <a:r>
                        <a:rPr sz="1350" b="0">
                          <a:solidFill>
                            <a:srgbClr val="163444"/>
                          </a:solidFill>
                        </a:rPr>
                        <a:t>Native estimates</a:t>
                      </a:r>
                    </a:p>
                  </a:txBody>
                  <a:tcPr marL="91440" marR="91440" marT="45720" marB="45720">
                    <a:solidFill>
                      <a:srgbClr val="F4F7F8"/>
                    </a:solidFill>
                  </a:tcPr>
                </a:tc>
                <a:tc>
                  <a:txBody>
                    <a:bodyPr/>
                    <a:lstStyle/>
                    <a:p>
                      <a:r>
                        <a:rPr sz="1350" b="0">
                          <a:solidFill>
                            <a:srgbClr val="163444"/>
                          </a:solidFill>
                        </a:rPr>
                        <a:t>Snapshot calibration theo backend</a:t>
                      </a:r>
                    </a:p>
                  </a:txBody>
                  <a:tcPr marL="91440" marR="91440" marT="45720" marB="45720">
                    <a:solidFill>
                      <a:srgbClr val="F4F7F8"/>
                    </a:solidFill>
                  </a:tcPr>
                </a:tc>
                <a:tc>
                  <a:txBody>
                    <a:bodyPr/>
                    <a:lstStyle/>
                    <a:p>
                      <a:r>
                        <a:rPr sz="1350" b="0">
                          <a:solidFill>
                            <a:srgbClr val="163444"/>
                          </a:solidFill>
                        </a:rPr>
                        <a:t>Không phải row-day historical calibration</a:t>
                      </a:r>
                    </a:p>
                  </a:txBody>
                  <a:tcPr marL="91440" marR="91440" marT="45720" marB="45720">
                    <a:solidFill>
                      <a:srgbClr val="F4F7F8"/>
                    </a:solidFill>
                  </a:tcPr>
                </a:tc>
              </a:tr>
              <a:tr h="698500">
                <a:tc>
                  <a:txBody>
                    <a:bodyPr/>
                    <a:lstStyle/>
                    <a:p>
                      <a:r>
                        <a:rPr sz="1350" b="0">
                          <a:solidFill>
                            <a:srgbClr val="163444"/>
                          </a:solidFill>
                        </a:rPr>
                        <a:t>Unmeasured routes</a:t>
                      </a:r>
                    </a:p>
                  </a:txBody>
                  <a:tcPr marL="91440" marR="91440" marT="45720" marB="45720">
                    <a:solidFill>
                      <a:srgbClr val="FFFFFF"/>
                    </a:solidFill>
                  </a:tcPr>
                </a:tc>
                <a:tc>
                  <a:txBody>
                    <a:bodyPr/>
                    <a:lstStyle/>
                    <a:p>
                      <a:r>
                        <a:rPr sz="1350" b="0">
                          <a:solidFill>
                            <a:srgbClr val="163444"/>
                          </a:solidFill>
                        </a:rPr>
                        <a:t>Family-aware, original Composer, joint quality</a:t>
                      </a:r>
                    </a:p>
                  </a:txBody>
                  <a:tcPr marL="91440" marR="91440" marT="45720" marB="45720">
                    <a:solidFill>
                      <a:srgbClr val="FFFFFF"/>
                    </a:solidFill>
                  </a:tcPr>
                </a:tc>
                <a:tc>
                  <a:txBody>
                    <a:bodyPr/>
                    <a:lstStyle/>
                    <a:p>
                      <a:r>
                        <a:rPr sz="1350" b="0">
                          <a:solidFill>
                            <a:srgbClr val="163444"/>
                          </a:solidFill>
                        </a:rPr>
                        <a:t>Chưa có evaluated evidence phù hợp</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A8715C5-10D6-4C66-9C53-921D8809183B}"/>
              </a:ext>
            </a:extLst>
          </p:cNvPr>
          <p:cNvSpPr>
            <a:spLocks xmlns:a="http://schemas.openxmlformats.org/drawingml/2006/main" noGrp="1"/>
          </p:cNvSpPr>
          <p:nvPr/>
        </p:nvSpPr>
        <p:spPr>
          <a:xfrm xmlns:a="http://schemas.openxmlformats.org/drawingml/2006/main">
            <a:off x="695325" y="5829300"/>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7F78"/>
                </a:solidFill>
                <a:latin typeface="Noto Sans"/>
                <a:ea typeface="Noto Sans"/>
                <a:cs typeface="Noto Sans"/>
              </a:defRPr>
            </a:pPr>
            <a:r>
              <a:rPr sz="1500" b="1">
                <a:solidFill>
                  <a:srgbClr val="007F78"/>
                </a:solidFill>
                <a:latin typeface="Noto Sans"/>
                <a:ea typeface="Noto Sans"/>
                <a:cs typeface="Noto Sans"/>
              </a:rPr>
              <a:t>Archived labels vẫn là runtime quan sát; replay reconstruction không thay đổi labels.</a:t>
            </a:r>
          </a:p>
        </p:txBody>
      </p:sp>
    </p:spTree>
    <p:extLst>
      <p:ext uri="{BB962C8B-B14F-4D97-AF65-F5344CB8AC3E}">
        <p14:creationId xmlns:p14="http://schemas.microsoft.com/office/powerpoint/2010/main" val="9594924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2C7049-6CAA-4520-8B21-49412B91E7B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Clocks, quality, và release boundary</a:t>
            </a:r>
          </a:p>
        </p:txBody>
      </p:sp>
      <p:sp>
        <p:nvSpPr>
          <p:cNvPr id="2" name="">
            <a:extLst xmlns:a="http://schemas.openxmlformats.org/drawingml/2006/main">
              <a:ext uri="{FF2B5EF4-FFF2-40B4-BE49-F238E27FC236}">
                <a16:creationId xmlns:a16="http://schemas.microsoft.com/office/drawing/2014/main" id="{017AE74C-B183-4ECE-9014-AEBD46DE1588}"/>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12</a:t>
            </a:r>
          </a:p>
        </p:txBody>
      </p:sp>
      <p:graphicFrame>
        <p:nvGraphicFramePr>
          <p:cNvPr id="7" name=""/>
          <p:cNvGraphicFramePr/>
          <p:nvPr/>
        </p:nvGraphicFramePr>
        <p:xfrm>
          <a:off xmlns:a="http://schemas.openxmlformats.org/drawingml/2006/main" x="666750" y="1381125"/>
          <a:ext xmlns:a="http://schemas.openxmlformats.org/drawingml/2006/main" cx="10858500" cy="4381500"/>
        </p:xfrm>
        <a:graphic xmlns:a="http://schemas.openxmlformats.org/drawingml/2006/main">
          <a:graphicData uri="http://schemas.openxmlformats.org/drawingml/2006/table">
            <a:tbl>
              <a:tblPr/>
              <a:tblGrid>
                <a:gridCol w="2095500"/>
                <a:gridCol w="3619500"/>
                <a:gridCol w="5143500"/>
              </a:tblGrid>
              <a:tr h="547688">
                <a:tc>
                  <a:txBody>
                    <a:bodyPr/>
                    <a:lstStyle/>
                    <a:p>
                      <a:r>
                        <a:rPr sz="1350" b="1">
                          <a:solidFill>
                            <a:srgbClr val="FFFFFF"/>
                          </a:solidFill>
                        </a:rPr>
                        <a:t>Domain</a:t>
                      </a:r>
                    </a:p>
                  </a:txBody>
                  <a:tcPr marL="91440" marR="91440" marT="45720" marB="45720">
                    <a:solidFill>
                      <a:srgbClr val="25495A"/>
                    </a:solidFill>
                  </a:tcPr>
                </a:tc>
                <a:tc>
                  <a:txBody>
                    <a:bodyPr/>
                    <a:lstStyle/>
                    <a:p>
                      <a:r>
                        <a:rPr sz="1350" b="1">
                          <a:solidFill>
                            <a:srgbClr val="FFFFFF"/>
                          </a:solidFill>
                        </a:rPr>
                        <a:t>Clock or outcome</a:t>
                      </a:r>
                    </a:p>
                  </a:txBody>
                  <a:tcPr marL="91440" marR="91440" marT="45720" marB="45720">
                    <a:solidFill>
                      <a:srgbClr val="25495A"/>
                    </a:solidFill>
                  </a:tcPr>
                </a:tc>
                <a:tc>
                  <a:txBody>
                    <a:bodyPr/>
                    <a:lstStyle/>
                    <a:p>
                      <a:r>
                        <a:rPr sz="1350" b="1">
                          <a:solidFill>
                            <a:srgbClr val="FFFFFF"/>
                          </a:solidFill>
                        </a:rPr>
                        <a:t>Interpretation</a:t>
                      </a:r>
                    </a:p>
                  </a:txBody>
                  <a:tcPr marL="91440" marR="91440" marT="45720" marB="45720">
                    <a:solidFill>
                      <a:srgbClr val="25495A"/>
                    </a:solidFill>
                  </a:tcPr>
                </a:tc>
              </a:tr>
              <a:tr h="547688">
                <a:tc>
                  <a:txBody>
                    <a:bodyPr/>
                    <a:lstStyle/>
                    <a:p>
                      <a:r>
                        <a:rPr sz="1275" b="0">
                          <a:solidFill>
                            <a:srgbClr val="163444"/>
                          </a:solidFill>
                        </a:rPr>
                        <a:t>QPU target</a:t>
                      </a:r>
                    </a:p>
                  </a:txBody>
                  <a:tcPr marL="91440" marR="91440" marT="45720" marB="45720">
                    <a:solidFill>
                      <a:srgbClr val="FFFFFF"/>
                    </a:solidFill>
                  </a:tcPr>
                </a:tc>
                <a:tc>
                  <a:txBody>
                    <a:bodyPr/>
                    <a:lstStyle/>
                    <a:p>
                      <a:r>
                        <a:rPr sz="1275" b="0">
                          <a:solidFill>
                            <a:srgbClr val="163444"/>
                          </a:solidFill>
                        </a:rPr>
                        <a:t>Archived observed service/execution</a:t>
                      </a:r>
                    </a:p>
                  </a:txBody>
                  <a:tcPr marL="91440" marR="91440" marT="45720" marB="45720">
                    <a:solidFill>
                      <a:srgbClr val="FFFFFF"/>
                    </a:solidFill>
                  </a:tcPr>
                </a:tc>
                <a:tc>
                  <a:txBody>
                    <a:bodyPr/>
                    <a:lstStyle/>
                    <a:p>
                      <a:r>
                        <a:rPr sz="1275" b="0">
                          <a:solidFill>
                            <a:srgbClr val="163444"/>
                          </a:solidFill>
                        </a:rPr>
                        <a:t>Evaluation target, not schedule duration</a:t>
                      </a:r>
                    </a:p>
                  </a:txBody>
                  <a:tcPr marL="91440" marR="91440" marT="45720" marB="45720">
                    <a:solidFill>
                      <a:srgbClr val="FFFFFF"/>
                    </a:solidFill>
                  </a:tcPr>
                </a:tc>
              </a:tr>
              <a:tr h="547688">
                <a:tc>
                  <a:txBody>
                    <a:bodyPr/>
                    <a:lstStyle/>
                    <a:p>
                      <a:r>
                        <a:rPr sz="1275" b="0">
                          <a:solidFill>
                            <a:srgbClr val="163444"/>
                          </a:solidFill>
                        </a:rPr>
                        <a:t>QPU analytical</a:t>
                      </a:r>
                    </a:p>
                  </a:txBody>
                  <a:tcPr marL="91440" marR="91440" marT="45720" marB="45720">
                    <a:solidFill>
                      <a:srgbClr val="F4F7F8"/>
                    </a:solidFill>
                  </a:tcPr>
                </a:tc>
                <a:tc>
                  <a:txBody>
                    <a:bodyPr/>
                    <a:lstStyle/>
                    <a:p>
                      <a:r>
                        <a:rPr sz="1275" b="0">
                          <a:solidFill>
                            <a:srgbClr val="163444"/>
                          </a:solidFill>
                        </a:rPr>
                        <a:t>Scheduled single-shot / shot-scaled</a:t>
                      </a:r>
                    </a:p>
                  </a:txBody>
                  <a:tcPr marL="91440" marR="91440" marT="45720" marB="45720">
                    <a:solidFill>
                      <a:srgbClr val="F4F7F8"/>
                    </a:solidFill>
                  </a:tcPr>
                </a:tc>
                <a:tc>
                  <a:txBody>
                    <a:bodyPr/>
                    <a:lstStyle/>
                    <a:p>
                      <a:r>
                        <a:rPr sz="1275" b="0">
                          <a:solidFill>
                            <a:srgbClr val="163444"/>
                          </a:solidFill>
                        </a:rPr>
                        <a:t>Proxy; provider overhead excluded</a:t>
                      </a:r>
                    </a:p>
                  </a:txBody>
                  <a:tcPr marL="91440" marR="91440" marT="45720" marB="45720">
                    <a:solidFill>
                      <a:srgbClr val="F4F7F8"/>
                    </a:solidFill>
                  </a:tcPr>
                </a:tc>
              </a:tr>
              <a:tr h="547688">
                <a:tc>
                  <a:txBody>
                    <a:bodyPr/>
                    <a:lstStyle/>
                    <a:p>
                      <a:r>
                        <a:rPr sz="1275" b="0">
                          <a:solidFill>
                            <a:srgbClr val="163444"/>
                          </a:solidFill>
                        </a:rPr>
                        <a:t>Simulator</a:t>
                      </a:r>
                    </a:p>
                  </a:txBody>
                  <a:tcPr marL="91440" marR="91440" marT="45720" marB="45720">
                    <a:solidFill>
                      <a:srgbClr val="FFFFFF"/>
                    </a:solidFill>
                  </a:tcPr>
                </a:tc>
                <a:tc>
                  <a:txBody>
                    <a:bodyPr/>
                    <a:lstStyle/>
                    <a:p>
                      <a:r>
                        <a:rPr sz="1275" b="0">
                          <a:solidFill>
                            <a:srgbClr val="163444"/>
                          </a:solidFill>
                        </a:rPr>
                        <a:t>First / warm execution; quality gate</a:t>
                      </a:r>
                    </a:p>
                  </a:txBody>
                  <a:tcPr marL="91440" marR="91440" marT="45720" marB="45720">
                    <a:solidFill>
                      <a:srgbClr val="FFFFFF"/>
                    </a:solidFill>
                  </a:tcPr>
                </a:tc>
                <a:tc>
                  <a:txBody>
                    <a:bodyPr/>
                    <a:lstStyle/>
                    <a:p>
                      <a:r>
                        <a:rPr sz="1275" b="0">
                          <a:solidFill>
                            <a:srgbClr val="163444"/>
                          </a:solidFill>
                        </a:rPr>
                        <a:t>Keep engine, config, and clock separate</a:t>
                      </a:r>
                    </a:p>
                  </a:txBody>
                  <a:tcPr marL="91440" marR="91440" marT="45720" marB="45720">
                    <a:solidFill>
                      <a:srgbClr val="FFFFFF"/>
                    </a:solidFill>
                  </a:tcPr>
                </a:tc>
              </a:tr>
              <a:tr h="547688">
                <a:tc>
                  <a:txBody>
                    <a:bodyPr/>
                    <a:lstStyle/>
                    <a:p>
                      <a:r>
                        <a:rPr sz="1275" b="0">
                          <a:solidFill>
                            <a:srgbClr val="163444"/>
                          </a:solidFill>
                        </a:rPr>
                        <a:t>cuTensorNet</a:t>
                      </a:r>
                    </a:p>
                  </a:txBody>
                  <a:tcPr marL="91440" marR="91440" marT="45720" marB="45720">
                    <a:solidFill>
                      <a:srgbClr val="F4F7F8"/>
                    </a:solidFill>
                  </a:tcPr>
                </a:tc>
                <a:tc>
                  <a:txBody>
                    <a:bodyPr/>
                    <a:lstStyle/>
                    <a:p>
                      <a:r>
                        <a:rPr sz="1275" b="0">
                          <a:solidFill>
                            <a:srgbClr val="163444"/>
                          </a:solidFill>
                        </a:rPr>
                        <a:t>Selected-plan estimate</a:t>
                      </a:r>
                    </a:p>
                  </a:txBody>
                  <a:tcPr marL="91440" marR="91440" marT="45720" marB="45720">
                    <a:solidFill>
                      <a:srgbClr val="F4F7F8"/>
                    </a:solidFill>
                  </a:tcPr>
                </a:tc>
                <a:tc>
                  <a:txBody>
                    <a:bodyPr/>
                    <a:lstStyle/>
                    <a:p>
                      <a:r>
                        <a:rPr sz="1275" b="0">
                          <a:solidFill>
                            <a:srgbClr val="163444"/>
                          </a:solidFill>
                        </a:rPr>
                        <a:t>Compare only with contraction under same plan</a:t>
                      </a:r>
                    </a:p>
                  </a:txBody>
                  <a:tcPr marL="91440" marR="91440" marT="45720" marB="45720">
                    <a:solidFill>
                      <a:srgbClr val="F4F7F8"/>
                    </a:solidFill>
                  </a:tcPr>
                </a:tc>
              </a:tr>
              <a:tr h="547688">
                <a:tc>
                  <a:txBody>
                    <a:bodyPr/>
                    <a:lstStyle/>
                    <a:p>
                      <a:r>
                        <a:rPr sz="1275" b="0">
                          <a:solidFill>
                            <a:srgbClr val="163444"/>
                          </a:solidFill>
                        </a:rPr>
                        <a:t>Maestro</a:t>
                      </a:r>
                    </a:p>
                  </a:txBody>
                  <a:tcPr marL="91440" marR="91440" marT="45720" marB="45720">
                    <a:solidFill>
                      <a:srgbClr val="FFFFFF"/>
                    </a:solidFill>
                  </a:tcPr>
                </a:tc>
                <a:tc>
                  <a:txBody>
                    <a:bodyPr/>
                    <a:lstStyle/>
                    <a:p>
                      <a:r>
                        <a:rPr sz="1275" b="0">
                          <a:solidFill>
                            <a:srgbClr val="163444"/>
                          </a:solidFill>
                        </a:rPr>
                        <a:t>Process-isolated reported execution</a:t>
                      </a:r>
                    </a:p>
                  </a:txBody>
                  <a:tcPr marL="91440" marR="91440" marT="45720" marB="45720">
                    <a:solidFill>
                      <a:srgbClr val="FFFFFF"/>
                    </a:solidFill>
                  </a:tcPr>
                </a:tc>
                <a:tc>
                  <a:txBody>
                    <a:bodyPr/>
                    <a:lstStyle/>
                    <a:p>
                      <a:r>
                        <a:rPr sz="1275" b="0">
                          <a:solidFill>
                            <a:srgbClr val="163444"/>
                          </a:solidFill>
                        </a:rPr>
                        <a:t>Fresh process, terminal pilot failure</a:t>
                      </a:r>
                    </a:p>
                  </a:txBody>
                  <a:tcPr marL="91440" marR="91440" marT="45720" marB="45720">
                    <a:solidFill>
                      <a:srgbClr val="FFFFFF"/>
                    </a:solidFill>
                  </a:tcPr>
                </a:tc>
              </a:tr>
              <a:tr h="547688">
                <a:tc>
                  <a:txBody>
                    <a:bodyPr/>
                    <a:lstStyle/>
                    <a:p>
                      <a:r>
                        <a:rPr sz="1275" b="0">
                          <a:solidFill>
                            <a:srgbClr val="163444"/>
                          </a:solidFill>
                        </a:rPr>
                        <a:t>Package status</a:t>
                      </a:r>
                    </a:p>
                  </a:txBody>
                  <a:tcPr marL="91440" marR="91440" marT="45720" marB="45720">
                    <a:solidFill>
                      <a:srgbClr val="F4F7F8"/>
                    </a:solidFill>
                  </a:tcPr>
                </a:tc>
                <a:tc>
                  <a:txBody>
                    <a:bodyPr/>
                    <a:lstStyle/>
                    <a:p>
                      <a:r>
                        <a:rPr sz="1275" b="0">
                          <a:solidFill>
                            <a:srgbClr val="163444"/>
                          </a:solidFill>
                        </a:rPr>
                        <a:t>Local review stage</a:t>
                      </a:r>
                    </a:p>
                  </a:txBody>
                  <a:tcPr marL="91440" marR="91440" marT="45720" marB="45720">
                    <a:solidFill>
                      <a:srgbClr val="F4F7F8"/>
                    </a:solidFill>
                  </a:tcPr>
                </a:tc>
                <a:tc>
                  <a:txBody>
                    <a:bodyPr/>
                    <a:lstStyle/>
                    <a:p>
                      <a:r>
                        <a:rPr sz="1275" b="0">
                          <a:solidFill>
                            <a:srgbClr val="163444"/>
                          </a:solidFill>
                        </a:rPr>
                        <a:t>Validation is not full replication; clean-clone pass not claimed</a:t>
                      </a:r>
                    </a:p>
                  </a:txBody>
                  <a:tcPr marL="91440" marR="91440" marT="45720" marB="45720">
                    <a:solidFill>
                      <a:srgbClr val="F4F7F8"/>
                    </a:solidFill>
                  </a:tcPr>
                </a:tc>
              </a:tr>
              <a:tr h="547688">
                <a:tc>
                  <a:txBody>
                    <a:bodyPr/>
                    <a:lstStyle/>
                    <a:p>
                      <a:r>
                        <a:rPr sz="1275" b="0">
                          <a:solidFill>
                            <a:srgbClr val="163444"/>
                          </a:solidFill>
                        </a:rPr>
                        <a:t>Public release</a:t>
                      </a:r>
                    </a:p>
                  </a:txBody>
                  <a:tcPr marL="91440" marR="91440" marT="45720" marB="45720">
                    <a:solidFill>
                      <a:srgbClr val="FFFFFF"/>
                    </a:solidFill>
                  </a:tcPr>
                </a:tc>
                <a:tc>
                  <a:txBody>
                    <a:bodyPr/>
                    <a:lstStyle/>
                    <a:p>
                      <a:r>
                        <a:rPr sz="1275" b="0">
                          <a:solidFill>
                            <a:srgbClr val="163444"/>
                          </a:solidFill>
                        </a:rPr>
                        <a:t>Rights decision open</a:t>
                      </a:r>
                    </a:p>
                  </a:txBody>
                  <a:tcPr marL="91440" marR="91440" marT="45720" marB="45720">
                    <a:solidFill>
                      <a:srgbClr val="FFFFFF"/>
                    </a:solidFill>
                  </a:tcPr>
                </a:tc>
                <a:tc>
                  <a:txBody>
                    <a:bodyPr/>
                    <a:lstStyle/>
                    <a:p>
                      <a:r>
                        <a:rPr sz="1275" b="0">
                          <a:solidFill>
                            <a:srgbClr val="163444"/>
                          </a:solidFill>
                        </a:rPr>
                        <a:t>No public-release approval from this deck</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440DB43-8F73-4446-9321-479198A428EA}"/>
              </a:ext>
            </a:extLst>
          </p:cNvPr>
          <p:cNvSpPr>
            <a:spLocks xmlns:a="http://schemas.openxmlformats.org/drawingml/2006/main" noGrp="1"/>
          </p:cNvSpPr>
          <p:nvPr/>
        </p:nvSpPr>
        <p:spPr>
          <a:xfrm xmlns:a="http://schemas.openxmlformats.org/drawingml/2006/main">
            <a:off x="733425" y="59055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7F78"/>
                </a:solidFill>
                <a:latin typeface="Noto Sans"/>
                <a:ea typeface="Noto Sans"/>
                <a:cs typeface="Noto Sans"/>
              </a:defRPr>
            </a:pPr>
            <a:r>
              <a:rPr sz="1425" b="1">
                <a:solidFill>
                  <a:srgbClr val="007F78"/>
                </a:solidFill>
                <a:latin typeface="Noto Sans"/>
                <a:ea typeface="Noto Sans"/>
                <a:cs typeface="Noto Sans"/>
              </a:rPr>
              <a:t>Unavailable rows, timeouts, adapter errors, and quality failures stay in coverage denominators.</a:t>
            </a:r>
          </a:p>
        </p:txBody>
      </p:sp>
    </p:spTree>
    <p:extLst>
      <p:ext uri="{BB962C8B-B14F-4D97-AF65-F5344CB8AC3E}">
        <p14:creationId xmlns:p14="http://schemas.microsoft.com/office/powerpoint/2010/main" val="20751336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37606E-88AE-4054-BD1F-600198592A21}"/>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Appendix: coverage của 24 QPU variants</a:t>
            </a:r>
          </a:p>
        </p:txBody>
      </p:sp>
      <p:graphicFrame>
        <p:nvGraphicFramePr>
          <p:cNvPr id="5" name=""/>
          <p:cNvGraphicFramePr/>
          <p:nvPr/>
        </p:nvGraphicFramePr>
        <p:xfrm>
          <a:off xmlns:a="http://schemas.openxmlformats.org/drawingml/2006/main" x="457200" y="1200150"/>
          <a:ext xmlns:a="http://schemas.openxmlformats.org/drawingml/2006/main" cx="5467350" cy="5238750"/>
        </p:xfrm>
        <a:graphic xmlns:a="http://schemas.openxmlformats.org/drawingml/2006/main">
          <a:graphicData uri="http://schemas.openxmlformats.org/drawingml/2006/table">
            <a:tbl>
              <a:tblPr/>
              <a:tblGrid>
                <a:gridCol w="2152650"/>
                <a:gridCol w="1047750"/>
                <a:gridCol w="781050"/>
                <a:gridCol w="1485900"/>
              </a:tblGrid>
              <a:tr h="402981">
                <a:tc>
                  <a:txBody>
                    <a:bodyPr/>
                    <a:lstStyle/>
                    <a:p>
                      <a:r>
                        <a:rPr sz="1125" b="1">
                          <a:solidFill>
                            <a:srgbClr val="FFFFFF"/>
                          </a:solidFill>
                        </a:rPr>
                        <a:t>Variant</a:t>
                      </a:r>
                    </a:p>
                  </a:txBody>
                  <a:tcPr marL="91440" marR="91440" marT="45720" marB="45720">
                    <a:solidFill>
                      <a:srgbClr val="25495A"/>
                    </a:solidFill>
                  </a:tcPr>
                </a:tc>
                <a:tc>
                  <a:txBody>
                    <a:bodyPr/>
                    <a:lstStyle/>
                    <a:p>
                      <a:r>
                        <a:rPr sz="1125" b="1">
                          <a:solidFill>
                            <a:srgbClr val="FFFFFF"/>
                          </a:solidFill>
                        </a:rPr>
                        <a:t>Pred / 8,767</a:t>
                      </a:r>
                    </a:p>
                  </a:txBody>
                  <a:tcPr marL="91440" marR="91440" marT="45720" marB="45720">
                    <a:solidFill>
                      <a:srgbClr val="25495A"/>
                    </a:solidFill>
                  </a:tcPr>
                </a:tc>
                <a:tc>
                  <a:txBody>
                    <a:bodyPr/>
                    <a:lstStyle/>
                    <a:p>
                      <a:r>
                        <a:rPr sz="1125" b="1">
                          <a:solidFill>
                            <a:srgbClr val="FFFFFF"/>
                          </a:solidFill>
                        </a:rPr>
                        <a:t>Cover</a:t>
                      </a:r>
                    </a:p>
                  </a:txBody>
                  <a:tcPr marL="91440" marR="91440" marT="45720" marB="45720">
                    <a:solidFill>
                      <a:srgbClr val="25495A"/>
                    </a:solidFill>
                  </a:tcPr>
                </a:tc>
                <a:tc>
                  <a:txBody>
                    <a:bodyPr/>
                    <a:lstStyle/>
                    <a:p>
                      <a:r>
                        <a:rPr sz="1125" b="1">
                          <a:solidFill>
                            <a:srgbClr val="FFFFFF"/>
                          </a:solidFill>
                        </a:rPr>
                        <a:t>Output clock</a:t>
                      </a:r>
                    </a:p>
                  </a:txBody>
                  <a:tcPr marL="91440" marR="91440" marT="45720" marB="45720">
                    <a:solidFill>
                      <a:srgbClr val="25495A"/>
                    </a:solidFill>
                  </a:tcPr>
                </a:tc>
              </a:tr>
              <a:tr h="402981">
                <a:tc>
                  <a:txBody>
                    <a:bodyPr/>
                    <a:lstStyle/>
                    <a:p>
                      <a:r>
                        <a:rPr sz="1125" b="0">
                          <a:solidFill>
                            <a:srgbClr val="163444"/>
                          </a:solidFill>
                        </a:rPr>
                        <a:t>MaLi graph V3</a:t>
                      </a:r>
                    </a:p>
                  </a:txBody>
                  <a:tcPr marL="91440" marR="91440" marT="45720" marB="45720">
                    <a:solidFill>
                      <a:srgbClr val="FFFFFF"/>
                    </a:solidFill>
                  </a:tcPr>
                </a:tc>
                <a:tc>
                  <a:txBody>
                    <a:bodyPr/>
                    <a:lstStyle/>
                    <a:p>
                      <a:r>
                        <a:rPr sz="1125" b="0">
                          <a:solidFill>
                            <a:srgbClr val="163444"/>
                          </a:solidFill>
                        </a:rPr>
                        <a:t>8,763</a:t>
                      </a:r>
                    </a:p>
                  </a:txBody>
                  <a:tcPr marL="91440" marR="91440" marT="45720" marB="45720">
                    <a:solidFill>
                      <a:srgbClr val="FFFFFF"/>
                    </a:solidFill>
                  </a:tcPr>
                </a:tc>
                <a:tc>
                  <a:txBody>
                    <a:bodyPr/>
                    <a:lstStyle/>
                    <a:p>
                      <a:r>
                        <a:rPr sz="1125" b="0">
                          <a:solidFill>
                            <a:srgbClr val="163444"/>
                          </a:solidFill>
                        </a:rPr>
                        <a:t>99.95%</a:t>
                      </a:r>
                    </a:p>
                  </a:txBody>
                  <a:tcPr marL="91440" marR="91440" marT="45720" marB="45720">
                    <a:solidFill>
                      <a:srgbClr val="FFFFFF"/>
                    </a:solidFill>
                  </a:tcPr>
                </a:tc>
                <a:tc>
                  <a:txBody>
                    <a:bodyPr/>
                    <a:lstStyle/>
                    <a:p>
                      <a:r>
                        <a:rPr sz="1125" b="0">
                          <a:solidFill>
                            <a:srgbClr val="163444"/>
                          </a:solidFill>
                        </a:rPr>
                        <a:t>Observed service</a:t>
                      </a:r>
                    </a:p>
                  </a:txBody>
                  <a:tcPr marL="91440" marR="91440" marT="45720" marB="45720">
                    <a:solidFill>
                      <a:srgbClr val="FFFFFF"/>
                    </a:solidFill>
                  </a:tcPr>
                </a:tc>
              </a:tr>
              <a:tr h="402981">
                <a:tc>
                  <a:txBody>
                    <a:bodyPr/>
                    <a:lstStyle/>
                    <a:p>
                      <a:r>
                        <a:rPr sz="1125" b="0">
                          <a:solidFill>
                            <a:srgbClr val="163444"/>
                          </a:solidFill>
                        </a:rPr>
                        <a:t>MaLi graph V3-large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Observed service</a:t>
                      </a:r>
                    </a:p>
                  </a:txBody>
                  <a:tcPr marL="91440" marR="91440" marT="45720" marB="45720">
                    <a:solidFill>
                      <a:srgbClr val="F4F7F8"/>
                    </a:solidFill>
                  </a:tcPr>
                </a:tc>
              </a:tr>
              <a:tr h="402981">
                <a:tc>
                  <a:txBody>
                    <a:bodyPr/>
                    <a:lstStyle/>
                    <a:p>
                      <a:r>
                        <a:rPr sz="1125" b="0">
                          <a:solidFill>
                            <a:srgbClr val="163444"/>
                          </a:solidFill>
                        </a:rPr>
                        <a:t>Unified polynomial V3</a:t>
                      </a:r>
                    </a:p>
                  </a:txBody>
                  <a:tcPr marL="91440" marR="91440" marT="45720" marB="45720">
                    <a:solidFill>
                      <a:srgbClr val="FFFFFF"/>
                    </a:solidFill>
                  </a:tcPr>
                </a:tc>
                <a:tc>
                  <a:txBody>
                    <a:bodyPr/>
                    <a:lstStyle/>
                    <a:p>
                      <a:r>
                        <a:rPr sz="1125" b="0">
                          <a:solidFill>
                            <a:srgbClr val="163444"/>
                          </a:solidFill>
                        </a:rPr>
                        <a:t>8,767</a:t>
                      </a:r>
                    </a:p>
                  </a:txBody>
                  <a:tcPr marL="91440" marR="91440" marT="45720" marB="45720">
                    <a:solidFill>
                      <a:srgbClr val="FFFFFF"/>
                    </a:solidFill>
                  </a:tcPr>
                </a:tc>
                <a:tc>
                  <a:txBody>
                    <a:bodyPr/>
                    <a:lstStyle/>
                    <a:p>
                      <a:r>
                        <a:rPr sz="1125" b="0">
                          <a:solidFill>
                            <a:srgbClr val="163444"/>
                          </a:solidFill>
                        </a:rPr>
                        <a:t>100.00%</a:t>
                      </a:r>
                    </a:p>
                  </a:txBody>
                  <a:tcPr marL="91440" marR="91440" marT="45720" marB="45720">
                    <a:solidFill>
                      <a:srgbClr val="FFFFFF"/>
                    </a:solidFill>
                  </a:tcPr>
                </a:tc>
                <a:tc>
                  <a:txBody>
                    <a:bodyPr/>
                    <a:lstStyle/>
                    <a:p>
                      <a:r>
                        <a:rPr sz="1125" b="0">
                          <a:solidFill>
                            <a:srgbClr val="163444"/>
                          </a:solidFill>
                        </a:rPr>
                        <a:t>Observed service</a:t>
                      </a:r>
                    </a:p>
                  </a:txBody>
                  <a:tcPr marL="91440" marR="91440" marT="45720" marB="45720">
                    <a:solidFill>
                      <a:srgbClr val="FFFFFF"/>
                    </a:solidFill>
                  </a:tcPr>
                </a:tc>
              </a:tr>
              <a:tr h="402981">
                <a:tc>
                  <a:txBody>
                    <a:bodyPr/>
                    <a:lstStyle/>
                    <a:p>
                      <a:r>
                        <a:rPr sz="1125" b="0">
                          <a:solidFill>
                            <a:srgbClr val="163444"/>
                          </a:solidFill>
                        </a:rPr>
                        <a:t>QCRE CP raw</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Scheduled CP</a:t>
                      </a:r>
                    </a:p>
                  </a:txBody>
                  <a:tcPr marL="91440" marR="91440" marT="45720" marB="45720">
                    <a:solidFill>
                      <a:srgbClr val="F4F7F8"/>
                    </a:solidFill>
                  </a:tcPr>
                </a:tc>
              </a:tr>
              <a:tr h="402981">
                <a:tc>
                  <a:txBody>
                    <a:bodyPr/>
                    <a:lstStyle/>
                    <a:p>
                      <a:r>
                        <a:rPr sz="1125" b="0">
                          <a:solidFill>
                            <a:srgbClr val="163444"/>
                          </a:solidFill>
                        </a:rPr>
                        <a:t>QCRE CP 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QCRE CP log-affine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QCRE shot raw</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Shot schedule</a:t>
                      </a:r>
                    </a:p>
                  </a:txBody>
                  <a:tcPr marL="91440" marR="91440" marT="45720" marB="45720">
                    <a:solidFill>
                      <a:srgbClr val="FFFFFF"/>
                    </a:solidFill>
                  </a:tcPr>
                </a:tc>
              </a:tr>
              <a:tr h="402981">
                <a:tc>
                  <a:txBody>
                    <a:bodyPr/>
                    <a:lstStyle/>
                    <a:p>
                      <a:r>
                        <a:rPr sz="1125" b="0">
                          <a:solidFill>
                            <a:srgbClr val="163444"/>
                          </a:solidFill>
                        </a:rPr>
                        <a:t>QCRE shot 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QCRE shot log-affine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Qiskit duration raw</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Scheduled 1-shot</a:t>
                      </a:r>
                    </a:p>
                  </a:txBody>
                  <a:tcPr marL="91440" marR="91440" marT="45720" marB="45720">
                    <a:solidFill>
                      <a:srgbClr val="F4F7F8"/>
                    </a:solidFill>
                  </a:tcPr>
                </a:tc>
              </a:tr>
              <a:tr h="402981">
                <a:tc>
                  <a:txBody>
                    <a:bodyPr/>
                    <a:lstStyle/>
                    <a:p>
                      <a:r>
                        <a:rPr sz="1125" b="0">
                          <a:solidFill>
                            <a:srgbClr val="163444"/>
                          </a:solidFill>
                        </a:rPr>
                        <a:t>Qiskit duration 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Qiskit duration log-affine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bl>
          </a:graphicData>
        </a:graphic>
      </p:graphicFrame>
      <p:graphicFrame>
        <p:nvGraphicFramePr>
          <p:cNvPr id="6" name=""/>
          <p:cNvGraphicFramePr/>
          <p:nvPr/>
        </p:nvGraphicFramePr>
        <p:xfrm>
          <a:off xmlns:a="http://schemas.openxmlformats.org/drawingml/2006/main" x="6267450" y="1200150"/>
          <a:ext xmlns:a="http://schemas.openxmlformats.org/drawingml/2006/main" cx="5467350" cy="5238750"/>
        </p:xfrm>
        <a:graphic xmlns:a="http://schemas.openxmlformats.org/drawingml/2006/main">
          <a:graphicData uri="http://schemas.openxmlformats.org/drawingml/2006/table">
            <a:tbl>
              <a:tblPr/>
              <a:tblGrid>
                <a:gridCol w="2152650"/>
                <a:gridCol w="1047750"/>
                <a:gridCol w="781050"/>
                <a:gridCol w="1485900"/>
              </a:tblGrid>
              <a:tr h="402981">
                <a:tc>
                  <a:txBody>
                    <a:bodyPr/>
                    <a:lstStyle/>
                    <a:p>
                      <a:r>
                        <a:rPr sz="1125" b="1">
                          <a:solidFill>
                            <a:srgbClr val="FFFFFF"/>
                          </a:solidFill>
                        </a:rPr>
                        <a:t>Variant</a:t>
                      </a:r>
                    </a:p>
                  </a:txBody>
                  <a:tcPr marL="91440" marR="91440" marT="45720" marB="45720">
                    <a:solidFill>
                      <a:srgbClr val="25495A"/>
                    </a:solidFill>
                  </a:tcPr>
                </a:tc>
                <a:tc>
                  <a:txBody>
                    <a:bodyPr/>
                    <a:lstStyle/>
                    <a:p>
                      <a:r>
                        <a:rPr sz="1125" b="1">
                          <a:solidFill>
                            <a:srgbClr val="FFFFFF"/>
                          </a:solidFill>
                        </a:rPr>
                        <a:t>Pred / 8,767</a:t>
                      </a:r>
                    </a:p>
                  </a:txBody>
                  <a:tcPr marL="91440" marR="91440" marT="45720" marB="45720">
                    <a:solidFill>
                      <a:srgbClr val="25495A"/>
                    </a:solidFill>
                  </a:tcPr>
                </a:tc>
                <a:tc>
                  <a:txBody>
                    <a:bodyPr/>
                    <a:lstStyle/>
                    <a:p>
                      <a:r>
                        <a:rPr sz="1125" b="1">
                          <a:solidFill>
                            <a:srgbClr val="FFFFFF"/>
                          </a:solidFill>
                        </a:rPr>
                        <a:t>Cover</a:t>
                      </a:r>
                    </a:p>
                  </a:txBody>
                  <a:tcPr marL="91440" marR="91440" marT="45720" marB="45720">
                    <a:solidFill>
                      <a:srgbClr val="25495A"/>
                    </a:solidFill>
                  </a:tcPr>
                </a:tc>
                <a:tc>
                  <a:txBody>
                    <a:bodyPr/>
                    <a:lstStyle/>
                    <a:p>
                      <a:r>
                        <a:rPr sz="1125" b="1">
                          <a:solidFill>
                            <a:srgbClr val="FFFFFF"/>
                          </a:solidFill>
                        </a:rPr>
                        <a:t>Output clock</a:t>
                      </a:r>
                    </a:p>
                  </a:txBody>
                  <a:tcPr marL="91440" marR="91440" marT="45720" marB="45720">
                    <a:solidFill>
                      <a:srgbClr val="25495A"/>
                    </a:solidFill>
                  </a:tcPr>
                </a:tc>
              </a:tr>
              <a:tr h="402981">
                <a:tc>
                  <a:txBody>
                    <a:bodyPr/>
                    <a:lstStyle/>
                    <a:p>
                      <a:r>
                        <a:rPr sz="1125" b="0">
                          <a:solidFill>
                            <a:srgbClr val="163444"/>
                          </a:solidFill>
                        </a:rPr>
                        <a:t>Qiskit shot raw</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Shot schedule</a:t>
                      </a:r>
                    </a:p>
                  </a:txBody>
                  <a:tcPr marL="91440" marR="91440" marT="45720" marB="45720">
                    <a:solidFill>
                      <a:srgbClr val="FFFFFF"/>
                    </a:solidFill>
                  </a:tcPr>
                </a:tc>
              </a:tr>
              <a:tr h="402981">
                <a:tc>
                  <a:txBody>
                    <a:bodyPr/>
                    <a:lstStyle/>
                    <a:p>
                      <a:r>
                        <a:rPr sz="1125" b="0">
                          <a:solidFill>
                            <a:srgbClr val="163444"/>
                          </a:solidFill>
                        </a:rPr>
                        <a:t>Qiskit shot 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Qiskit shot log-affine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Hyb 1-circuit raw</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T_eff</a:t>
                      </a:r>
                    </a:p>
                  </a:txBody>
                  <a:tcPr marL="91440" marR="91440" marT="45720" marB="45720">
                    <a:solidFill>
                      <a:srgbClr val="F4F7F8"/>
                    </a:solidFill>
                  </a:tcPr>
                </a:tc>
              </a:tr>
              <a:tr h="402981">
                <a:tc>
                  <a:txBody>
                    <a:bodyPr/>
                    <a:lstStyle/>
                    <a:p>
                      <a:r>
                        <a:rPr sz="1125" b="0">
                          <a:solidFill>
                            <a:srgbClr val="163444"/>
                          </a:solidFill>
                        </a:rPr>
                        <a:t>Hyb 1-circuit affine</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Hyb 1-circuit log-affine</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Hyb shot-linear raw</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Shot-linear cost</a:t>
                      </a:r>
                    </a:p>
                  </a:txBody>
                  <a:tcPr marL="91440" marR="91440" marT="45720" marB="45720">
                    <a:solidFill>
                      <a:srgbClr val="FFFFFF"/>
                    </a:solidFill>
                  </a:tcPr>
                </a:tc>
              </a:tr>
              <a:tr h="402981">
                <a:tc>
                  <a:txBody>
                    <a:bodyPr/>
                    <a:lstStyle/>
                    <a:p>
                      <a:r>
                        <a:rPr sz="1125" b="0">
                          <a:solidFill>
                            <a:srgbClr val="163444"/>
                          </a:solidFill>
                        </a:rPr>
                        <a:t>Hyb shot-linear affine</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Hyb shot-linear log-affine</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Scholten nominal raw</a:t>
                      </a:r>
                    </a:p>
                  </a:txBody>
                  <a:tcPr marL="91440" marR="91440" marT="45720" marB="45720">
                    <a:solidFill>
                      <a:srgbClr val="F4F7F8"/>
                    </a:solidFill>
                  </a:tcPr>
                </a:tc>
                <a:tc>
                  <a:txBody>
                    <a:bodyPr/>
                    <a:lstStyle/>
                    <a:p>
                      <a:r>
                        <a:rPr sz="1125" b="0">
                          <a:solidFill>
                            <a:srgbClr val="163444"/>
                          </a:solidFill>
                        </a:rPr>
                        <a:t>5,769</a:t>
                      </a:r>
                    </a:p>
                  </a:txBody>
                  <a:tcPr marL="91440" marR="91440" marT="45720" marB="45720">
                    <a:solidFill>
                      <a:srgbClr val="F4F7F8"/>
                    </a:solidFill>
                  </a:tcPr>
                </a:tc>
                <a:tc>
                  <a:txBody>
                    <a:bodyPr/>
                    <a:lstStyle/>
                    <a:p>
                      <a:r>
                        <a:rPr sz="1125" b="0">
                          <a:solidFill>
                            <a:srgbClr val="163444"/>
                          </a:solidFill>
                        </a:rPr>
                        <a:t>65.80%</a:t>
                      </a:r>
                    </a:p>
                  </a:txBody>
                  <a:tcPr marL="91440" marR="91440" marT="45720" marB="45720">
                    <a:solidFill>
                      <a:srgbClr val="F4F7F8"/>
                    </a:solidFill>
                  </a:tcPr>
                </a:tc>
                <a:tc>
                  <a:txBody>
                    <a:bodyPr/>
                    <a:lstStyle/>
                    <a:p>
                      <a:r>
                        <a:rPr sz="1125" b="0">
                          <a:solidFill>
                            <a:srgbClr val="163444"/>
                          </a:solidFill>
                        </a:rPr>
                        <a:t>CLOPSv-like</a:t>
                      </a:r>
                    </a:p>
                  </a:txBody>
                  <a:tcPr marL="91440" marR="91440" marT="45720" marB="45720">
                    <a:solidFill>
                      <a:srgbClr val="F4F7F8"/>
                    </a:solidFill>
                  </a:tcPr>
                </a:tc>
              </a:tr>
              <a:tr h="402981">
                <a:tc>
                  <a:txBody>
                    <a:bodyPr/>
                    <a:lstStyle/>
                    <a:p>
                      <a:r>
                        <a:rPr sz="1125" b="0">
                          <a:solidFill>
                            <a:srgbClr val="163444"/>
                          </a:solidFill>
                        </a:rPr>
                        <a:t>Scholten affine</a:t>
                      </a:r>
                    </a:p>
                  </a:txBody>
                  <a:tcPr marL="91440" marR="91440" marT="45720" marB="45720">
                    <a:solidFill>
                      <a:srgbClr val="FFFFFF"/>
                    </a:solidFill>
                  </a:tcPr>
                </a:tc>
                <a:tc>
                  <a:txBody>
                    <a:bodyPr/>
                    <a:lstStyle/>
                    <a:p>
                      <a:r>
                        <a:rPr sz="1125" b="0">
                          <a:solidFill>
                            <a:srgbClr val="163444"/>
                          </a:solidFill>
                        </a:rPr>
                        <a:t>5,769</a:t>
                      </a:r>
                    </a:p>
                  </a:txBody>
                  <a:tcPr marL="91440" marR="91440" marT="45720" marB="45720">
                    <a:solidFill>
                      <a:srgbClr val="FFFFFF"/>
                    </a:solidFill>
                  </a:tcPr>
                </a:tc>
                <a:tc>
                  <a:txBody>
                    <a:bodyPr/>
                    <a:lstStyle/>
                    <a:p>
                      <a:r>
                        <a:rPr sz="1125" b="0">
                          <a:solidFill>
                            <a:srgbClr val="163444"/>
                          </a:solidFill>
                        </a:rPr>
                        <a:t>65.80%</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Scholten log-affine</a:t>
                      </a:r>
                    </a:p>
                  </a:txBody>
                  <a:tcPr marL="91440" marR="91440" marT="45720" marB="45720">
                    <a:solidFill>
                      <a:srgbClr val="F4F7F8"/>
                    </a:solidFill>
                  </a:tcPr>
                </a:tc>
                <a:tc>
                  <a:txBody>
                    <a:bodyPr/>
                    <a:lstStyle/>
                    <a:p>
                      <a:r>
                        <a:rPr sz="1125" b="0">
                          <a:solidFill>
                            <a:srgbClr val="163444"/>
                          </a:solidFill>
                        </a:rPr>
                        <a:t>5,769</a:t>
                      </a:r>
                    </a:p>
                  </a:txBody>
                  <a:tcPr marL="91440" marR="91440" marT="45720" marB="45720">
                    <a:solidFill>
                      <a:srgbClr val="F4F7F8"/>
                    </a:solidFill>
                  </a:tcPr>
                </a:tc>
                <a:tc>
                  <a:txBody>
                    <a:bodyPr/>
                    <a:lstStyle/>
                    <a:p>
                      <a:r>
                        <a:rPr sz="1125" b="0">
                          <a:solidFill>
                            <a:srgbClr val="163444"/>
                          </a:solidFill>
                        </a:rPr>
                        <a:t>65.80%</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bl>
          </a:graphicData>
        </a:graphic>
      </p:graphicFrame>
    </p:spTree>
    <p:extLst>
      <p:ext uri="{BB962C8B-B14F-4D97-AF65-F5344CB8AC3E}">
        <p14:creationId xmlns:p14="http://schemas.microsoft.com/office/powerpoint/2010/main" val="16981036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2026-10-01T21:01:22.9730000Z</dcterms:created>
  <dcterms:modified xsi:type="dcterms:W3CDTF">2026-10-01T21:01:22.9730000Z</dcterms:modified>
</coreProperties>
</file>
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bffd8a37714b3c" /><Relationship Type="http://schemas.openxmlformats.org/officeDocument/2006/relationships/extended-properties" Target="/docProps/app.xml" Id="R23c17dc826a24c97" /><Relationship Type="http://schemas.openxmlformats.org/officeDocument/2006/relationships/officeDocument" Target="/ppt/presentation.xml" Id="R40f50b5921ab4395" /></Relationships>
</file>

<file path=ppt/presentation.xml><?xml version="1.0" encoding="utf-8"?>
<p:presentation xmlns:p="http://schemas.openxmlformats.org/presentationml/2006/main">
  <p:sldMasterIdLst>
    <p:sldMasterId xmlns:r="http://schemas.openxmlformats.org/officeDocument/2006/relationships" id="2147483648" r:id="Rc2cb52ae32104ed8"/>
  </p:sldMasterIdLst>
  <p:notesMasterIdLst>
    <p:notesMasterId xmlns:r="http://schemas.openxmlformats.org/officeDocument/2006/relationships" r:id="Rbbb3278cf8914147"/>
  </p:notesMasterIdLst>
  <p:sldIdLst>
    <p:sldId xmlns:r="http://schemas.openxmlformats.org/officeDocument/2006/relationships" id="256" r:id="Re71a963bb15c48ad"/>
    <p:sldId xmlns:r="http://schemas.openxmlformats.org/officeDocument/2006/relationships" id="257" r:id="R9949063b93964069"/>
    <p:sldId xmlns:r="http://schemas.openxmlformats.org/officeDocument/2006/relationships" id="258" r:id="Rc194dc23dbf5488f"/>
    <p:sldId xmlns:r="http://schemas.openxmlformats.org/officeDocument/2006/relationships" id="259" r:id="R6496dd7039cd40db"/>
    <p:sldId xmlns:r="http://schemas.openxmlformats.org/officeDocument/2006/relationships" id="260" r:id="Raba33aa8592f4bac"/>
    <p:sldId xmlns:r="http://schemas.openxmlformats.org/officeDocument/2006/relationships" id="261" r:id="Rdcf6ebe567e842d1"/>
    <p:sldId xmlns:r="http://schemas.openxmlformats.org/officeDocument/2006/relationships" id="262" r:id="R45d6da22f3a2422a"/>
    <p:sldId xmlns:r="http://schemas.openxmlformats.org/officeDocument/2006/relationships" id="263" r:id="Rc7b5e08fec434e66"/>
    <p:sldId xmlns:r="http://schemas.openxmlformats.org/officeDocument/2006/relationships" id="264" r:id="R757045f2abec4eec"/>
    <p:sldId xmlns:r="http://schemas.openxmlformats.org/officeDocument/2006/relationships" id="265" r:id="Rf03f4fbc8c4c4fa3"/>
    <p:sldId xmlns:r="http://schemas.openxmlformats.org/officeDocument/2006/relationships" id="266" r:id="R2e868468409e4852"/>
    <p:sldId xmlns:r="http://schemas.openxmlformats.org/officeDocument/2006/relationships" id="267" r:id="R021045b5590843c7"/>
    <p:sldId xmlns:r="http://schemas.openxmlformats.org/officeDocument/2006/relationships" id="268" r:id="R382fd879263c481d"/>
    <p:sldId xmlns:r="http://schemas.openxmlformats.org/officeDocument/2006/relationships" id="269" r:id="R78084b22119b4b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9daf0db9794e40" /><Relationship Type="http://schemas.openxmlformats.org/officeDocument/2006/relationships/slideMaster" Target="/ppt/slideMasters/slideMaster1.xml" Id="Rc2cb52ae32104ed8" /><Relationship Type="http://schemas.openxmlformats.org/officeDocument/2006/relationships/notesMaster" Target="/ppt/notesMasters/notesMaster1.xml" Id="Rbbb3278cf8914147" /><Relationship Type="http://schemas.openxmlformats.org/officeDocument/2006/relationships/presProps" Target="/ppt/presProps.xml" Id="R3c2b6f2a6c5849c6" /><Relationship Type="http://schemas.openxmlformats.org/officeDocument/2006/relationships/tableStyles" Target="/ppt/tableStyles.xml" Id="R4604f5361adc493d" /><Relationship Type="http://schemas.openxmlformats.org/officeDocument/2006/relationships/slide" Target="/ppt/slides/slide1.xml" Id="Re71a963bb15c48ad" /><Relationship Type="http://schemas.openxmlformats.org/officeDocument/2006/relationships/slide" Target="/ppt/slides/slide2.xml" Id="R9949063b93964069" /><Relationship Type="http://schemas.openxmlformats.org/officeDocument/2006/relationships/slide" Target="/ppt/slides/slide3.xml" Id="Rc194dc23dbf5488f" /><Relationship Type="http://schemas.openxmlformats.org/officeDocument/2006/relationships/slide" Target="/ppt/slides/slide4.xml" Id="R6496dd7039cd40db" /><Relationship Type="http://schemas.openxmlformats.org/officeDocument/2006/relationships/slide" Target="/ppt/slides/slide5.xml" Id="Raba33aa8592f4bac" /><Relationship Type="http://schemas.openxmlformats.org/officeDocument/2006/relationships/slide" Target="/ppt/slides/slide6.xml" Id="Rdcf6ebe567e842d1" /><Relationship Type="http://schemas.openxmlformats.org/officeDocument/2006/relationships/slide" Target="/ppt/slides/slide7.xml" Id="R45d6da22f3a2422a" /><Relationship Type="http://schemas.openxmlformats.org/officeDocument/2006/relationships/slide" Target="/ppt/slides/slide8.xml" Id="Rc7b5e08fec434e66" /><Relationship Type="http://schemas.openxmlformats.org/officeDocument/2006/relationships/slide" Target="/ppt/slides/slide9.xml" Id="R757045f2abec4eec" /><Relationship Type="http://schemas.openxmlformats.org/officeDocument/2006/relationships/slide" Target="/ppt/slides/slide10.xml" Id="Rf03f4fbc8c4c4fa3" /><Relationship Type="http://schemas.openxmlformats.org/officeDocument/2006/relationships/slide" Target="/ppt/slides/slide11.xml" Id="R2e868468409e4852" /><Relationship Type="http://schemas.openxmlformats.org/officeDocument/2006/relationships/slide" Target="/ppt/slides/slide12.xml" Id="R021045b5590843c7" /><Relationship Type="http://schemas.openxmlformats.org/officeDocument/2006/relationships/slide" Target="/ppt/slides/slide13.xml" Id="R382fd879263c481d" /><Relationship Type="http://schemas.openxmlformats.org/officeDocument/2006/relationships/slide" Target="/ppt/slides/slide14.xml" Id="R78084b22119b4b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5d51897d8547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4126978d8848e7" /><Relationship Type="http://schemas.openxmlformats.org/officeDocument/2006/relationships/notesMaster" Target="/ppt/notesMasters/notesMaster1.xml" Id="Ra6ac6a571e2d48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3ea5fb24dd4067" /><Relationship Type="http://schemas.openxmlformats.org/officeDocument/2006/relationships/notesMaster" Target="/ppt/notesMasters/notesMaster1.xml" Id="Rb1835288f7c44d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e4e7461d9648d2" /><Relationship Type="http://schemas.openxmlformats.org/officeDocument/2006/relationships/notesMaster" Target="/ppt/notesMasters/notesMaster1.xml" Id="Rea0c9435e11c43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abea74e4fb486a" /><Relationship Type="http://schemas.openxmlformats.org/officeDocument/2006/relationships/notesMaster" Target="/ppt/notesMasters/notesMaster1.xml" Id="Rd828e8e4a52045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09f6b561ba4c8d" /><Relationship Type="http://schemas.openxmlformats.org/officeDocument/2006/relationships/notesMaster" Target="/ppt/notesMasters/notesMaster1.xml" Id="Re987d2951a3545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413b57d4944e64" /><Relationship Type="http://schemas.openxmlformats.org/officeDocument/2006/relationships/notesMaster" Target="/ppt/notesMasters/notesMaster1.xml" Id="R13d7656941d94d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66bda7251e49da" /><Relationship Type="http://schemas.openxmlformats.org/officeDocument/2006/relationships/notesMaster" Target="/ppt/notesMasters/notesMaster1.xml" Id="Rac73afb56bba4a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98c62de5734f43" /><Relationship Type="http://schemas.openxmlformats.org/officeDocument/2006/relationships/notesMaster" Target="/ppt/notesMasters/notesMaster1.xml" Id="R1d7c4f797c6b4a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c0a21ce2d547cb" /><Relationship Type="http://schemas.openxmlformats.org/officeDocument/2006/relationships/notesMaster" Target="/ppt/notesMasters/notesMaster1.xml" Id="R2d4f48f6a3aa42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8f4a535ad343a5" /><Relationship Type="http://schemas.openxmlformats.org/officeDocument/2006/relationships/notesMaster" Target="/ppt/notesMasters/notesMaster1.xml" Id="Rcd2c17ce88c440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87eb0a17044ab7" /><Relationship Type="http://schemas.openxmlformats.org/officeDocument/2006/relationships/notesMaster" Target="/ppt/notesMasters/notesMaster1.xml" Id="Rd466cea0b4cf49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38e1f2fcb840ac" /><Relationship Type="http://schemas.openxmlformats.org/officeDocument/2006/relationships/notesMaster" Target="/ppt/notesMasters/notesMaster1.xml" Id="Rdf4422b25b6a4e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9c66f01d9d406c" /><Relationship Type="http://schemas.openxmlformats.org/officeDocument/2006/relationships/notesMaster" Target="/ppt/notesMasters/notesMaster1.xml" Id="R2b6f4421c0374c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7acc45f71c4758" /><Relationship Type="http://schemas.openxmlformats.org/officeDocument/2006/relationships/notesMaster" Target="/ppt/notesMasters/notesMaster1.xml" Id="R695eaae93d3145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benchmark nội bộ, khoảng 10 phút.</a:t>
            </a:r>
          </a:p>
          <a:p xmlns:a="http://schemas.openxmlformats.org/drawingml/2006/main">
            <a:r>
              <a:t>Evidence: artifacts/benchmark_v1/results/benchmark_summary/two_domain_scorecard_v3/REPORT.md</a:t>
            </a:r>
          </a:p>
          <a:p xmlns:a="http://schemas.openxmlformats.org/drawingml/2006/main">
            <a:r>
              <a:t>Brief authority: docs/presentation.md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artifacts/benchmark_v1/results/benchmark_summary/two_domain_scorecard_v3/REPORT.md</a:t>
            </a:r>
          </a:p>
          <a:p xmlns:a="http://schemas.openxmlformats.org/drawingml/2006/main">
            <a:r>
              <a:t>Chi tiết QPU: artifacts/benchmark_v1/results/benchmark_summary/two_domain_scorecard_v3/qpu/archived_method_coverage.csv</a:t>
            </a:r>
          </a:p>
          <a:p xmlns:a="http://schemas.openxmlformats.org/drawingml/2006/main">
            <a:r>
              <a:t>Panel simulator: artifacts/benchmark_v1/results/benchmark_summary/two_domain_scorecard_v3/simulator/common_exact_qasm_panel.csv</a:t>
            </a:r>
          </a:p>
          <a:p xmlns:a="http://schemas.openxmlformats.org/drawingml/2006/main">
            <a:r>
              <a:t>QPU nguồn có 340 Ma–Li, 4.482 Qonductor và 3.945 QPack observations. Simulator gồm 204 members, 191 exact hashes, 162 core và 42 frontier. QPU observed service, QPU scheduled duration và local simulator execution là các clock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docs/presentation.md</a:t>
            </a:r>
          </a:p>
          <a:p xmlns:a="http://schemas.openxmlformats.org/drawingml/2006/main">
            <a:r>
              <a:t>Scorecard authority: artifacts/benchmark_v1/results/benchmark_summary/two_domain_scorecard_v3/manifest.json</a:t>
            </a:r>
          </a:p>
          <a:p xmlns:a="http://schemas.openxmlformats.org/drawingml/2006/main">
            <a:r>
              <a:t>QPU coverage denominator: artifacts/benchmark_v1/results/benchmark_summary/two_domain_scorecard_v3/qpu/archived_method_coverage.csv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scope: artifacts/benchmark_v1/results/benchmark_summary/two_domain_scorecard_v3/method_scope.csv</a:t>
            </a:r>
          </a:p>
          <a:p xmlns:a="http://schemas.openxmlformats.org/drawingml/2006/main">
            <a:r>
              <a:t>QPU coverage table: artifacts/benchmark_v1/results/benchmark_summary/two_domain_scorecard_v3/qpu/archived_method_coverage.csv</a:t>
            </a:r>
          </a:p>
          <a:p xmlns:a="http://schemas.openxmlformats.org/drawingml/2006/main">
            <a:r>
              <a:t>Full 24-variant detail: presentations/figures/fig2_qpu_prediction_coverage.png; metadata in presentations/figures/README.md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presentations/figures/fig1_qpu_paired_mae_by_source.png</a:t>
            </a:r>
          </a:p>
          <a:p xmlns:a="http://schemas.openxmlformats.org/drawingml/2006/main">
            <a:r>
              <a:t>Figure caption/metadata: presentations/figures/README.md</a:t>
            </a:r>
          </a:p>
          <a:p xmlns:a="http://schemas.openxmlformats.org/drawingml/2006/main">
            <a:r>
              <a:t>Source table: artifacts/benchmark_v1/results/benchmark_summary/two_domain_scorecard_v3/qpu/archived_method_pairwise_comparisons.csv</a:t>
            </a:r>
          </a:p>
          <a:p xmlns:a="http://schemas.openxmlformats.org/drawingml/2006/main">
            <a:r>
              <a:t>Comparison: candidate_method_id=mali_graph_architecture_v3_large; reference_method_id=unified_polynomial_v3. Units: seconds of MAE difference, graph minus polynomial. Evaluation target: archived observed service/execution time. Shared-row hashes in source order: Ma–Li 3ad175f3b2cf88f52f9f0dedd404684fbff696b2d776f8d55538083dcdeac8e7; Qonductor a785df4abc98e96ad899bdf4f53837806715232d440bc620de74b88639c74655; QPack d8f5438afbc5179bc99a96672022627411c6d6ead8597fcee6b9abbe383a36d7. Ma–Li interval crosses zero. Qonductor graph coverage is asymmetric because row4477 is unavailable. This is paired descriptive evidence, not primary superiority on 4,482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metrics: artifacts/benchmark_v1/results/benchmark_summary/two_domain_scorecard_v3/qpu/archived_method_source_metrics.csv</a:t>
            </a:r>
          </a:p>
          <a:p xmlns:a="http://schemas.openxmlformats.org/drawingml/2006/main">
            <a:r>
              <a:t>Unified pairwise results: artifacts/benchmark_v1/results/benchmark_summary/two_domain_scorecard_v3/qpu/archived_method_pairwise_comparisons.csv</a:t>
            </a:r>
          </a:p>
          <a:p xmlns:a="http://schemas.openxmlformats.org/drawingml/2006/main">
            <a:r>
              <a:t>Limitations: docs/presentation.md</a:t>
            </a:r>
          </a:p>
          <a:p xmlns:a="http://schemas.openxmlformats.org/drawingml/2006/main">
            <a:r>
              <a:t>QPack slice is row-weighted for the primary displayed MAE and R². Equal-workflow MAE is a diagnostic over 46 workflows. Six templates recur across multiple workflows; workflow holdout does not mean unseen-template validation. Negative R² means squared error exceeds that of the test-set mean reference, which is not a deployable baseline fitted from test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coverage: artifacts/benchmark_v1/results/benchmark_summary/two_domain_scorecard_v3/qpu/archived_method_coverage.csv</a:t>
            </a:r>
          </a:p>
          <a:p xmlns:a="http://schemas.openxmlformats.org/drawingml/2006/main">
            <a:r>
              <a:t>Method scope: artifacts/benchmark_v1/results/benchmark_summary/two_domain_scorecard_v3/method_scope.csv</a:t>
            </a:r>
          </a:p>
          <a:p xmlns:a="http://schemas.openxmlformats.org/drawingml/2006/main">
            <a:r>
              <a:t>Source notes: docs/presentation.md</a:t>
            </a:r>
          </a:p>
          <a:p xmlns:a="http://schemas.openxmlformats.org/drawingml/2006/main">
            <a:r>
              <a:t>QCRE critical path and Qiskit estimate_duration outputs are scheduled single-shot proxies, not provider service/execution times. Their equality under the same Target is a cross-check, not two independent wins. Shot scaling and outer-train-only affine/log-affine calibration are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Aer figure: presentations/figures_v2/fig1_aer_paired_predictor_contrasts.png</a:t>
            </a:r>
          </a:p>
          <a:p xmlns:a="http://schemas.openxmlformats.org/drawingml/2006/main">
            <a:r>
              <a:t>Figure evidence/captions: presentations/figures_v2/README.md</a:t>
            </a:r>
          </a:p>
          <a:p xmlns:a="http://schemas.openxmlformats.org/drawingml/2006/main">
            <a:r>
              <a:t>E6 aggregate and method cards: artifacts/benchmark_v3/simulator/predictive_runtime_aggregate_v1/aggregate_manifest.json</a:t>
            </a:r>
          </a:p>
          <a:p xmlns:a="http://schemas.openxmlformats.org/drawingml/2006/main">
            <a:r>
              <a:t>Target: noisy Aer warm execution on the same 150 exact-QASM hashes. Source/hybrid/transpiled GNN MAE 0.4497/0.4064/0.3008 s; transpiled XGBoost 0.2970 s. Paired delta GNN−XGBoost +0.0037 s, 95% pointwise hash-bootstrap CI [−0.1726,+0.1324], unresolved. Three-seed median predictions, five frozen outer folds. Intervals are exploratory and conditional on fits. Local FakeSherbrooke/Opt1 adaptation, not full Azizov-paper reproduction.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MPS figure: presentations/figures_v2/fig2_mps_paired_predictor_contrasts.png</a:t>
            </a:r>
          </a:p>
          <a:p xmlns:a="http://schemas.openxmlformats.org/drawingml/2006/main">
            <a:r>
              <a:t>Figure evidence/captions: presentations/figures_v2/README.md</a:t>
            </a:r>
          </a:p>
          <a:p xmlns:a="http://schemas.openxmlformats.org/drawingml/2006/main">
            <a:r>
              <a:t>E6 aggregate and method cards: artifacts/benchmark_v3/simulator/predictive_runtime_aggregate_v1/aggregate_manifest.json</a:t>
            </a:r>
          </a:p>
          <a:p xmlns:a="http://schemas.openxmlformats.org/drawingml/2006/main">
            <a:r>
              <a:t>Target: CUDA-Q MPS FP64 bond=16 warm-state execution. Assigned n=150 exact-QASM hashes; 144 finite labels, 142 quality-pass. Graph MAE 0.3024 s on finite labels and 0.3037 s on quality-pass; max quality-pass error 25.0964 s. Family residual−matched family-agnostic ablation MAE difference −0.0804 s, 95% pointwise hash-bootstrap CI [−0.2852,+0.0804], crosses zero. Runtime-only adaptation, not original joint approximation/runtime method. Intervals are exploratory and conditional on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presentations/figures/fig4_maestro_pilot_timing_spread.png</a:t>
            </a:r>
          </a:p>
          <a:p xmlns:a="http://schemas.openxmlformats.org/drawingml/2006/main">
            <a:r>
              <a:t>Figure caption/metadata: presentations/figures/README.md</a:t>
            </a:r>
          </a:p>
          <a:p xmlns:a="http://schemas.openxmlformats.org/drawingml/2006/main">
            <a:r>
              <a:t>Canonical pilot summary: artifacts/benchmark_v1/results/benchmark_summary/two_domain_scorecard_v3/simulator/maestro_pilot_summary.csv</a:t>
            </a:r>
          </a:p>
          <a:p xmlns:a="http://schemas.openxmlformats.org/drawingml/2006/main">
            <a:r>
              <a:t>Scope brief: docs/presentation.md</a:t>
            </a:r>
          </a:p>
          <a:p xmlns:a="http://schemas.openxmlformats.org/drawingml/2006/main">
            <a:r>
              <a:t>Clock: maestro_qcsim_process_isolated_reported_execution. Fresh process per timing call; do not call these persistent-process warm measurements. Pilot terminal status: pilot_gate_failed; no resume. The 15 reported values belong to one statevector n=16, one-qubit noncommuting, R=256 cell and range from 0.014905151 s to 7.355305934 s. MPS n=12/chi=32 session medians: 0.033975028 / 0.033144007 / 0.035826843 s. Cause of variation is unknown; do not attribute it to threading, hardware, or algorithm. No panel attempt or predictor accuracy score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Scorecard: artifacts/benchmark_v1/results/benchmark_summary/two_domain_scorecard_v3/REPORT.md</a:t>
            </a:r>
          </a:p>
          <a:p xmlns:a="http://schemas.openxmlformats.org/drawingml/2006/main">
            <a:r>
              <a:t>Method scope: artifacts/benchmark_v1/results/benchmark_summary/two_domain_scorecard_v3/method_scope.csv</a:t>
            </a:r>
          </a:p>
          <a:p xmlns:a="http://schemas.openxmlformats.org/drawingml/2006/main">
            <a:r>
              <a:t>Presentation brief: docs/presentation.md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Scorecard scope disclosures: artifacts/benchmark_v1/results/benchmark_summary/two_domain_scorecard_v3/REPORT.md</a:t>
            </a:r>
          </a:p>
          <a:p xmlns:a="http://schemas.openxmlformats.org/drawingml/2006/main">
            <a:r>
              <a:t>Method cards: artifacts/benchmark_v1/results/benchmark_summary/two_domain_scorecard_v3/method_scope.csv</a:t>
            </a:r>
          </a:p>
          <a:p xmlns:a="http://schemas.openxmlformats.org/drawingml/2006/main">
            <a:r>
              <a:t>Representation protocol: benchmark_v1/decisions/circuit_representation_v3.md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Scorecard: artifacts/benchmark_v1/results/benchmark_summary/two_domain_scorecard_v3/REPORT.md</a:t>
            </a:r>
          </a:p>
          <a:p xmlns:a="http://schemas.openxmlformats.org/drawingml/2006/main">
            <a:r>
              <a:t>QPU clock coverage: artifacts/benchmark_v1/results/benchmark_summary/two_domain_scorecard_v3/qpu/archived_method_coverage.csv</a:t>
            </a:r>
          </a:p>
          <a:p xmlns:a="http://schemas.openxmlformats.org/drawingml/2006/main">
            <a:r>
              <a:t>Simulator availability: artifacts/benchmark_v1/results/benchmark_summary/two_domain_scorecard_v3/simulator/availability_matrix.csv</a:t>
            </a:r>
          </a:p>
          <a:p xmlns:a="http://schemas.openxmlformats.org/drawingml/2006/main">
            <a:r>
              <a:t>Simulator configuration metrics: artifacts/benchmark_v1/results/benchmark_summary/two_domain_scorecard_v3/simulator/per_configuration_metrics.csv</a:t>
            </a:r>
          </a:p>
          <a:p xmlns:a="http://schemas.openxmlformats.org/drawingml/2006/main">
            <a:r>
              <a:t>Maestro pilot: artifacts/benchmark_v1/results/benchmark_summary/two_domain_scorecard_v3/simulator/maestro_pilot_summary.csv</a:t>
            </a:r>
          </a:p>
          <a:p xmlns:a="http://schemas.openxmlformats.org/drawingml/2006/main">
            <a:r>
              <a:t>Package README: docs/reproduction.md</a:t>
            </a:r>
          </a:p>
          <a:p xmlns:a="http://schemas.openxmlformats.org/drawingml/2006/main">
            <a:r>
              <a:t>Report authority: benchmark_v1/execution/manifests/report_finalization.json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coverage figure (companion): presentations/figures/fig2_qpu_prediction_coverage.png</a:t>
            </a:r>
          </a:p>
          <a:p xmlns:a="http://schemas.openxmlformats.org/drawingml/2006/main">
            <a:r>
              <a:t>Figure SHA-256: d8dc1661d0bd415eda6c33f8bcad935eb4fed424b832504a138b89225c20f365</a:t>
            </a:r>
          </a:p>
          <a:p xmlns:a="http://schemas.openxmlformats.org/drawingml/2006/main">
            <a:r>
              <a:t>Readable native table source: artifacts/benchmark_v1/results/benchmark_summary/two_domain_scorecard_v3/qpu/archived_method_coverage.csv</a:t>
            </a:r>
          </a:p>
          <a:p xmlns:a="http://schemas.openxmlformats.org/drawingml/2006/main">
            <a:r>
              <a:t>Source table SHA-256: ee408a85b5fef378103a2ada6709c791f9e66a8db192e15445bdd6e9803aa915</a:t>
            </a:r>
          </a:p>
          <a:p xmlns:a="http://schemas.openxmlformats.org/drawingml/2006/main">
            <a:r>
              <a:t>Scorecard manifest: artifacts/benchmark_v1/results/benchmark_summary/two_domain_scorecard_v3/manifest.json</a:t>
            </a:r>
          </a:p>
          <a:p xmlns:a="http://schemas.openxmlformats.org/drawingml/2006/main">
            <a:r>
              <a:t>Exact row set: all 24 method_id rows in archived_method_coverage.csv; assigned denominator 8,767 per row. Predicted counts and coverage percentages reproduce the source table. Method-output clock labels are abbreviated in the table: service=archived observed service; cal. service=outer-train calibrated observed service; sched.=scheduled duration; T_eff=one-circuit effective cost. Coverage only, not accuracy; method clocks and fidelity differ, so rows are not ranked.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64454367d640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a059f0dcbf45ce" /><Relationship Type="http://schemas.openxmlformats.org/officeDocument/2006/relationships/slideLayout" Target="/ppt/slideLayouts/slideLayout1.xml" Id="R48fcb26d34ef44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fcb26d34ef44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163b919fab4364" /><Relationship Type="http://schemas.openxmlformats.org/officeDocument/2006/relationships/notesSlide" Target="/ppt/notesSlides/notesSlide1.xml" Id="R20f678d3e91d41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65f5a82d2643d8" /><Relationship Type="http://schemas.openxmlformats.org/officeDocument/2006/relationships/notesSlide" Target="/ppt/notesSlides/notesSlide2.xml" Id="R25fa370056f64e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973cd8beef4f23" /><Relationship Type="http://schemas.openxmlformats.org/officeDocument/2006/relationships/notesSlide" Target="/ppt/notesSlides/notesSlide3.xml" Id="Rdb4bebfea2c542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a6869fef4542d9" /><Relationship Type="http://schemas.openxmlformats.org/officeDocument/2006/relationships/notesSlide" Target="/ppt/notesSlides/notesSlide4.xml" Id="R13e7b8c452a041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51646ae71f4e30" /><Relationship Type="http://schemas.openxmlformats.org/officeDocument/2006/relationships/image" Target="/ppt/media/image.png" Id="R1bfe7105f7f547be" /><Relationship Type="http://schemas.openxmlformats.org/officeDocument/2006/relationships/notesSlide" Target="/ppt/notesSlides/notesSlide5.xml" Id="Rc9442a28807344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bcc38fe0a0446c" /><Relationship Type="http://schemas.openxmlformats.org/officeDocument/2006/relationships/chart" Target="/ppt/slides/charts/chart1.xml" Id="R05cc9dea25a1445a" /><Relationship Type="http://schemas.openxmlformats.org/officeDocument/2006/relationships/notesSlide" Target="/ppt/notesSlides/notesSlide6.xml" Id="Rb59ed4322b8649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f1fbcfed9e4ccb" /><Relationship Type="http://schemas.openxmlformats.org/officeDocument/2006/relationships/notesSlide" Target="/ppt/notesSlides/notesSlide7.xml" Id="R967775777c7847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84ae747f774e54" /><Relationship Type="http://schemas.openxmlformats.org/officeDocument/2006/relationships/image" Target="/ppt/media/image2.png" Id="R8496a3b75ec944c2" /><Relationship Type="http://schemas.openxmlformats.org/officeDocument/2006/relationships/notesSlide" Target="/ppt/notesSlides/notesSlide8.xml" Id="Ree160d35030943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6b30204f324164" /><Relationship Type="http://schemas.openxmlformats.org/officeDocument/2006/relationships/image" Target="/ppt/media/image3.png" Id="R6a1eb9cca3c44966" /><Relationship Type="http://schemas.openxmlformats.org/officeDocument/2006/relationships/notesSlide" Target="/ppt/notesSlides/notesSlide9.xml" Id="R3381969a8a9b43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00cde393722420c" /><Relationship Type="http://schemas.openxmlformats.org/officeDocument/2006/relationships/image" Target="/ppt/media/image4.png" Id="R06326aa646fc42c9" /><Relationship Type="http://schemas.openxmlformats.org/officeDocument/2006/relationships/notesSlide" Target="/ppt/notesSlides/notesSlide10.xml" Id="R614490a3a44242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9d924009d7463e" /><Relationship Type="http://schemas.openxmlformats.org/officeDocument/2006/relationships/notesSlide" Target="/ppt/notesSlides/notesSlide11.xml" Id="Rafbe13d2064049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2b46f0cb98429a" /><Relationship Type="http://schemas.openxmlformats.org/officeDocument/2006/relationships/notesSlide" Target="/ppt/notesSlides/notesSlide12.xml" Id="Rb3da9b7f1b2a49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0d951192a75419a" /><Relationship Type="http://schemas.openxmlformats.org/officeDocument/2006/relationships/notesSlide" Target="/ppt/notesSlides/notesSlide13.xml" Id="R3793acec548841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99168e311b04772" /><Relationship Type="http://schemas.openxmlformats.org/officeDocument/2006/relationships/notesSlide" Target="/ppt/notesSlides/notesSlide14.xml" Id="R539667fc8697414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MAE (s)</c:v>
          </c:tx>
          <c:spPr>
            <a:solidFill xmlns:a="http://schemas.openxmlformats.org/drawingml/2006/main">
              <a:srgbClr val="007F78"/>
            </a:solidFill>
          </c:spPr>
          <c:cat>
            <c:strRef>
              <c:f>'Chart Data'!$A$2:$A$3</c:f>
              <c:strCache>
                <c:ptCount val="2"/>
                <c:pt idx="0">
                  <c:v>Graph V3-large</c:v>
                </c:pt>
                <c:pt idx="1">
                  <c:v>Polynomial</c:v>
                </c:pt>
              </c:strCache>
            </c:strRef>
          </c:cat>
          <c:val>
            <c:numRef>
              <c:f>'Chart Data'!$B$2:$B$3</c:f>
              <c:numCache>
                <c:formatCode>General</c:formatCode>
                <c:ptCount val="2"/>
                <c:pt idx="0">
                  <c:v>0.943547</c:v>
                </c:pt>
                <c:pt idx="1">
                  <c:v>1.221289</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63444"/>
                  </a:solidFill>
                  <a:latin typeface="Noto Sans"/>
                  <a:ea typeface="Noto Sans"/>
                  <a:cs typeface="Noto San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CBD6DA"/>
              </a:solidFill>
              <a:prstDash val="solid"/>
            </a:ln>
          </c:spPr>
        </c:majorGridlines>
        <c:title>
          <c:tx>
            <c:rich>
              <a:bodyPr xmlns:a="http://schemas.openxmlformats.org/drawingml/2006/main"/>
              <a:lstStyle xmlns:a="http://schemas.openxmlformats.org/drawingml/2006/main"/>
              <a:p xmlns:a="http://schemas.openxmlformats.org/drawingml/2006/main">
                <a:r>
                  <a:rPr>
                    <a:latin typeface="Noto Sans"/>
                    <a:ea typeface="Noto Sans"/>
                    <a:cs typeface="Noto Sans"/>
                  </a:rPr>
                  <a:t>Seconds</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a:ea typeface="Noto Sans"/>
                <a:cs typeface="Noto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63444"/>
                </a:solidFill>
                <a:latin typeface="Noto Sans"/>
                <a:ea typeface="Noto Sans"/>
                <a:cs typeface="Noto San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173A70-5325-4401-8F9D-297C5FEDF03C}"/>
              </a:ext>
            </a:extLst>
          </p:cNvPr>
          <p:cNvSpPr>
            <a:spLocks xmlns:a="http://schemas.openxmlformats.org/drawingml/2006/main" noGrp="1"/>
          </p:cNvSpPr>
          <p:nvPr/>
        </p:nvSpPr>
        <p:spPr>
          <a:xfrm xmlns:a="http://schemas.openxmlformats.org/drawingml/2006/main">
            <a:off x="704850" y="109537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63444"/>
                </a:solidFill>
                <a:latin typeface="Noto Sans"/>
                <a:ea typeface="Noto Sans"/>
                <a:cs typeface="Noto Sans"/>
              </a:defRPr>
            </a:pPr>
            <a:r>
              <a:rPr sz="4500" b="1">
                <a:solidFill>
                  <a:srgbClr val="163444"/>
                </a:solidFill>
                <a:latin typeface="Noto Sans"/>
                <a:ea typeface="Noto Sans"/>
                <a:cs typeface="Noto Sans"/>
              </a:rPr>
              <a:t>Ước lượng runtime lượng tử</a:t>
            </a:r>
          </a:p>
        </p:txBody>
      </p:sp>
      <p:sp>
        <p:nvSpPr>
          <p:cNvPr id="2" name="">
            <a:extLst xmlns:a="http://schemas.openxmlformats.org/drawingml/2006/main">
              <a:ext uri="{FF2B5EF4-FFF2-40B4-BE49-F238E27FC236}">
                <a16:creationId xmlns:a16="http://schemas.microsoft.com/office/drawing/2014/main" id="{6F5624F4-DE99-41D4-8B7C-51A497E948D7}"/>
              </a:ext>
            </a:extLst>
          </p:cNvPr>
          <p:cNvSpPr>
            <a:spLocks xmlns:a="http://schemas.openxmlformats.org/drawingml/2006/main" noGrp="1"/>
          </p:cNvSpPr>
          <p:nvPr/>
        </p:nvSpPr>
        <p:spPr>
          <a:xfrm xmlns:a="http://schemas.openxmlformats.org/drawingml/2006/main">
            <a:off x="742950" y="211455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a:solidFill>
                  <a:srgbClr val="007F78"/>
                </a:solidFill>
                <a:latin typeface="Noto Sans"/>
                <a:ea typeface="Noto Sans"/>
                <a:cs typeface="Noto Sans"/>
              </a:defRPr>
            </a:pPr>
            <a:r>
              <a:rPr sz="2400">
                <a:solidFill>
                  <a:srgbClr val="007F78"/>
                </a:solidFill>
                <a:latin typeface="Noto Sans"/>
                <a:ea typeface="Noto Sans"/>
                <a:cs typeface="Noto Sans"/>
              </a:rPr>
              <a:t>Bằng chứng từ QPU lưu trữ và simulator local</a:t>
            </a:r>
          </a:p>
        </p:txBody>
      </p:sp>
      <p:sp>
        <p:nvSpPr>
          <p:cNvPr id="3" name="">
            <a:extLst xmlns:a="http://schemas.openxmlformats.org/drawingml/2006/main">
              <a:ext uri="{FF2B5EF4-FFF2-40B4-BE49-F238E27FC236}">
                <a16:creationId xmlns:a16="http://schemas.microsoft.com/office/drawing/2014/main" id="{01408960-F0DF-47C4-A5DA-CC8E98199BFF}"/>
              </a:ext>
            </a:extLst>
          </p:cNvPr>
          <p:cNvSpPr>
            <a:spLocks xmlns:a="http://schemas.openxmlformats.org/drawingml/2006/main" noGrp="1"/>
          </p:cNvSpPr>
          <p:nvPr/>
        </p:nvSpPr>
        <p:spPr>
          <a:xfrm xmlns:a="http://schemas.openxmlformats.org/drawingml/2006/main">
            <a:off x="742950" y="3409950"/>
            <a:ext cx="857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66A18"/>
                </a:solidFill>
                <a:latin typeface="Noto Sans"/>
                <a:ea typeface="Noto Sans"/>
                <a:cs typeface="Noto Sans"/>
              </a:defRPr>
            </a:pPr>
            <a:r>
              <a:rPr sz="2250" b="1">
                <a:solidFill>
                  <a:srgbClr val="B66A18"/>
                </a:solidFill>
                <a:latin typeface="Noto Sans"/>
                <a:ea typeface="Noto Sans"/>
                <a:cs typeface="Noto Sans"/>
              </a:rPr>
              <a:t>Phạm vi khoa học PARTIAL</a:t>
            </a:r>
          </a:p>
        </p:txBody>
      </p:sp>
      <p:sp>
        <p:nvSpPr>
          <p:cNvPr id="4" name="">
            <a:extLst xmlns:a="http://schemas.openxmlformats.org/drawingml/2006/main">
              <a:ext uri="{FF2B5EF4-FFF2-40B4-BE49-F238E27FC236}">
                <a16:creationId xmlns:a16="http://schemas.microsoft.com/office/drawing/2014/main" id="{14C83F3C-D69D-4FFA-B888-98F6FA4FCA74}"/>
              </a:ext>
            </a:extLst>
          </p:cNvPr>
          <p:cNvSpPr>
            <a:spLocks xmlns:a="http://schemas.openxmlformats.org/drawingml/2006/main" noGrp="1"/>
          </p:cNvSpPr>
          <p:nvPr/>
        </p:nvSpPr>
        <p:spPr>
          <a:xfrm xmlns:a="http://schemas.openxmlformats.org/drawingml/2006/main">
            <a:off x="742950" y="4057650"/>
            <a:ext cx="1000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163444"/>
                </a:solidFill>
                <a:latin typeface="Noto Sans"/>
                <a:ea typeface="Noto Sans"/>
                <a:cs typeface="Noto Sans"/>
              </a:defRPr>
            </a:pPr>
            <a:r>
              <a:rPr sz="1875">
                <a:solidFill>
                  <a:srgbClr val="163444"/>
                </a:solidFill>
                <a:latin typeface="Noto Sans"/>
                <a:ea typeface="Noto Sans"/>
                <a:cs typeface="Noto Sans"/>
              </a:rPr>
              <a:t>Không chạy live QPU. Không gộp các clock khác nhau thành một bảng xếp hạng.</a:t>
            </a:r>
          </a:p>
        </p:txBody>
      </p:sp>
      <p:sp>
        <p:nvSpPr>
          <p:cNvPr id="5" name="">
            <a:extLst xmlns:a="http://schemas.openxmlformats.org/drawingml/2006/main">
              <a:ext uri="{FF2B5EF4-FFF2-40B4-BE49-F238E27FC236}">
                <a16:creationId xmlns:a16="http://schemas.microsoft.com/office/drawing/2014/main" id="{2EA15C6B-0A74-48D2-ACF2-E03AB4DB629E}"/>
              </a:ext>
            </a:extLst>
          </p:cNvPr>
          <p:cNvSpPr>
            <a:spLocks xmlns:a="http://schemas.openxmlformats.org/drawingml/2006/main" noGrp="1"/>
          </p:cNvSpPr>
          <p:nvPr/>
        </p:nvSpPr>
        <p:spPr>
          <a:xfrm xmlns:a="http://schemas.openxmlformats.org/drawingml/2006/main">
            <a:off x="742950" y="60769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a:solidFill>
                  <a:srgbClr val="526873"/>
                </a:solidFill>
                <a:latin typeface="Noto Sans"/>
                <a:ea typeface="Noto Sans"/>
                <a:cs typeface="Noto Sans"/>
              </a:defRPr>
            </a:pPr>
            <a:r>
              <a:rPr sz="1350">
                <a:solidFill>
                  <a:srgbClr val="526873"/>
                </a:solidFill>
                <a:latin typeface="Noto Sans"/>
                <a:ea typeface="Noto Sans"/>
                <a:cs typeface="Noto Sans"/>
              </a:rPr>
              <a:t>Bản nội bộ | 02.10.2026</a:t>
            </a:r>
          </a:p>
        </p:txBody>
      </p:sp>
    </p:spTree>
    <p:extLst>
      <p:ext uri="{BB962C8B-B14F-4D97-AF65-F5344CB8AC3E}">
        <p14:creationId xmlns:p14="http://schemas.microsoft.com/office/powerpoint/2010/main" val="11632359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1051FB-F952-44DF-A3F5-4176BD984B7B}"/>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Dữ liệu và phạm vi</a:t>
            </a:r>
          </a:p>
        </p:txBody>
      </p:sp>
      <p:sp>
        <p:nvSpPr>
          <p:cNvPr id="2" name="">
            <a:extLst xmlns:a="http://schemas.openxmlformats.org/drawingml/2006/main">
              <a:ext uri="{FF2B5EF4-FFF2-40B4-BE49-F238E27FC236}">
                <a16:creationId xmlns:a16="http://schemas.microsoft.com/office/drawing/2014/main" id="{3F3E011C-E89E-4C5C-A953-26231C7AA609}"/>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02</a:t>
            </a:r>
          </a:p>
        </p:txBody>
      </p:sp>
      <p:graphicFrame>
        <p:nvGraphicFramePr>
          <p:cNvPr id="7" name=""/>
          <p:cNvGraphicFramePr/>
          <p:nvPr/>
        </p:nvGraphicFramePr>
        <p:xfrm>
          <a:off xmlns:a="http://schemas.openxmlformats.org/drawingml/2006/main" x="666750" y="1352550"/>
          <a:ext xmlns:a="http://schemas.openxmlformats.org/drawingml/2006/main" cx="10858500" cy="4095750"/>
        </p:xfrm>
        <a:graphic xmlns:a="http://schemas.openxmlformats.org/drawingml/2006/main">
          <a:graphicData uri="http://schemas.openxmlformats.org/drawingml/2006/table">
            <a:tbl>
              <a:tblPr/>
              <a:tblGrid>
                <a:gridCol w="2333625"/>
                <a:gridCol w="2762250"/>
                <a:gridCol w="5762625"/>
              </a:tblGrid>
              <a:tr h="682625">
                <a:tc>
                  <a:txBody>
                    <a:bodyPr/>
                    <a:lstStyle/>
                    <a:p>
                      <a:r>
                        <a:rPr sz="1500" b="1">
                          <a:solidFill>
                            <a:srgbClr val="FFFFFF"/>
                          </a:solidFill>
                        </a:rPr>
                        <a:t>Nguồn / panel</a:t>
                      </a:r>
                    </a:p>
                  </a:txBody>
                  <a:tcPr marL="91440" marR="91440" marT="45720" marB="45720">
                    <a:solidFill>
                      <a:srgbClr val="25495A"/>
                    </a:solidFill>
                  </a:tcPr>
                </a:tc>
                <a:tc>
                  <a:txBody>
                    <a:bodyPr/>
                    <a:lstStyle/>
                    <a:p>
                      <a:r>
                        <a:rPr sz="1500" b="1">
                          <a:solidFill>
                            <a:srgbClr val="FFFFFF"/>
                          </a:solidFill>
                        </a:rPr>
                        <a:t>Quy mô</a:t>
                      </a:r>
                    </a:p>
                  </a:txBody>
                  <a:tcPr marL="91440" marR="91440" marT="45720" marB="45720">
                    <a:solidFill>
                      <a:srgbClr val="25495A"/>
                    </a:solidFill>
                  </a:tcPr>
                </a:tc>
                <a:tc>
                  <a:txBody>
                    <a:bodyPr/>
                    <a:lstStyle/>
                    <a:p>
                      <a:r>
                        <a:rPr sz="1500" b="1">
                          <a:solidFill>
                            <a:srgbClr val="FFFFFF"/>
                          </a:solidFill>
                        </a:rPr>
                        <a:t>Circuit hoặc label được dùng</a:t>
                      </a:r>
                    </a:p>
                  </a:txBody>
                  <a:tcPr marL="91440" marR="91440" marT="45720" marB="45720">
                    <a:solidFill>
                      <a:srgbClr val="25495A"/>
                    </a:solidFill>
                  </a:tcPr>
                </a:tc>
              </a:tr>
              <a:tr h="682625">
                <a:tc>
                  <a:txBody>
                    <a:bodyPr/>
                    <a:lstStyle/>
                    <a:p>
                      <a:r>
                        <a:rPr sz="1425" b="0">
                          <a:solidFill>
                            <a:srgbClr val="163444"/>
                          </a:solidFill>
                        </a:rPr>
                        <a:t>Real QPU · Ma–Li</a:t>
                      </a:r>
                    </a:p>
                  </a:txBody>
                  <a:tcPr marL="91440" marR="91440" marT="45720" marB="45720">
                    <a:solidFill>
                      <a:srgbClr val="FFFFFF"/>
                    </a:solidFill>
                  </a:tcPr>
                </a:tc>
                <a:tc>
                  <a:txBody>
                    <a:bodyPr/>
                    <a:lstStyle/>
                    <a:p>
                      <a:r>
                        <a:rPr sz="1425" b="0">
                          <a:solidFill>
                            <a:srgbClr val="163444"/>
                          </a:solidFill>
                        </a:rPr>
                        <a:t>340 observations</a:t>
                      </a:r>
                    </a:p>
                  </a:txBody>
                  <a:tcPr marL="91440" marR="91440" marT="45720" marB="45720">
                    <a:solidFill>
                      <a:srgbClr val="FFFFFF"/>
                    </a:solidFill>
                  </a:tcPr>
                </a:tc>
                <a:tc>
                  <a:txBody>
                    <a:bodyPr/>
                    <a:lstStyle/>
                    <a:p>
                      <a:r>
                        <a:rPr sz="1425" b="0">
                          <a:solidFill>
                            <a:srgbClr val="163444"/>
                          </a:solidFill>
                        </a:rPr>
                        <a:t>Logical QASM; observed execution labels</a:t>
                      </a:r>
                    </a:p>
                  </a:txBody>
                  <a:tcPr marL="91440" marR="91440" marT="45720" marB="45720">
                    <a:solidFill>
                      <a:srgbClr val="FFFFFF"/>
                    </a:solidFill>
                  </a:tcPr>
                </a:tc>
              </a:tr>
              <a:tr h="682625">
                <a:tc>
                  <a:txBody>
                    <a:bodyPr/>
                    <a:lstStyle/>
                    <a:p>
                      <a:r>
                        <a:rPr sz="1425" b="0">
                          <a:solidFill>
                            <a:srgbClr val="163444"/>
                          </a:solidFill>
                        </a:rPr>
                        <a:t>Real QPU · Qonductor</a:t>
                      </a:r>
                    </a:p>
                  </a:txBody>
                  <a:tcPr marL="91440" marR="91440" marT="45720" marB="45720">
                    <a:solidFill>
                      <a:srgbClr val="F4F7F8"/>
                    </a:solidFill>
                  </a:tcPr>
                </a:tc>
                <a:tc>
                  <a:txBody>
                    <a:bodyPr/>
                    <a:lstStyle/>
                    <a:p>
                      <a:r>
                        <a:rPr sz="1425" b="0">
                          <a:solidFill>
                            <a:srgbClr val="163444"/>
                          </a:solidFill>
                        </a:rPr>
                        <a:t>4.482 observations</a:t>
                      </a:r>
                    </a:p>
                  </a:txBody>
                  <a:tcPr marL="91440" marR="91440" marT="45720" marB="45720">
                    <a:solidFill>
                      <a:srgbClr val="F4F7F8"/>
                    </a:solidFill>
                  </a:tcPr>
                </a:tc>
                <a:tc>
                  <a:txBody>
                    <a:bodyPr/>
                    <a:lstStyle/>
                    <a:p>
                      <a:r>
                        <a:rPr sz="1425" b="0">
                          <a:solidFill>
                            <a:srgbClr val="163444"/>
                          </a:solidFill>
                        </a:rPr>
                        <a:t>Submitted physical QASM; one-circuit jobs</a:t>
                      </a:r>
                    </a:p>
                  </a:txBody>
                  <a:tcPr marL="91440" marR="91440" marT="45720" marB="45720">
                    <a:solidFill>
                      <a:srgbClr val="F4F7F8"/>
                    </a:solidFill>
                  </a:tcPr>
                </a:tc>
              </a:tr>
              <a:tr h="682625">
                <a:tc>
                  <a:txBody>
                    <a:bodyPr/>
                    <a:lstStyle/>
                    <a:p>
                      <a:r>
                        <a:rPr sz="1425" b="0">
                          <a:solidFill>
                            <a:srgbClr val="163444"/>
                          </a:solidFill>
                        </a:rPr>
                        <a:t>Real QPU · QPack</a:t>
                      </a:r>
                    </a:p>
                  </a:txBody>
                  <a:tcPr marL="91440" marR="91440" marT="45720" marB="45720">
                    <a:solidFill>
                      <a:srgbClr val="FFFFFF"/>
                    </a:solidFill>
                  </a:tcPr>
                </a:tc>
                <a:tc>
                  <a:txBody>
                    <a:bodyPr/>
                    <a:lstStyle/>
                    <a:p>
                      <a:r>
                        <a:rPr sz="1425" b="0">
                          <a:solidFill>
                            <a:srgbClr val="163444"/>
                          </a:solidFill>
                        </a:rPr>
                        <a:t>3.945 observations</a:t>
                      </a:r>
                    </a:p>
                  </a:txBody>
                  <a:tcPr marL="91440" marR="91440" marT="45720" marB="45720">
                    <a:solidFill>
                      <a:srgbClr val="FFFFFF"/>
                    </a:solidFill>
                  </a:tcPr>
                </a:tc>
                <a:tc>
                  <a:txBody>
                    <a:bodyPr/>
                    <a:lstStyle/>
                    <a:p>
                      <a:r>
                        <a:rPr sz="1425" b="0">
                          <a:solidFill>
                            <a:srgbClr val="163444"/>
                          </a:solidFill>
                        </a:rPr>
                        <a:t>46 workflows; reconstructed inputs, labels archived</a:t>
                      </a:r>
                    </a:p>
                  </a:txBody>
                  <a:tcPr marL="91440" marR="91440" marT="45720" marB="45720">
                    <a:solidFill>
                      <a:srgbClr val="FFFFFF"/>
                    </a:solidFill>
                  </a:tcPr>
                </a:tc>
              </a:tr>
              <a:tr h="682625">
                <a:tc>
                  <a:txBody>
                    <a:bodyPr/>
                    <a:lstStyle/>
                    <a:p>
                      <a:r>
                        <a:rPr sz="1425" b="0">
                          <a:solidFill>
                            <a:srgbClr val="163444"/>
                          </a:solidFill>
                        </a:rPr>
                        <a:t>Unified QPU ledger</a:t>
                      </a:r>
                    </a:p>
                  </a:txBody>
                  <a:tcPr marL="91440" marR="91440" marT="45720" marB="45720">
                    <a:solidFill>
                      <a:srgbClr val="F4F7F8"/>
                    </a:solidFill>
                  </a:tcPr>
                </a:tc>
                <a:tc>
                  <a:txBody>
                    <a:bodyPr/>
                    <a:lstStyle/>
                    <a:p>
                      <a:r>
                        <a:rPr sz="1425" b="0">
                          <a:solidFill>
                            <a:srgbClr val="163444"/>
                          </a:solidFill>
                        </a:rPr>
                        <a:t>8.767 observations</a:t>
                      </a:r>
                    </a:p>
                  </a:txBody>
                  <a:tcPr marL="91440" marR="91440" marT="45720" marB="45720">
                    <a:solidFill>
                      <a:srgbClr val="F4F7F8"/>
                    </a:solidFill>
                  </a:tcPr>
                </a:tc>
                <a:tc>
                  <a:txBody>
                    <a:bodyPr/>
                    <a:lstStyle/>
                    <a:p>
                      <a:r>
                        <a:rPr sz="1425" b="0">
                          <a:solidFill>
                            <a:srgbClr val="163444"/>
                          </a:solidFill>
                        </a:rPr>
                        <a:t>Join giữ source ID và row identity; không đồng nhất timing boundary</a:t>
                      </a:r>
                    </a:p>
                  </a:txBody>
                  <a:tcPr marL="91440" marR="91440" marT="45720" marB="45720">
                    <a:solidFill>
                      <a:srgbClr val="F4F7F8"/>
                    </a:solidFill>
                  </a:tcPr>
                </a:tc>
              </a:tr>
              <a:tr h="682625">
                <a:tc>
                  <a:txBody>
                    <a:bodyPr/>
                    <a:lstStyle/>
                    <a:p>
                      <a:r>
                        <a:rPr sz="1425" b="0">
                          <a:solidFill>
                            <a:srgbClr val="163444"/>
                          </a:solidFill>
                        </a:rPr>
                        <a:t>Simulator local</a:t>
                      </a:r>
                    </a:p>
                  </a:txBody>
                  <a:tcPr marL="91440" marR="91440" marT="45720" marB="45720">
                    <a:solidFill>
                      <a:srgbClr val="FFFFFF"/>
                    </a:solidFill>
                  </a:tcPr>
                </a:tc>
                <a:tc>
                  <a:txBody>
                    <a:bodyPr/>
                    <a:lstStyle/>
                    <a:p>
                      <a:r>
                        <a:rPr sz="1425" b="0">
                          <a:solidFill>
                            <a:srgbClr val="163444"/>
                          </a:solidFill>
                        </a:rPr>
                        <a:t>204 members / 191 hashes</a:t>
                      </a:r>
                    </a:p>
                  </a:txBody>
                  <a:tcPr marL="91440" marR="91440" marT="45720" marB="45720">
                    <a:solidFill>
                      <a:srgbClr val="FFFFFF"/>
                    </a:solidFill>
                  </a:tcPr>
                </a:tc>
                <a:tc>
                  <a:txBody>
                    <a:bodyPr/>
                    <a:lstStyle/>
                    <a:p>
                      <a:r>
                        <a:rPr sz="1425" b="0">
                          <a:solidFill>
                            <a:srgbClr val="163444"/>
                          </a:solidFill>
                        </a:rPr>
                        <a:t>22 families; q2–q16; 162 core + 42 frontier</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D3FA16D-C867-46DF-908D-A6EC76E9869A}"/>
              </a:ext>
            </a:extLst>
          </p:cNvPr>
          <p:cNvSpPr>
            <a:spLocks xmlns:a="http://schemas.openxmlformats.org/drawingml/2006/main" noGrp="1"/>
          </p:cNvSpPr>
          <p:nvPr/>
        </p:nvSpPr>
        <p:spPr>
          <a:xfrm xmlns:a="http://schemas.openxmlformats.org/drawingml/2006/main">
            <a:off x="723900" y="56197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F78"/>
                </a:solidFill>
                <a:latin typeface="Noto Sans"/>
                <a:ea typeface="Noto Sans"/>
                <a:cs typeface="Noto Sans"/>
              </a:defRPr>
            </a:pPr>
            <a:r>
              <a:rPr sz="1650" b="1">
                <a:solidFill>
                  <a:srgbClr val="007F78"/>
                </a:solidFill>
                <a:latin typeface="Noto Sans"/>
                <a:ea typeface="Noto Sans"/>
                <a:cs typeface="Noto Sans"/>
              </a:rPr>
              <a:t>Local RTX 5070 Ti · ~45 GiB RAM / 16 GiB VRAM. QPU service ≠ schedule ≠ simulator wall-clock.</a:t>
            </a:r>
          </a:p>
        </p:txBody>
      </p:sp>
    </p:spTree>
    <p:extLst>
      <p:ext uri="{BB962C8B-B14F-4D97-AF65-F5344CB8AC3E}">
        <p14:creationId xmlns:p14="http://schemas.microsoft.com/office/powerpoint/2010/main" val="7691692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92370D-0A7C-4469-9F0E-9078BB50F816}"/>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Thiết kế so sánh</a:t>
            </a:r>
          </a:p>
        </p:txBody>
      </p:sp>
      <p:sp>
        <p:nvSpPr>
          <p:cNvPr id="2" name="">
            <a:extLst xmlns:a="http://schemas.openxmlformats.org/drawingml/2006/main">
              <a:ext uri="{FF2B5EF4-FFF2-40B4-BE49-F238E27FC236}">
                <a16:creationId xmlns:a16="http://schemas.microsoft.com/office/drawing/2014/main" id="{124A286C-268D-463E-A2C4-EE7F81823D7B}"/>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03</a:t>
            </a:r>
          </a:p>
        </p:txBody>
      </p:sp>
      <p:graphicFrame>
        <p:nvGraphicFramePr>
          <p:cNvPr id="7" name=""/>
          <p:cNvGraphicFramePr/>
          <p:nvPr/>
        </p:nvGraphicFramePr>
        <p:xfrm>
          <a:off xmlns:a="http://schemas.openxmlformats.org/drawingml/2006/main" x="666750" y="1524000"/>
          <a:ext xmlns:a="http://schemas.openxmlformats.org/drawingml/2006/main" cx="10858500" cy="3619500"/>
        </p:xfrm>
        <a:graphic xmlns:a="http://schemas.openxmlformats.org/drawingml/2006/main">
          <a:graphicData uri="http://schemas.openxmlformats.org/drawingml/2006/table">
            <a:tbl>
              <a:tblPr/>
              <a:tblGrid>
                <a:gridCol w="2190750"/>
                <a:gridCol w="4524375"/>
                <a:gridCol w="4143375"/>
              </a:tblGrid>
              <a:tr h="723900">
                <a:tc>
                  <a:txBody>
                    <a:bodyPr/>
                    <a:lstStyle/>
                    <a:p>
                      <a:r>
                        <a:rPr sz="1575" b="1">
                          <a:solidFill>
                            <a:srgbClr val="FFFFFF"/>
                          </a:solidFill>
                        </a:rPr>
                        <a:t>Nguyên tắc</a:t>
                      </a:r>
                    </a:p>
                  </a:txBody>
                  <a:tcPr marL="91440" marR="91440" marT="45720" marB="45720">
                    <a:solidFill>
                      <a:srgbClr val="25495A"/>
                    </a:solidFill>
                  </a:tcPr>
                </a:tc>
                <a:tc>
                  <a:txBody>
                    <a:bodyPr/>
                    <a:lstStyle/>
                    <a:p>
                      <a:r>
                        <a:rPr sz="1575" b="1">
                          <a:solidFill>
                            <a:srgbClr val="FFFFFF"/>
                          </a:solidFill>
                        </a:rPr>
                        <a:t>Áp dụng</a:t>
                      </a:r>
                    </a:p>
                  </a:txBody>
                  <a:tcPr marL="91440" marR="91440" marT="45720" marB="45720">
                    <a:solidFill>
                      <a:srgbClr val="25495A"/>
                    </a:solidFill>
                  </a:tcPr>
                </a:tc>
                <a:tc>
                  <a:txBody>
                    <a:bodyPr/>
                    <a:lstStyle/>
                    <a:p>
                      <a:r>
                        <a:rPr sz="1575" b="1">
                          <a:solidFill>
                            <a:srgbClr val="FFFFFF"/>
                          </a:solidFill>
                        </a:rPr>
                        <a:t>Giới hạn</a:t>
                      </a:r>
                    </a:p>
                  </a:txBody>
                  <a:tcPr marL="91440" marR="91440" marT="45720" marB="45720">
                    <a:solidFill>
                      <a:srgbClr val="25495A"/>
                    </a:solidFill>
                  </a:tcPr>
                </a:tc>
              </a:tr>
              <a:tr h="723900">
                <a:tc>
                  <a:txBody>
                    <a:bodyPr/>
                    <a:lstStyle/>
                    <a:p>
                      <a:r>
                        <a:rPr sz="1500" b="0">
                          <a:solidFill>
                            <a:srgbClr val="163444"/>
                          </a:solidFill>
                        </a:rPr>
                        <a:t>Rows chung</a:t>
                      </a:r>
                    </a:p>
                  </a:txBody>
                  <a:tcPr marL="91440" marR="91440" marT="45720" marB="45720">
                    <a:solidFill>
                      <a:srgbClr val="FFFFFF"/>
                    </a:solidFill>
                  </a:tcPr>
                </a:tc>
                <a:tc>
                  <a:txBody>
                    <a:bodyPr/>
                    <a:lstStyle/>
                    <a:p>
                      <a:r>
                        <a:rPr sz="1500" b="0">
                          <a:solidFill>
                            <a:srgbClr val="163444"/>
                          </a:solidFill>
                        </a:rPr>
                        <a:t>Graph V3-large và polynomial dùng cùng unified ledger và grouped outer folds</a:t>
                      </a:r>
                    </a:p>
                  </a:txBody>
                  <a:tcPr marL="91440" marR="91440" marT="45720" marB="45720">
                    <a:solidFill>
                      <a:srgbClr val="FFFFFF"/>
                    </a:solidFill>
                  </a:tcPr>
                </a:tc>
                <a:tc>
                  <a:txBody>
                    <a:bodyPr/>
                    <a:lstStyle/>
                    <a:p>
                      <a:r>
                        <a:rPr sz="1500" b="0">
                          <a:solidFill>
                            <a:srgbClr val="163444"/>
                          </a:solidFill>
                        </a:rPr>
                        <a:t>So sánh theo source-local shared rows</a:t>
                      </a:r>
                    </a:p>
                  </a:txBody>
                  <a:tcPr marL="91440" marR="91440" marT="45720" marB="45720">
                    <a:solidFill>
                      <a:srgbClr val="FFFFFF"/>
                    </a:solidFill>
                  </a:tcPr>
                </a:tc>
              </a:tr>
              <a:tr h="723900">
                <a:tc>
                  <a:txBody>
                    <a:bodyPr/>
                    <a:lstStyle/>
                    <a:p>
                      <a:r>
                        <a:rPr sz="1500" b="0">
                          <a:solidFill>
                            <a:srgbClr val="163444"/>
                          </a:solidFill>
                        </a:rPr>
                        <a:t>Fit</a:t>
                      </a:r>
                    </a:p>
                  </a:txBody>
                  <a:tcPr marL="91440" marR="91440" marT="45720" marB="45720">
                    <a:solidFill>
                      <a:srgbClr val="F4F7F8"/>
                    </a:solidFill>
                  </a:tcPr>
                </a:tc>
                <a:tc>
                  <a:txBody>
                    <a:bodyPr/>
                    <a:lstStyle/>
                    <a:p>
                      <a:r>
                        <a:rPr sz="1500" b="0">
                          <a:solidFill>
                            <a:srgbClr val="163444"/>
                          </a:solidFill>
                        </a:rPr>
                        <a:t>Preprocessing và calibration chỉ fit trên outer-train</a:t>
                      </a:r>
                    </a:p>
                  </a:txBody>
                  <a:tcPr marL="91440" marR="91440" marT="45720" marB="45720">
                    <a:solidFill>
                      <a:srgbClr val="F4F7F8"/>
                    </a:solidFill>
                  </a:tcPr>
                </a:tc>
                <a:tc>
                  <a:txBody>
                    <a:bodyPr/>
                    <a:lstStyle/>
                    <a:p>
                      <a:r>
                        <a:rPr sz="1500" b="0">
                          <a:solidFill>
                            <a:srgbClr val="163444"/>
                          </a:solidFill>
                        </a:rPr>
                        <a:t>Không chọn theo labels của test</a:t>
                      </a:r>
                    </a:p>
                  </a:txBody>
                  <a:tcPr marL="91440" marR="91440" marT="45720" marB="45720">
                    <a:solidFill>
                      <a:srgbClr val="F4F7F8"/>
                    </a:solidFill>
                  </a:tcPr>
                </a:tc>
              </a:tr>
              <a:tr h="723900">
                <a:tc>
                  <a:txBody>
                    <a:bodyPr/>
                    <a:lstStyle/>
                    <a:p>
                      <a:r>
                        <a:rPr sz="1500" b="0">
                          <a:solidFill>
                            <a:srgbClr val="163444"/>
                          </a:solidFill>
                        </a:rPr>
                        <a:t>Coverage</a:t>
                      </a:r>
                    </a:p>
                  </a:txBody>
                  <a:tcPr marL="91440" marR="91440" marT="45720" marB="45720">
                    <a:solidFill>
                      <a:srgbClr val="FFFFFF"/>
                    </a:solidFill>
                  </a:tcPr>
                </a:tc>
                <a:tc>
                  <a:txBody>
                    <a:bodyPr/>
                    <a:lstStyle/>
                    <a:p>
                      <a:r>
                        <a:rPr sz="1500" b="0">
                          <a:solidFill>
                            <a:srgbClr val="163444"/>
                          </a:solidFill>
                        </a:rPr>
                        <a:t>Unavailable và failures giữ trong denominator được giao</a:t>
                      </a:r>
                    </a:p>
                  </a:txBody>
                  <a:tcPr marL="91440" marR="91440" marT="45720" marB="45720">
                    <a:solidFill>
                      <a:srgbClr val="FFFFFF"/>
                    </a:solidFill>
                  </a:tcPr>
                </a:tc>
                <a:tc>
                  <a:txBody>
                    <a:bodyPr/>
                    <a:lstStyle/>
                    <a:p>
                      <a:r>
                        <a:rPr sz="1500" b="0">
                          <a:solidFill>
                            <a:srgbClr val="163444"/>
                          </a:solidFill>
                        </a:rPr>
                        <a:t>Coverage khác accuracy</a:t>
                      </a:r>
                    </a:p>
                  </a:txBody>
                  <a:tcPr marL="91440" marR="91440" marT="45720" marB="45720">
                    <a:solidFill>
                      <a:srgbClr val="FFFFFF"/>
                    </a:solidFill>
                  </a:tcPr>
                </a:tc>
              </a:tr>
              <a:tr h="723900">
                <a:tc>
                  <a:txBody>
                    <a:bodyPr/>
                    <a:lstStyle/>
                    <a:p>
                      <a:r>
                        <a:rPr sz="1500" b="0">
                          <a:solidFill>
                            <a:srgbClr val="163444"/>
                          </a:solidFill>
                        </a:rPr>
                        <a:t>Clock</a:t>
                      </a:r>
                    </a:p>
                  </a:txBody>
                  <a:tcPr marL="91440" marR="91440" marT="45720" marB="45720">
                    <a:solidFill>
                      <a:srgbClr val="F4F7F8"/>
                    </a:solidFill>
                  </a:tcPr>
                </a:tc>
                <a:tc>
                  <a:txBody>
                    <a:bodyPr/>
                    <a:lstStyle/>
                    <a:p>
                      <a:r>
                        <a:rPr sz="1500" b="0">
                          <a:solidFill>
                            <a:srgbClr val="163444"/>
                          </a:solidFill>
                        </a:rPr>
                        <a:t>Hiển thị output clock cùng evaluation target clock</a:t>
                      </a:r>
                    </a:p>
                  </a:txBody>
                  <a:tcPr marL="91440" marR="91440" marT="45720" marB="45720">
                    <a:solidFill>
                      <a:srgbClr val="F4F7F8"/>
                    </a:solidFill>
                  </a:tcPr>
                </a:tc>
                <a:tc>
                  <a:txBody>
                    <a:bodyPr/>
                    <a:lstStyle/>
                    <a:p>
                      <a:r>
                        <a:rPr sz="1500" b="0">
                          <a:solidFill>
                            <a:srgbClr val="163444"/>
                          </a:solidFill>
                        </a:rPr>
                        <a:t>Không xếp hạng chéo clock</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04E9B694-2560-4D79-843F-5027FE3819F1}"/>
              </a:ext>
            </a:extLst>
          </p:cNvPr>
          <p:cNvSpPr>
            <a:spLocks xmlns:a="http://schemas.openxmlformats.org/drawingml/2006/main" noGrp="1"/>
          </p:cNvSpPr>
          <p:nvPr/>
        </p:nvSpPr>
        <p:spPr>
          <a:xfrm xmlns:a="http://schemas.openxmlformats.org/drawingml/2006/main">
            <a:off x="723900" y="55245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Noto Sans"/>
                <a:ea typeface="Noto Sans"/>
                <a:cs typeface="Noto Sans"/>
              </a:defRPr>
            </a:pPr>
            <a:r>
              <a:rPr sz="1800" b="1">
                <a:solidFill>
                  <a:srgbClr val="007F78"/>
                </a:solidFill>
                <a:latin typeface="Noto Sans"/>
                <a:ea typeface="Noto Sans"/>
                <a:cs typeface="Noto Sans"/>
              </a:rPr>
              <a:t>MAE thấp hơn trên shared rows không tự động chứng minh superiority trên toàn ledger.</a:t>
            </a:r>
          </a:p>
        </p:txBody>
      </p:sp>
    </p:spTree>
    <p:extLst>
      <p:ext uri="{BB962C8B-B14F-4D97-AF65-F5344CB8AC3E}">
        <p14:creationId xmlns:p14="http://schemas.microsoft.com/office/powerpoint/2010/main" val="13447437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00EE97-2896-460A-83D7-F8F9BC47DC40}"/>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Coverage phương pháp</a:t>
            </a:r>
          </a:p>
        </p:txBody>
      </p:sp>
      <p:sp>
        <p:nvSpPr>
          <p:cNvPr id="2" name="">
            <a:extLst xmlns:a="http://schemas.openxmlformats.org/drawingml/2006/main">
              <a:ext uri="{FF2B5EF4-FFF2-40B4-BE49-F238E27FC236}">
                <a16:creationId xmlns:a16="http://schemas.microsoft.com/office/drawing/2014/main" id="{70FBA5B1-54DB-4830-97AB-FC75995E3997}"/>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04</a:t>
            </a:r>
          </a:p>
        </p:txBody>
      </p:sp>
      <p:graphicFrame>
        <p:nvGraphicFramePr>
          <p:cNvPr id="7" name=""/>
          <p:cNvGraphicFramePr/>
          <p:nvPr/>
        </p:nvGraphicFramePr>
        <p:xfrm>
          <a:off xmlns:a="http://schemas.openxmlformats.org/drawingml/2006/main" x="609600" y="1409700"/>
          <a:ext xmlns:a="http://schemas.openxmlformats.org/drawingml/2006/main" cx="10972800" cy="4286250"/>
        </p:xfrm>
        <a:graphic xmlns:a="http://schemas.openxmlformats.org/drawingml/2006/main">
          <a:graphicData uri="http://schemas.openxmlformats.org/drawingml/2006/table">
            <a:tbl>
              <a:tblPr/>
              <a:tblGrid>
                <a:gridCol w="1952625"/>
                <a:gridCol w="3286125"/>
                <a:gridCol w="2000250"/>
                <a:gridCol w="3733800"/>
              </a:tblGrid>
              <a:tr h="612321">
                <a:tc>
                  <a:txBody>
                    <a:bodyPr/>
                    <a:lstStyle/>
                    <a:p>
                      <a:r>
                        <a:rPr sz="1350" b="1">
                          <a:solidFill>
                            <a:srgbClr val="FFFFFF"/>
                          </a:solidFill>
                        </a:rPr>
                        <a:t>QPU approach</a:t>
                      </a:r>
                    </a:p>
                  </a:txBody>
                  <a:tcPr marL="91440" marR="91440" marT="45720" marB="45720">
                    <a:solidFill>
                      <a:srgbClr val="25495A"/>
                    </a:solidFill>
                  </a:tcPr>
                </a:tc>
                <a:tc>
                  <a:txBody>
                    <a:bodyPr/>
                    <a:lstStyle/>
                    <a:p>
                      <a:r>
                        <a:rPr sz="1350" b="1">
                          <a:solidFill>
                            <a:srgbClr val="FFFFFF"/>
                          </a:solidFill>
                        </a:rPr>
                        <a:t>Evidence status</a:t>
                      </a:r>
                    </a:p>
                  </a:txBody>
                  <a:tcPr marL="91440" marR="91440" marT="45720" marB="45720">
                    <a:solidFill>
                      <a:srgbClr val="25495A"/>
                    </a:solidFill>
                  </a:tcPr>
                </a:tc>
                <a:tc>
                  <a:txBody>
                    <a:bodyPr/>
                    <a:lstStyle/>
                    <a:p>
                      <a:r>
                        <a:rPr sz="1350" b="1">
                          <a:solidFill>
                            <a:srgbClr val="FFFFFF"/>
                          </a:solidFill>
                        </a:rPr>
                        <a:t>Simulator approach</a:t>
                      </a:r>
                    </a:p>
                  </a:txBody>
                  <a:tcPr marL="91440" marR="91440" marT="45720" marB="45720">
                    <a:solidFill>
                      <a:srgbClr val="25495A"/>
                    </a:solidFill>
                  </a:tcPr>
                </a:tc>
                <a:tc>
                  <a:txBody>
                    <a:bodyPr/>
                    <a:lstStyle/>
                    <a:p>
                      <a:r>
                        <a:rPr sz="1350" b="1">
                          <a:solidFill>
                            <a:srgbClr val="FFFFFF"/>
                          </a:solidFill>
                        </a:rPr>
                        <a:t>Evidence status</a:t>
                      </a:r>
                    </a:p>
                  </a:txBody>
                  <a:tcPr marL="91440" marR="91440" marT="45720" marB="45720">
                    <a:solidFill>
                      <a:srgbClr val="25495A"/>
                    </a:solidFill>
                  </a:tcPr>
                </a:tc>
              </a:tr>
              <a:tr h="612321">
                <a:tc>
                  <a:txBody>
                    <a:bodyPr/>
                    <a:lstStyle/>
                    <a:p>
                      <a:r>
                        <a:rPr sz="1275" b="0">
                          <a:solidFill>
                            <a:srgbClr val="163444"/>
                          </a:solidFill>
                        </a:rPr>
                        <a:t>Ma–Li graph</a:t>
                      </a:r>
                    </a:p>
                  </a:txBody>
                  <a:tcPr marL="91440" marR="91440" marT="45720" marB="45720">
                    <a:solidFill>
                      <a:srgbClr val="FFFFFF"/>
                    </a:solidFill>
                  </a:tcPr>
                </a:tc>
                <a:tc>
                  <a:txBody>
                    <a:bodyPr/>
                    <a:lstStyle/>
                    <a:p>
                      <a:r>
                        <a:rPr sz="1275" b="0">
                          <a:solidFill>
                            <a:srgbClr val="163444"/>
                          </a:solidFill>
                        </a:rPr>
                        <a:t>Unified adaptation; 8,763–8,766 / 8,767</a:t>
                      </a:r>
                    </a:p>
                  </a:txBody>
                  <a:tcPr marL="91440" marR="91440" marT="45720" marB="45720">
                    <a:solidFill>
                      <a:srgbClr val="FFFFFF"/>
                    </a:solidFill>
                  </a:tcPr>
                </a:tc>
                <a:tc>
                  <a:txBody>
                    <a:bodyPr/>
                    <a:lstStyle/>
                    <a:p>
                      <a:r>
                        <a:rPr sz="1275" b="0">
                          <a:solidFill>
                            <a:srgbClr val="163444"/>
                          </a:solidFill>
                        </a:rPr>
                        <a:t>Ma–Li-style graph</a:t>
                      </a:r>
                    </a:p>
                  </a:txBody>
                  <a:tcPr marL="91440" marR="91440" marT="45720" marB="45720">
                    <a:solidFill>
                      <a:srgbClr val="FFFFFF"/>
                    </a:solidFill>
                  </a:tcPr>
                </a:tc>
                <a:tc>
                  <a:txBody>
                    <a:bodyPr/>
                    <a:lstStyle/>
                    <a:p>
                      <a:r>
                        <a:rPr sz="1275" b="0">
                          <a:solidFill>
                            <a:srgbClr val="163444"/>
                          </a:solidFill>
                        </a:rPr>
                        <a:t>Aer + fixed-MPS local adaptations</a:t>
                      </a:r>
                    </a:p>
                  </a:txBody>
                  <a:tcPr marL="91440" marR="91440" marT="45720" marB="45720">
                    <a:solidFill>
                      <a:srgbClr val="FFFFFF"/>
                    </a:solidFill>
                  </a:tcPr>
                </a:tc>
              </a:tr>
              <a:tr h="612321">
                <a:tc>
                  <a:txBody>
                    <a:bodyPr/>
                    <a:lstStyle/>
                    <a:p>
                      <a:r>
                        <a:rPr sz="1275" b="0">
                          <a:solidFill>
                            <a:srgbClr val="163444"/>
                          </a:solidFill>
                        </a:rPr>
                        <a:t>Qonductor</a:t>
                      </a:r>
                    </a:p>
                  </a:txBody>
                  <a:tcPr marL="91440" marR="91440" marT="45720" marB="45720">
                    <a:solidFill>
                      <a:srgbClr val="F4F7F8"/>
                    </a:solidFill>
                  </a:tcPr>
                </a:tc>
                <a:tc>
                  <a:txBody>
                    <a:bodyPr/>
                    <a:lstStyle/>
                    <a:p>
                      <a:r>
                        <a:rPr sz="1275" b="0">
                          <a:solidFill>
                            <a:srgbClr val="163444"/>
                          </a:solidFill>
                        </a:rPr>
                        <a:t>Unified polynomial adaptation; 8,767 / 8,767</a:t>
                      </a:r>
                    </a:p>
                  </a:txBody>
                  <a:tcPr marL="91440" marR="91440" marT="45720" marB="45720">
                    <a:solidFill>
                      <a:srgbClr val="F4F7F8"/>
                    </a:solidFill>
                  </a:tcPr>
                </a:tc>
                <a:tc>
                  <a:txBody>
                    <a:bodyPr/>
                    <a:lstStyle/>
                    <a:p>
                      <a:r>
                        <a:rPr sz="1275" b="0">
                          <a:solidFill>
                            <a:srgbClr val="163444"/>
                          </a:solidFill>
                        </a:rPr>
                        <a:t>Azizov-style</a:t>
                      </a:r>
                    </a:p>
                  </a:txBody>
                  <a:tcPr marL="91440" marR="91440" marT="45720" marB="45720">
                    <a:solidFill>
                      <a:srgbClr val="F4F7F8"/>
                    </a:solidFill>
                  </a:tcPr>
                </a:tc>
                <a:tc>
                  <a:txBody>
                    <a:bodyPr/>
                    <a:lstStyle/>
                    <a:p>
                      <a:r>
                        <a:rPr sz="1275" b="0">
                          <a:solidFill>
                            <a:srgbClr val="163444"/>
                          </a:solidFill>
                        </a:rPr>
                        <a:t>Source / hybrid / transpiled GNN + baselines</a:t>
                      </a:r>
                    </a:p>
                  </a:txBody>
                  <a:tcPr marL="91440" marR="91440" marT="45720" marB="45720">
                    <a:solidFill>
                      <a:srgbClr val="F4F7F8"/>
                    </a:solidFill>
                  </a:tcPr>
                </a:tc>
              </a:tr>
              <a:tr h="612321">
                <a:tc>
                  <a:txBody>
                    <a:bodyPr/>
                    <a:lstStyle/>
                    <a:p>
                      <a:r>
                        <a:rPr sz="1275" b="0">
                          <a:solidFill>
                            <a:srgbClr val="163444"/>
                          </a:solidFill>
                        </a:rPr>
                        <a:t>Scholten</a:t>
                      </a:r>
                    </a:p>
                  </a:txBody>
                  <a:tcPr marL="91440" marR="91440" marT="45720" marB="45720">
                    <a:solidFill>
                      <a:srgbClr val="FFFFFF"/>
                    </a:solidFill>
                  </a:tcPr>
                </a:tc>
                <a:tc>
                  <a:txBody>
                    <a:bodyPr/>
                    <a:lstStyle/>
                    <a:p>
                      <a:r>
                        <a:rPr sz="1275" b="0">
                          <a:solidFill>
                            <a:srgbClr val="163444"/>
                          </a:solidFill>
                        </a:rPr>
                        <a:t>Nominal proxy; 5,769 / 8,767</a:t>
                      </a:r>
                    </a:p>
                  </a:txBody>
                  <a:tcPr marL="91440" marR="91440" marT="45720" marB="45720">
                    <a:solidFill>
                      <a:srgbClr val="FFFFFF"/>
                    </a:solidFill>
                  </a:tcPr>
                </a:tc>
                <a:tc>
                  <a:txBody>
                    <a:bodyPr/>
                    <a:lstStyle/>
                    <a:p>
                      <a:r>
                        <a:rPr sz="1275" b="0">
                          <a:solidFill>
                            <a:srgbClr val="163444"/>
                          </a:solidFill>
                        </a:rPr>
                        <a:t>Family-Aware-style</a:t>
                      </a:r>
                    </a:p>
                  </a:txBody>
                  <a:tcPr marL="91440" marR="91440" marT="45720" marB="45720">
                    <a:solidFill>
                      <a:srgbClr val="FFFFFF"/>
                    </a:solidFill>
                  </a:tcPr>
                </a:tc>
                <a:tc>
                  <a:txBody>
                    <a:bodyPr/>
                    <a:lstStyle/>
                    <a:p>
                      <a:r>
                        <a:rPr sz="1275" b="0">
                          <a:solidFill>
                            <a:srgbClr val="163444"/>
                          </a:solidFill>
                        </a:rPr>
                        <a:t>MPS runtime-only residual; joint target unavailable</a:t>
                      </a:r>
                    </a:p>
                  </a:txBody>
                  <a:tcPr marL="91440" marR="91440" marT="45720" marB="45720">
                    <a:solidFill>
                      <a:srgbClr val="FFFFFF"/>
                    </a:solidFill>
                  </a:tcPr>
                </a:tc>
              </a:tr>
              <a:tr h="612321">
                <a:tc>
                  <a:txBody>
                    <a:bodyPr/>
                    <a:lstStyle/>
                    <a:p>
                      <a:r>
                        <a:rPr sz="1275" b="0">
                          <a:solidFill>
                            <a:srgbClr val="163444"/>
                          </a:solidFill>
                        </a:rPr>
                        <a:t>QCRE</a:t>
                      </a:r>
                    </a:p>
                  </a:txBody>
                  <a:tcPr marL="91440" marR="91440" marT="45720" marB="45720">
                    <a:solidFill>
                      <a:srgbClr val="F4F7F8"/>
                    </a:solidFill>
                  </a:tcPr>
                </a:tc>
                <a:tc>
                  <a:txBody>
                    <a:bodyPr/>
                    <a:lstStyle/>
                    <a:p>
                      <a:r>
                        <a:rPr sz="1275" b="0">
                          <a:solidFill>
                            <a:srgbClr val="163444"/>
                          </a:solidFill>
                        </a:rPr>
                        <a:t>Scheduled proxy; 8,766 / 8,767</a:t>
                      </a:r>
                    </a:p>
                  </a:txBody>
                  <a:tcPr marL="91440" marR="91440" marT="45720" marB="45720">
                    <a:solidFill>
                      <a:srgbClr val="F4F7F8"/>
                    </a:solidFill>
                  </a:tcPr>
                </a:tc>
                <a:tc>
                  <a:txBody>
                    <a:bodyPr/>
                    <a:lstStyle/>
                    <a:p>
                      <a:r>
                        <a:rPr sz="1275" b="0">
                          <a:solidFill>
                            <a:srgbClr val="163444"/>
                          </a:solidFill>
                        </a:rPr>
                        <a:t>Maestro</a:t>
                      </a:r>
                    </a:p>
                  </a:txBody>
                  <a:tcPr marL="91440" marR="91440" marT="45720" marB="45720">
                    <a:solidFill>
                      <a:srgbClr val="F4F7F8"/>
                    </a:solidFill>
                  </a:tcPr>
                </a:tc>
                <a:tc>
                  <a:txBody>
                    <a:bodyPr/>
                    <a:lstStyle/>
                    <a:p>
                      <a:r>
                        <a:rPr sz="1275" b="0">
                          <a:solidFill>
                            <a:srgbClr val="163444"/>
                          </a:solidFill>
                        </a:rPr>
                        <a:t>Pilot gate failed; no predictor score</a:t>
                      </a:r>
                    </a:p>
                  </a:txBody>
                  <a:tcPr marL="91440" marR="91440" marT="45720" marB="45720">
                    <a:solidFill>
                      <a:srgbClr val="F4F7F8"/>
                    </a:solidFill>
                  </a:tcPr>
                </a:tc>
              </a:tr>
              <a:tr h="612321">
                <a:tc>
                  <a:txBody>
                    <a:bodyPr/>
                    <a:lstStyle/>
                    <a:p>
                      <a:r>
                        <a:rPr sz="1275" b="0">
                          <a:solidFill>
                            <a:srgbClr val="163444"/>
                          </a:solidFill>
                        </a:rPr>
                        <a:t>Qiskit estimate_duration</a:t>
                      </a:r>
                    </a:p>
                  </a:txBody>
                  <a:tcPr marL="91440" marR="91440" marT="45720" marB="45720">
                    <a:solidFill>
                      <a:srgbClr val="FFFFFF"/>
                    </a:solidFill>
                  </a:tcPr>
                </a:tc>
                <a:tc>
                  <a:txBody>
                    <a:bodyPr/>
                    <a:lstStyle/>
                    <a:p>
                      <a:r>
                        <a:rPr sz="1275" b="0">
                          <a:solidFill>
                            <a:srgbClr val="163444"/>
                          </a:solidFill>
                        </a:rPr>
                        <a:t>Native schedule; 8,766 / 8,767</a:t>
                      </a:r>
                    </a:p>
                  </a:txBody>
                  <a:tcPr marL="91440" marR="91440" marT="45720" marB="45720">
                    <a:solidFill>
                      <a:srgbClr val="FFFFFF"/>
                    </a:solidFill>
                  </a:tcPr>
                </a:tc>
                <a:tc>
                  <a:txBody>
                    <a:bodyPr/>
                    <a:lstStyle/>
                    <a:p>
                      <a:r>
                        <a:rPr sz="1275" b="0">
                          <a:solidFill>
                            <a:srgbClr val="163444"/>
                          </a:solidFill>
                        </a:rPr>
                        <a:t>cuTensorNet</a:t>
                      </a:r>
                    </a:p>
                  </a:txBody>
                  <a:tcPr marL="91440" marR="91440" marT="45720" marB="45720">
                    <a:solidFill>
                      <a:srgbClr val="FFFFFF"/>
                    </a:solidFill>
                  </a:tcPr>
                </a:tc>
                <a:tc>
                  <a:txBody>
                    <a:bodyPr/>
                    <a:lstStyle/>
                    <a:p>
                      <a:r>
                        <a:rPr sz="1275" b="0">
                          <a:solidFill>
                            <a:srgbClr val="163444"/>
                          </a:solidFill>
                        </a:rPr>
                        <a:t>Native same-plan estimate / actual diagnostic</a:t>
                      </a:r>
                    </a:p>
                  </a:txBody>
                  <a:tcPr marL="91440" marR="91440" marT="45720" marB="45720">
                    <a:solidFill>
                      <a:srgbClr val="FFFFFF"/>
                    </a:solidFill>
                  </a:tcPr>
                </a:tc>
              </a:tr>
              <a:tr h="612321">
                <a:tc>
                  <a:txBody>
                    <a:bodyPr/>
                    <a:lstStyle/>
                    <a:p>
                      <a:r>
                        <a:rPr sz="1275" b="0">
                          <a:solidFill>
                            <a:srgbClr val="163444"/>
                          </a:solidFill>
                        </a:rPr>
                        <a:t>Hyb-HANAS</a:t>
                      </a:r>
                    </a:p>
                  </a:txBody>
                  <a:tcPr marL="91440" marR="91440" marT="45720" marB="45720">
                    <a:solidFill>
                      <a:srgbClr val="F4F7F8"/>
                    </a:solidFill>
                  </a:tcPr>
                </a:tc>
                <a:tc>
                  <a:txBody>
                    <a:bodyPr/>
                    <a:lstStyle/>
                    <a:p>
                      <a:r>
                        <a:rPr sz="1275" b="0">
                          <a:solidFill>
                            <a:srgbClr val="163444"/>
                          </a:solidFill>
                        </a:rPr>
                        <a:t>One-circuit cost adaptation; 8,420 finite</a:t>
                      </a:r>
                    </a:p>
                  </a:txBody>
                  <a:tcPr marL="91440" marR="91440" marT="45720" marB="45720">
                    <a:solidFill>
                      <a:srgbClr val="F4F7F8"/>
                    </a:solidFill>
                  </a:tcPr>
                </a:tc>
                <a:tc>
                  <a:txBody>
                    <a:bodyPr/>
                    <a:lstStyle/>
                    <a:p>
                      <a:r>
                        <a:rPr sz="1275" b="0">
                          <a:solidFill>
                            <a:srgbClr val="163444"/>
                          </a:solidFill>
                        </a:rPr>
                        <a:t>Pasqal emu-MPS</a:t>
                      </a:r>
                    </a:p>
                  </a:txBody>
                  <a:tcPr marL="91440" marR="91440" marT="45720" marB="45720">
                    <a:solidFill>
                      <a:srgbClr val="F4F7F8"/>
                    </a:solidFill>
                  </a:tcPr>
                </a:tc>
                <a:tc>
                  <a:txBody>
                    <a:bodyPr/>
                    <a:lstStyle/>
                    <a:p>
                      <a:r>
                        <a:rPr sz="1275" b="0">
                          <a:solidFill>
                            <a:srgbClr val="163444"/>
                          </a:solidFill>
                        </a:rPr>
                        <a:t>Analog companion; not digital common panel</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16696695-3A4B-47F0-AA78-3A1A5FB7ABB3}"/>
              </a:ext>
            </a:extLst>
          </p:cNvPr>
          <p:cNvSpPr>
            <a:spLocks xmlns:a="http://schemas.openxmlformats.org/drawingml/2006/main" noGrp="1"/>
          </p:cNvSpPr>
          <p:nvPr/>
        </p:nvSpPr>
        <p:spPr>
          <a:xfrm xmlns:a="http://schemas.openxmlformats.org/drawingml/2006/main">
            <a:off x="666750" y="5857875"/>
            <a:ext cx="1071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7F78"/>
                </a:solidFill>
                <a:latin typeface="Noto Sans"/>
                <a:ea typeface="Noto Sans"/>
                <a:cs typeface="Noto Sans"/>
              </a:defRPr>
            </a:pPr>
            <a:r>
              <a:rPr sz="1575" b="1">
                <a:solidFill>
                  <a:srgbClr val="007F78"/>
                </a:solidFill>
                <a:latin typeface="Noto Sans"/>
                <a:ea typeface="Noto Sans"/>
                <a:cs typeface="Noto Sans"/>
              </a:rPr>
              <a:t>MPS runtime-only adaptation was evaluated; 24 QPU variants are not 24 papers. Coverage ≠ accuracy.</a:t>
            </a:r>
          </a:p>
        </p:txBody>
      </p:sp>
    </p:spTree>
    <p:extLst>
      <p:ext uri="{BB962C8B-B14F-4D97-AF65-F5344CB8AC3E}">
        <p14:creationId xmlns:p14="http://schemas.microsoft.com/office/powerpoint/2010/main" val="7299526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3AA483-C581-43E0-AB06-8CE624D67BB2}"/>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MAE theo source trên shared rows</a:t>
            </a:r>
          </a:p>
        </p:txBody>
      </p:sp>
      <p:sp>
        <p:nvSpPr>
          <p:cNvPr id="2" name="">
            <a:extLst xmlns:a="http://schemas.openxmlformats.org/drawingml/2006/main">
              <a:ext uri="{FF2B5EF4-FFF2-40B4-BE49-F238E27FC236}">
                <a16:creationId xmlns:a16="http://schemas.microsoft.com/office/drawing/2014/main" id="{FD007EB6-70CA-43FA-9DD9-0FD3E63CDC7F}"/>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05</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bfe7105f7f547be"/>
          <a:stretch xmlns:a="http://schemas.openxmlformats.org/drawingml/2006/main"/>
        </p:blipFill>
        <p:spPr>
          <a:xfrm xmlns:a="http://schemas.openxmlformats.org/drawingml/2006/main">
            <a:off x="1101808" y="1352550"/>
            <a:ext cx="9988384" cy="45148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0F8E84-0186-400E-B948-203CE38A5F9B}"/>
              </a:ext>
            </a:extLst>
          </p:cNvPr>
          <p:cNvSpPr>
            <a:spLocks xmlns:a="http://schemas.openxmlformats.org/drawingml/2006/main" noGrp="1"/>
          </p:cNvSpPr>
          <p:nvPr/>
        </p:nvSpPr>
        <p:spPr>
          <a:xfrm xmlns:a="http://schemas.openxmlformats.org/drawingml/2006/main">
            <a:off x="74295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a:solidFill>
                  <a:srgbClr val="526873"/>
                </a:solidFill>
                <a:latin typeface="Noto Sans"/>
                <a:ea typeface="Noto Sans"/>
                <a:cs typeface="Noto Sans"/>
              </a:defRPr>
            </a:pPr>
            <a:r>
              <a:rPr sz="1275">
                <a:solidFill>
                  <a:srgbClr val="526873"/>
                </a:solidFill>
                <a:latin typeface="Noto Sans"/>
                <a:ea typeface="Noto Sans"/>
                <a:cs typeface="Noto Sans"/>
              </a:rPr>
              <a:t>Shared rows by source. 95% grouped-bootstrap CI for graph minus polynomial MAE. Lower MAE favors the graph adaptation.</a:t>
            </a:r>
          </a:p>
        </p:txBody>
      </p:sp>
    </p:spTree>
    <p:extLst>
      <p:ext uri="{BB962C8B-B14F-4D97-AF65-F5344CB8AC3E}">
        <p14:creationId xmlns:p14="http://schemas.microsoft.com/office/powerpoint/2010/main" val="17721290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60B6D53-C23C-4C6A-8805-FD5EE0A341B3}"/>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QPack: MAE và R²</a:t>
            </a:r>
          </a:p>
        </p:txBody>
      </p:sp>
      <p:sp>
        <p:nvSpPr>
          <p:cNvPr id="2" name="">
            <a:extLst xmlns:a="http://schemas.openxmlformats.org/drawingml/2006/main">
              <a:ext uri="{FF2B5EF4-FFF2-40B4-BE49-F238E27FC236}">
                <a16:creationId xmlns:a16="http://schemas.microsoft.com/office/drawing/2014/main" id="{4085EB1B-3477-47A9-92EE-440B057FE920}"/>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9E5F61DE-7656-4172-8F71-425202B26926}"/>
              </a:ext>
            </a:extLst>
          </p:cNvPr>
          <p:cNvSpPr>
            <a:spLocks xmlns:a="http://schemas.openxmlformats.org/drawingml/2006/main" noGrp="1"/>
          </p:cNvSpPr>
          <p:nvPr/>
        </p:nvSpPr>
        <p:spPr>
          <a:xfrm xmlns:a="http://schemas.openxmlformats.org/drawingml/2006/main">
            <a:off x="1047750" y="14287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Noto Sans"/>
                <a:ea typeface="Noto Sans"/>
                <a:cs typeface="Noto Sans"/>
              </a:defRPr>
            </a:pPr>
            <a:r>
              <a:rPr sz="1800" b="1">
                <a:solidFill>
                  <a:srgbClr val="007F78"/>
                </a:solidFill>
                <a:latin typeface="Noto Sans"/>
                <a:ea typeface="Noto Sans"/>
                <a:cs typeface="Noto Sans"/>
              </a:rPr>
              <a:t>MAE (s)</a:t>
            </a:r>
          </a:p>
        </p:txBody>
      </p:sp>
      <p:graphicFrame>
        <p:nvGraphicFramePr>
          <p:cNvPr id="27" name="Chart"/>
          <p:cNvGraphicFramePr/>
          <p:nvPr/>
        </p:nvGraphicFramePr>
        <p:xfrm>
          <a:off xmlns:a="http://schemas.openxmlformats.org/drawingml/2006/main" x="762000" y="1809750"/>
          <a:ext xmlns:a="http://schemas.openxmlformats.org/drawingml/2006/main" cx="4857750" cy="3143250"/>
        </p:xfrm>
        <a:graphic xmlns:a="http://schemas.openxmlformats.org/drawingml/2006/main">
          <a:graphicData uri="http://schemas.openxmlformats.org/drawingml/2006/chart">
            <c:chart xmlns:r="http://schemas.openxmlformats.org/officeDocument/2006/relationships" xmlns:c="http://schemas.openxmlformats.org/drawingml/2006/chart" r:id="R05cc9dea25a1445a"/>
          </a:graphicData>
        </a:graphic>
      </p:graphicFrame>
      <p:sp>
        <p:nvSpPr>
          <p:cNvPr id="5" name="">
            <a:extLst xmlns:a="http://schemas.openxmlformats.org/drawingml/2006/main">
              <a:ext uri="{FF2B5EF4-FFF2-40B4-BE49-F238E27FC236}">
                <a16:creationId xmlns:a16="http://schemas.microsoft.com/office/drawing/2014/main" id="{DD60592F-2A7E-4F5A-AAC9-86CC09FC4528}"/>
              </a:ext>
            </a:extLst>
          </p:cNvPr>
          <p:cNvSpPr>
            <a:spLocks xmlns:a="http://schemas.openxmlformats.org/drawingml/2006/main" noGrp="1"/>
          </p:cNvSpPr>
          <p:nvPr/>
        </p:nvSpPr>
        <p:spPr>
          <a:xfrm xmlns:a="http://schemas.openxmlformats.org/drawingml/2006/main">
            <a:off x="6572250" y="14287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Noto Sans"/>
                <a:ea typeface="Noto Sans"/>
                <a:cs typeface="Noto Sans"/>
              </a:defRPr>
            </a:pPr>
            <a:r>
              <a:rPr sz="1800" b="1">
                <a:solidFill>
                  <a:srgbClr val="007F78"/>
                </a:solidFill>
                <a:latin typeface="Noto Sans"/>
                <a:ea typeface="Noto Sans"/>
                <a:cs typeface="Noto Sans"/>
              </a:rPr>
              <a:t>R²</a:t>
            </a:r>
          </a:p>
        </p:txBody>
      </p:sp>
      <p:sp>
        <p:nvSpPr>
          <p:cNvPr id="6" name="">
            <a:extLst xmlns:a="http://schemas.openxmlformats.org/drawingml/2006/main">
              <a:ext uri="{FF2B5EF4-FFF2-40B4-BE49-F238E27FC236}">
                <a16:creationId xmlns:a16="http://schemas.microsoft.com/office/drawing/2014/main" id="{5E8A4431-AB15-4CE2-9736-B292579DF115}"/>
              </a:ext>
            </a:extLst>
          </p:cNvPr>
          <p:cNvSpPr>
            <a:spLocks xmlns:a="http://schemas.openxmlformats.org/drawingml/2006/main" noGrp="1"/>
          </p:cNvSpPr>
          <p:nvPr/>
        </p:nvSpPr>
        <p:spPr>
          <a:xfrm xmlns:a="http://schemas.openxmlformats.org/drawingml/2006/main">
            <a:off x="7667625" y="2209800"/>
            <a:ext cx="9525" cy="2552700"/>
          </a:xfrm>
          <a:prstGeom xmlns:a="http://schemas.openxmlformats.org/drawingml/2006/main" prst="rect">
            <a:avLst/>
          </a:prstGeom>
          <a:solidFill xmlns:a="http://schemas.openxmlformats.org/drawingml/2006/main">
            <a:srgbClr val="E7EC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3EE2ED-5224-4CF0-929B-CCD826FD0E90}"/>
              </a:ext>
            </a:extLst>
          </p:cNvPr>
          <p:cNvSpPr>
            <a:spLocks xmlns:a="http://schemas.openxmlformats.org/drawingml/2006/main" noGrp="1"/>
          </p:cNvSpPr>
          <p:nvPr/>
        </p:nvSpPr>
        <p:spPr>
          <a:xfrm xmlns:a="http://schemas.openxmlformats.org/drawingml/2006/main">
            <a:off x="74390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-0.8</a:t>
            </a:r>
          </a:p>
        </p:txBody>
      </p:sp>
      <p:sp>
        <p:nvSpPr>
          <p:cNvPr id="8" name="">
            <a:extLst xmlns:a="http://schemas.openxmlformats.org/drawingml/2006/main">
              <a:ext uri="{FF2B5EF4-FFF2-40B4-BE49-F238E27FC236}">
                <a16:creationId xmlns:a16="http://schemas.microsoft.com/office/drawing/2014/main" id="{D88B4D70-A7AC-4460-A4EF-D61A182CEC20}"/>
              </a:ext>
            </a:extLst>
          </p:cNvPr>
          <p:cNvSpPr>
            <a:spLocks xmlns:a="http://schemas.openxmlformats.org/drawingml/2006/main" noGrp="1"/>
          </p:cNvSpPr>
          <p:nvPr/>
        </p:nvSpPr>
        <p:spPr>
          <a:xfrm xmlns:a="http://schemas.openxmlformats.org/drawingml/2006/main">
            <a:off x="8239125" y="2209800"/>
            <a:ext cx="9525" cy="2552700"/>
          </a:xfrm>
          <a:prstGeom xmlns:a="http://schemas.openxmlformats.org/drawingml/2006/main" prst="rect">
            <a:avLst/>
          </a:prstGeom>
          <a:solidFill xmlns:a="http://schemas.openxmlformats.org/drawingml/2006/main">
            <a:srgbClr val="E7EC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1F260F7-4794-47CD-A20E-29647DA7D08A}"/>
              </a:ext>
            </a:extLst>
          </p:cNvPr>
          <p:cNvSpPr>
            <a:spLocks xmlns:a="http://schemas.openxmlformats.org/drawingml/2006/main" noGrp="1"/>
          </p:cNvSpPr>
          <p:nvPr/>
        </p:nvSpPr>
        <p:spPr>
          <a:xfrm xmlns:a="http://schemas.openxmlformats.org/drawingml/2006/main">
            <a:off x="80105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-0.6</a:t>
            </a:r>
          </a:p>
        </p:txBody>
      </p:sp>
      <p:sp>
        <p:nvSpPr>
          <p:cNvPr id="10" name="">
            <a:extLst xmlns:a="http://schemas.openxmlformats.org/drawingml/2006/main">
              <a:ext uri="{FF2B5EF4-FFF2-40B4-BE49-F238E27FC236}">
                <a16:creationId xmlns:a16="http://schemas.microsoft.com/office/drawing/2014/main" id="{9CD19264-FAE6-45AD-A949-C3FCC462863F}"/>
              </a:ext>
            </a:extLst>
          </p:cNvPr>
          <p:cNvSpPr>
            <a:spLocks xmlns:a="http://schemas.openxmlformats.org/drawingml/2006/main" noGrp="1"/>
          </p:cNvSpPr>
          <p:nvPr/>
        </p:nvSpPr>
        <p:spPr>
          <a:xfrm xmlns:a="http://schemas.openxmlformats.org/drawingml/2006/main">
            <a:off x="8810625" y="2209800"/>
            <a:ext cx="9525" cy="2552700"/>
          </a:xfrm>
          <a:prstGeom xmlns:a="http://schemas.openxmlformats.org/drawingml/2006/main" prst="rect">
            <a:avLst/>
          </a:prstGeom>
          <a:solidFill xmlns:a="http://schemas.openxmlformats.org/drawingml/2006/main">
            <a:srgbClr val="E7EC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58D28A2-44C5-4F27-B961-0FCA8970A761}"/>
              </a:ext>
            </a:extLst>
          </p:cNvPr>
          <p:cNvSpPr>
            <a:spLocks xmlns:a="http://schemas.openxmlformats.org/drawingml/2006/main" noGrp="1"/>
          </p:cNvSpPr>
          <p:nvPr/>
        </p:nvSpPr>
        <p:spPr>
          <a:xfrm xmlns:a="http://schemas.openxmlformats.org/drawingml/2006/main">
            <a:off x="85820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-0.4</a:t>
            </a:r>
          </a:p>
        </p:txBody>
      </p:sp>
      <p:sp>
        <p:nvSpPr>
          <p:cNvPr id="12" name="">
            <a:extLst xmlns:a="http://schemas.openxmlformats.org/drawingml/2006/main">
              <a:ext uri="{FF2B5EF4-FFF2-40B4-BE49-F238E27FC236}">
                <a16:creationId xmlns:a16="http://schemas.microsoft.com/office/drawing/2014/main" id="{13E35DDE-2007-42B8-B2E8-80D214B8522D}"/>
              </a:ext>
            </a:extLst>
          </p:cNvPr>
          <p:cNvSpPr>
            <a:spLocks xmlns:a="http://schemas.openxmlformats.org/drawingml/2006/main" noGrp="1"/>
          </p:cNvSpPr>
          <p:nvPr/>
        </p:nvSpPr>
        <p:spPr>
          <a:xfrm xmlns:a="http://schemas.openxmlformats.org/drawingml/2006/main">
            <a:off x="9382125" y="2209800"/>
            <a:ext cx="9525" cy="2552700"/>
          </a:xfrm>
          <a:prstGeom xmlns:a="http://schemas.openxmlformats.org/drawingml/2006/main" prst="rect">
            <a:avLst/>
          </a:prstGeom>
          <a:solidFill xmlns:a="http://schemas.openxmlformats.org/drawingml/2006/main">
            <a:srgbClr val="E7EC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2A3F56E-6A41-4697-A114-0D9BF3CF7C39}"/>
              </a:ext>
            </a:extLst>
          </p:cNvPr>
          <p:cNvSpPr>
            <a:spLocks xmlns:a="http://schemas.openxmlformats.org/drawingml/2006/main" noGrp="1"/>
          </p:cNvSpPr>
          <p:nvPr/>
        </p:nvSpPr>
        <p:spPr>
          <a:xfrm xmlns:a="http://schemas.openxmlformats.org/drawingml/2006/main">
            <a:off x="91535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-0.2</a:t>
            </a:r>
          </a:p>
        </p:txBody>
      </p:sp>
      <p:sp>
        <p:nvSpPr>
          <p:cNvPr id="14" name="">
            <a:extLst xmlns:a="http://schemas.openxmlformats.org/drawingml/2006/main">
              <a:ext uri="{FF2B5EF4-FFF2-40B4-BE49-F238E27FC236}">
                <a16:creationId xmlns:a16="http://schemas.microsoft.com/office/drawing/2014/main" id="{1A6FA0B6-C2C7-48EB-8D05-7C53D0E51AF7}"/>
              </a:ext>
            </a:extLst>
          </p:cNvPr>
          <p:cNvSpPr>
            <a:spLocks xmlns:a="http://schemas.openxmlformats.org/drawingml/2006/main" noGrp="1"/>
          </p:cNvSpPr>
          <p:nvPr/>
        </p:nvSpPr>
        <p:spPr>
          <a:xfrm xmlns:a="http://schemas.openxmlformats.org/drawingml/2006/main">
            <a:off x="9953625" y="2209800"/>
            <a:ext cx="19050" cy="2552700"/>
          </a:xfrm>
          <a:prstGeom xmlns:a="http://schemas.openxmlformats.org/drawingml/2006/main" prst="rect">
            <a:avLst/>
          </a:prstGeom>
          <a:solidFill xmlns:a="http://schemas.openxmlformats.org/drawingml/2006/main">
            <a:srgbClr val="CBD6D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9B5083A-082A-40FB-AD8F-D26623FCA7B7}"/>
              </a:ext>
            </a:extLst>
          </p:cNvPr>
          <p:cNvSpPr>
            <a:spLocks xmlns:a="http://schemas.openxmlformats.org/drawingml/2006/main" noGrp="1"/>
          </p:cNvSpPr>
          <p:nvPr/>
        </p:nvSpPr>
        <p:spPr>
          <a:xfrm xmlns:a="http://schemas.openxmlformats.org/drawingml/2006/main">
            <a:off x="9725025" y="4810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200">
                <a:solidFill>
                  <a:srgbClr val="526873"/>
                </a:solidFill>
                <a:latin typeface="Noto Sans"/>
                <a:ea typeface="Noto Sans"/>
                <a:cs typeface="Noto Sans"/>
              </a:defRPr>
            </a:pPr>
            <a:r>
              <a:rPr sz="1200">
                <a:solidFill>
                  <a:srgbClr val="526873"/>
                </a:solidFill>
                <a:latin typeface="Noto Sans"/>
                <a:ea typeface="Noto Sans"/>
                <a:cs typeface="Noto Sans"/>
              </a:rPr>
              <a:t>0.0</a:t>
            </a:r>
          </a:p>
        </p:txBody>
      </p:sp>
      <p:sp>
        <p:nvSpPr>
          <p:cNvPr id="16" name="">
            <a:extLst xmlns:a="http://schemas.openxmlformats.org/drawingml/2006/main">
              <a:ext uri="{FF2B5EF4-FFF2-40B4-BE49-F238E27FC236}">
                <a16:creationId xmlns:a16="http://schemas.microsoft.com/office/drawing/2014/main" id="{3AA0E57A-5761-4E8C-B702-21D15EBE76FE}"/>
              </a:ext>
            </a:extLst>
          </p:cNvPr>
          <p:cNvSpPr>
            <a:spLocks xmlns:a="http://schemas.openxmlformats.org/drawingml/2006/main" noGrp="1"/>
          </p:cNvSpPr>
          <p:nvPr/>
        </p:nvSpPr>
        <p:spPr>
          <a:xfrm xmlns:a="http://schemas.openxmlformats.org/drawingml/2006/main">
            <a:off x="6191250" y="2476500"/>
            <a:ext cx="1352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526873"/>
                </a:solidFill>
                <a:latin typeface="Noto Sans"/>
                <a:ea typeface="Noto Sans"/>
                <a:cs typeface="Noto Sans"/>
              </a:defRPr>
            </a:pPr>
            <a:r>
              <a:rPr sz="1350">
                <a:solidFill>
                  <a:srgbClr val="526873"/>
                </a:solidFill>
                <a:latin typeface="Noto Sans"/>
                <a:ea typeface="Noto Sans"/>
                <a:cs typeface="Noto Sans"/>
              </a:rPr>
              <a:t>Polynomial</a:t>
            </a:r>
          </a:p>
        </p:txBody>
      </p:sp>
      <p:sp>
        <p:nvSpPr>
          <p:cNvPr id="17" name="">
            <a:extLst xmlns:a="http://schemas.openxmlformats.org/drawingml/2006/main">
              <a:ext uri="{FF2B5EF4-FFF2-40B4-BE49-F238E27FC236}">
                <a16:creationId xmlns:a16="http://schemas.microsoft.com/office/drawing/2014/main" id="{718B7A13-671F-4AEB-9C50-9BC8AA610B43}"/>
              </a:ext>
            </a:extLst>
          </p:cNvPr>
          <p:cNvSpPr>
            <a:spLocks xmlns:a="http://schemas.openxmlformats.org/drawingml/2006/main" noGrp="1"/>
          </p:cNvSpPr>
          <p:nvPr/>
        </p:nvSpPr>
        <p:spPr>
          <a:xfrm xmlns:a="http://schemas.openxmlformats.org/drawingml/2006/main">
            <a:off x="8148745" y="2295525"/>
            <a:ext cx="1804880" cy="666750"/>
          </a:xfrm>
          <a:prstGeom xmlns:a="http://schemas.openxmlformats.org/drawingml/2006/main" prst="rect">
            <a:avLst/>
          </a:prstGeom>
          <a:solidFill xmlns:a="http://schemas.openxmlformats.org/drawingml/2006/main">
            <a:srgbClr val="B66A1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9ADAFE8-6FFF-48C9-A4AC-E891C44C7EB1}"/>
              </a:ext>
            </a:extLst>
          </p:cNvPr>
          <p:cNvSpPr>
            <a:spLocks xmlns:a="http://schemas.openxmlformats.org/drawingml/2006/main" noGrp="1"/>
          </p:cNvSpPr>
          <p:nvPr/>
        </p:nvSpPr>
        <p:spPr>
          <a:xfrm xmlns:a="http://schemas.openxmlformats.org/drawingml/2006/main">
            <a:off x="10077450" y="2476500"/>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3444"/>
                </a:solidFill>
                <a:latin typeface="Noto Sans"/>
                <a:ea typeface="Noto Sans"/>
                <a:cs typeface="Noto Sans"/>
              </a:defRPr>
            </a:pPr>
            <a:r>
              <a:rPr sz="1350" b="1">
                <a:solidFill>
                  <a:srgbClr val="163444"/>
                </a:solidFill>
                <a:latin typeface="Noto Sans"/>
                <a:ea typeface="Noto Sans"/>
                <a:cs typeface="Noto Sans"/>
              </a:rPr>
              <a:t>−0.631629</a:t>
            </a:r>
          </a:p>
        </p:txBody>
      </p:sp>
      <p:sp>
        <p:nvSpPr>
          <p:cNvPr id="19" name="">
            <a:extLst xmlns:a="http://schemas.openxmlformats.org/drawingml/2006/main">
              <a:ext uri="{FF2B5EF4-FFF2-40B4-BE49-F238E27FC236}">
                <a16:creationId xmlns:a16="http://schemas.microsoft.com/office/drawing/2014/main" id="{579A358E-6587-4A40-9D2B-FE379F605DA5}"/>
              </a:ext>
            </a:extLst>
          </p:cNvPr>
          <p:cNvSpPr>
            <a:spLocks xmlns:a="http://schemas.openxmlformats.org/drawingml/2006/main" noGrp="1"/>
          </p:cNvSpPr>
          <p:nvPr/>
        </p:nvSpPr>
        <p:spPr>
          <a:xfrm xmlns:a="http://schemas.openxmlformats.org/drawingml/2006/main">
            <a:off x="6191250" y="3752850"/>
            <a:ext cx="1352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526873"/>
                </a:solidFill>
                <a:latin typeface="Noto Sans"/>
                <a:ea typeface="Noto Sans"/>
                <a:cs typeface="Noto Sans"/>
              </a:defRPr>
            </a:pPr>
            <a:r>
              <a:rPr sz="1350">
                <a:solidFill>
                  <a:srgbClr val="526873"/>
                </a:solidFill>
                <a:latin typeface="Noto Sans"/>
                <a:ea typeface="Noto Sans"/>
                <a:cs typeface="Noto Sans"/>
              </a:rPr>
              <a:t>Graph V3-large</a:t>
            </a:r>
          </a:p>
        </p:txBody>
      </p:sp>
      <p:sp>
        <p:nvSpPr>
          <p:cNvPr id="20" name="">
            <a:extLst xmlns:a="http://schemas.openxmlformats.org/drawingml/2006/main">
              <a:ext uri="{FF2B5EF4-FFF2-40B4-BE49-F238E27FC236}">
                <a16:creationId xmlns:a16="http://schemas.microsoft.com/office/drawing/2014/main" id="{6E46E476-D9A0-45F4-A8F5-A3DA80FBA375}"/>
              </a:ext>
            </a:extLst>
          </p:cNvPr>
          <p:cNvSpPr>
            <a:spLocks xmlns:a="http://schemas.openxmlformats.org/drawingml/2006/main" noGrp="1"/>
          </p:cNvSpPr>
          <p:nvPr/>
        </p:nvSpPr>
        <p:spPr>
          <a:xfrm xmlns:a="http://schemas.openxmlformats.org/drawingml/2006/main">
            <a:off x="9682485" y="3571875"/>
            <a:ext cx="271140" cy="666750"/>
          </a:xfrm>
          <a:prstGeom xmlns:a="http://schemas.openxmlformats.org/drawingml/2006/main" prst="rect">
            <a:avLst/>
          </a:prstGeom>
          <a:solidFill xmlns:a="http://schemas.openxmlformats.org/drawingml/2006/main">
            <a:srgbClr val="B66A1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E9DCED-1024-444C-9AA7-BEE186139752}"/>
              </a:ext>
            </a:extLst>
          </p:cNvPr>
          <p:cNvSpPr>
            <a:spLocks xmlns:a="http://schemas.openxmlformats.org/drawingml/2006/main" noGrp="1"/>
          </p:cNvSpPr>
          <p:nvPr/>
        </p:nvSpPr>
        <p:spPr>
          <a:xfrm xmlns:a="http://schemas.openxmlformats.org/drawingml/2006/main">
            <a:off x="10077450" y="3752850"/>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3444"/>
                </a:solidFill>
                <a:latin typeface="Noto Sans"/>
                <a:ea typeface="Noto Sans"/>
                <a:cs typeface="Noto Sans"/>
              </a:defRPr>
            </a:pPr>
            <a:r>
              <a:rPr sz="1350" b="1">
                <a:solidFill>
                  <a:srgbClr val="163444"/>
                </a:solidFill>
                <a:latin typeface="Noto Sans"/>
                <a:ea typeface="Noto Sans"/>
                <a:cs typeface="Noto Sans"/>
              </a:rPr>
              <a:t>−0.094887</a:t>
            </a:r>
          </a:p>
        </p:txBody>
      </p:sp>
      <p:sp>
        <p:nvSpPr>
          <p:cNvPr id="22" name="">
            <a:extLst xmlns:a="http://schemas.openxmlformats.org/drawingml/2006/main">
              <a:ext uri="{FF2B5EF4-FFF2-40B4-BE49-F238E27FC236}">
                <a16:creationId xmlns:a16="http://schemas.microsoft.com/office/drawing/2014/main" id="{65D9031B-6284-46DE-9261-97D81BE4A922}"/>
              </a:ext>
            </a:extLst>
          </p:cNvPr>
          <p:cNvSpPr>
            <a:spLocks xmlns:a="http://schemas.openxmlformats.org/drawingml/2006/main" noGrp="1"/>
          </p:cNvSpPr>
          <p:nvPr/>
        </p:nvSpPr>
        <p:spPr>
          <a:xfrm xmlns:a="http://schemas.openxmlformats.org/drawingml/2006/main">
            <a:off x="742950" y="5286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a:solidFill>
                  <a:srgbClr val="25495A"/>
                </a:solidFill>
                <a:latin typeface="Noto Sans"/>
                <a:ea typeface="Noto Sans"/>
                <a:cs typeface="Noto Sans"/>
              </a:defRPr>
            </a:pPr>
            <a:r>
              <a:rPr sz="1500">
                <a:solidFill>
                  <a:srgbClr val="25495A"/>
                </a:solidFill>
                <a:latin typeface="Noto Sans"/>
                <a:ea typeface="Noto Sans"/>
                <a:cs typeface="Noto Sans"/>
              </a:rPr>
              <a:t>Equal-workflow MAE diagnostic: 0.946290 s vs 1.217754 s across 46 workflows. Both R² values remain negative.</a:t>
            </a:r>
          </a:p>
        </p:txBody>
      </p:sp>
      <p:sp>
        <p:nvSpPr>
          <p:cNvPr id="23" name="">
            <a:extLst xmlns:a="http://schemas.openxmlformats.org/drawingml/2006/main">
              <a:ext uri="{FF2B5EF4-FFF2-40B4-BE49-F238E27FC236}">
                <a16:creationId xmlns:a16="http://schemas.microsoft.com/office/drawing/2014/main" id="{76A52D84-DB11-48FD-9DEA-04E0D4F9F5AA}"/>
              </a:ext>
            </a:extLst>
          </p:cNvPr>
          <p:cNvSpPr>
            <a:spLocks xmlns:a="http://schemas.openxmlformats.org/drawingml/2006/main" noGrp="1"/>
          </p:cNvSpPr>
          <p:nvPr/>
        </p:nvSpPr>
        <p:spPr>
          <a:xfrm xmlns:a="http://schemas.openxmlformats.org/drawingml/2006/main">
            <a:off x="742950" y="5829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526873"/>
                </a:solidFill>
                <a:latin typeface="Noto Sans"/>
                <a:ea typeface="Noto Sans"/>
                <a:cs typeface="Noto Sans"/>
              </a:defRPr>
            </a:pPr>
            <a:r>
              <a:rPr sz="1425">
                <a:solidFill>
                  <a:srgbClr val="526873"/>
                </a:solidFill>
                <a:latin typeface="Noto Sans"/>
                <a:ea typeface="Noto Sans"/>
                <a:cs typeface="Noto Sans"/>
              </a:rPr>
              <a:t>6 templates recur; workflow holdout is not unseen-template validation.</a:t>
            </a:r>
          </a:p>
        </p:txBody>
      </p:sp>
    </p:spTree>
    <p:extLst>
      <p:ext uri="{BB962C8B-B14F-4D97-AF65-F5344CB8AC3E}">
        <p14:creationId xmlns:p14="http://schemas.microsoft.com/office/powerpoint/2010/main" val="20835178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E312C0-A082-48E6-A2FB-C4A34A4E7744}"/>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Scheduled duration và observed service time</a:t>
            </a:r>
          </a:p>
        </p:txBody>
      </p:sp>
      <p:sp>
        <p:nvSpPr>
          <p:cNvPr id="2" name="">
            <a:extLst xmlns:a="http://schemas.openxmlformats.org/drawingml/2006/main">
              <a:ext uri="{FF2B5EF4-FFF2-40B4-BE49-F238E27FC236}">
                <a16:creationId xmlns:a16="http://schemas.microsoft.com/office/drawing/2014/main" id="{9234326B-DC82-44D8-BB3A-8DB1B4924902}"/>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07</a:t>
            </a:r>
          </a:p>
        </p:txBody>
      </p:sp>
      <p:graphicFrame>
        <p:nvGraphicFramePr>
          <p:cNvPr id="7" name=""/>
          <p:cNvGraphicFramePr/>
          <p:nvPr/>
        </p:nvGraphicFramePr>
        <p:xfrm>
          <a:off xmlns:a="http://schemas.openxmlformats.org/drawingml/2006/main" x="666750" y="1466850"/>
          <a:ext xmlns:a="http://schemas.openxmlformats.org/drawingml/2006/main" cx="10858500" cy="3429000"/>
        </p:xfrm>
        <a:graphic xmlns:a="http://schemas.openxmlformats.org/drawingml/2006/main">
          <a:graphicData uri="http://schemas.openxmlformats.org/drawingml/2006/table">
            <a:tbl>
              <a:tblPr/>
              <a:tblGrid>
                <a:gridCol w="2667000"/>
                <a:gridCol w="2952750"/>
                <a:gridCol w="5238750"/>
              </a:tblGrid>
              <a:tr h="685800">
                <a:tc>
                  <a:txBody>
                    <a:bodyPr/>
                    <a:lstStyle/>
                    <a:p>
                      <a:r>
                        <a:rPr sz="1500" b="1">
                          <a:solidFill>
                            <a:srgbClr val="FFFFFF"/>
                          </a:solidFill>
                        </a:rPr>
                        <a:t>Route</a:t>
                      </a:r>
                    </a:p>
                  </a:txBody>
                  <a:tcPr marL="91440" marR="91440" marT="45720" marB="45720">
                    <a:solidFill>
                      <a:srgbClr val="25495A"/>
                    </a:solidFill>
                  </a:tcPr>
                </a:tc>
                <a:tc>
                  <a:txBody>
                    <a:bodyPr/>
                    <a:lstStyle/>
                    <a:p>
                      <a:r>
                        <a:rPr sz="1500" b="1">
                          <a:solidFill>
                            <a:srgbClr val="FFFFFF"/>
                          </a:solidFill>
                        </a:rPr>
                        <a:t>Output clock</a:t>
                      </a:r>
                    </a:p>
                  </a:txBody>
                  <a:tcPr marL="91440" marR="91440" marT="45720" marB="45720">
                    <a:solidFill>
                      <a:srgbClr val="25495A"/>
                    </a:solidFill>
                  </a:tcPr>
                </a:tc>
                <a:tc>
                  <a:txBody>
                    <a:bodyPr/>
                    <a:lstStyle/>
                    <a:p>
                      <a:r>
                        <a:rPr sz="1500" b="1">
                          <a:solidFill>
                            <a:srgbClr val="FFFFFF"/>
                          </a:solidFill>
                        </a:rPr>
                        <a:t>What it excludes or changes</a:t>
                      </a:r>
                    </a:p>
                  </a:txBody>
                  <a:tcPr marL="91440" marR="91440" marT="45720" marB="45720">
                    <a:solidFill>
                      <a:srgbClr val="25495A"/>
                    </a:solidFill>
                  </a:tcPr>
                </a:tc>
              </a:tr>
              <a:tr h="685800">
                <a:tc>
                  <a:txBody>
                    <a:bodyPr/>
                    <a:lstStyle/>
                    <a:p>
                      <a:r>
                        <a:rPr sz="1500" b="0">
                          <a:solidFill>
                            <a:srgbClr val="163444"/>
                          </a:solidFill>
                        </a:rPr>
                        <a:t>QCRE critical path</a:t>
                      </a:r>
                    </a:p>
                  </a:txBody>
                  <a:tcPr marL="91440" marR="91440" marT="45720" marB="45720">
                    <a:solidFill>
                      <a:srgbClr val="FFFFFF"/>
                    </a:solidFill>
                  </a:tcPr>
                </a:tc>
                <a:tc>
                  <a:txBody>
                    <a:bodyPr/>
                    <a:lstStyle/>
                    <a:p>
                      <a:r>
                        <a:rPr sz="1500" b="0">
                          <a:solidFill>
                            <a:srgbClr val="163444"/>
                          </a:solidFill>
                        </a:rPr>
                        <a:t>Scheduled single-shot</a:t>
                      </a:r>
                    </a:p>
                  </a:txBody>
                  <a:tcPr marL="91440" marR="91440" marT="45720" marB="45720">
                    <a:solidFill>
                      <a:srgbClr val="FFFFFF"/>
                    </a:solidFill>
                  </a:tcPr>
                </a:tc>
                <a:tc>
                  <a:txBody>
                    <a:bodyPr/>
                    <a:lstStyle/>
                    <a:p>
                      <a:r>
                        <a:rPr sz="1500" b="0">
                          <a:solidFill>
                            <a:srgbClr val="163444"/>
                          </a:solidFill>
                        </a:rPr>
                        <a:t>No queue, service, transport, or fixed overhead</a:t>
                      </a:r>
                    </a:p>
                  </a:txBody>
                  <a:tcPr marL="91440" marR="91440" marT="45720" marB="45720">
                    <a:solidFill>
                      <a:srgbClr val="FFFFFF"/>
                    </a:solidFill>
                  </a:tcPr>
                </a:tc>
              </a:tr>
              <a:tr h="685800">
                <a:tc>
                  <a:txBody>
                    <a:bodyPr/>
                    <a:lstStyle/>
                    <a:p>
                      <a:r>
                        <a:rPr sz="1500" b="0">
                          <a:solidFill>
                            <a:srgbClr val="163444"/>
                          </a:solidFill>
                        </a:rPr>
                        <a:t>Qiskit estimate_duration</a:t>
                      </a:r>
                    </a:p>
                  </a:txBody>
                  <a:tcPr marL="91440" marR="91440" marT="45720" marB="45720">
                    <a:solidFill>
                      <a:srgbClr val="F4F7F8"/>
                    </a:solidFill>
                  </a:tcPr>
                </a:tc>
                <a:tc>
                  <a:txBody>
                    <a:bodyPr/>
                    <a:lstStyle/>
                    <a:p>
                      <a:r>
                        <a:rPr sz="1500" b="0">
                          <a:solidFill>
                            <a:srgbClr val="163444"/>
                          </a:solidFill>
                        </a:rPr>
                        <a:t>Scheduled single-shot</a:t>
                      </a:r>
                    </a:p>
                  </a:txBody>
                  <a:tcPr marL="91440" marR="91440" marT="45720" marB="45720">
                    <a:solidFill>
                      <a:srgbClr val="F4F7F8"/>
                    </a:solidFill>
                  </a:tcPr>
                </a:tc>
                <a:tc>
                  <a:txBody>
                    <a:bodyPr/>
                    <a:lstStyle/>
                    <a:p>
                      <a:r>
                        <a:rPr sz="1500" b="0">
                          <a:solidFill>
                            <a:srgbClr val="163444"/>
                          </a:solidFill>
                        </a:rPr>
                        <a:t>Native API output under frozen Target</a:t>
                      </a:r>
                    </a:p>
                  </a:txBody>
                  <a:tcPr marL="91440" marR="91440" marT="45720" marB="45720">
                    <a:solidFill>
                      <a:srgbClr val="F4F7F8"/>
                    </a:solidFill>
                  </a:tcPr>
                </a:tc>
              </a:tr>
              <a:tr h="685800">
                <a:tc>
                  <a:txBody>
                    <a:bodyPr/>
                    <a:lstStyle/>
                    <a:p>
                      <a:r>
                        <a:rPr sz="1500" b="0">
                          <a:solidFill>
                            <a:srgbClr val="163444"/>
                          </a:solidFill>
                        </a:rPr>
                        <a:t>Shot-scaled variants</a:t>
                      </a:r>
                    </a:p>
                  </a:txBody>
                  <a:tcPr marL="91440" marR="91440" marT="45720" marB="45720">
                    <a:solidFill>
                      <a:srgbClr val="FFFFFF"/>
                    </a:solidFill>
                  </a:tcPr>
                </a:tc>
                <a:tc>
                  <a:txBody>
                    <a:bodyPr/>
                    <a:lstStyle/>
                    <a:p>
                      <a:r>
                        <a:rPr sz="1500" b="0">
                          <a:solidFill>
                            <a:srgbClr val="163444"/>
                          </a:solidFill>
                        </a:rPr>
                        <a:t>Scheduled total proxy</a:t>
                      </a:r>
                    </a:p>
                  </a:txBody>
                  <a:tcPr marL="91440" marR="91440" marT="45720" marB="45720">
                    <a:solidFill>
                      <a:srgbClr val="FFFFFF"/>
                    </a:solidFill>
                  </a:tcPr>
                </a:tc>
                <a:tc>
                  <a:txBody>
                    <a:bodyPr/>
                    <a:lstStyle/>
                    <a:p>
                      <a:r>
                        <a:rPr sz="1500" b="0">
                          <a:solidFill>
                            <a:srgbClr val="163444"/>
                          </a:solidFill>
                        </a:rPr>
                        <a:t>Non-native multiplication by shots</a:t>
                      </a:r>
                    </a:p>
                  </a:txBody>
                  <a:tcPr marL="91440" marR="91440" marT="45720" marB="45720">
                    <a:solidFill>
                      <a:srgbClr val="FFFFFF"/>
                    </a:solidFill>
                  </a:tcPr>
                </a:tc>
              </a:tr>
              <a:tr h="685800">
                <a:tc>
                  <a:txBody>
                    <a:bodyPr/>
                    <a:lstStyle/>
                    <a:p>
                      <a:r>
                        <a:rPr sz="1500" b="0">
                          <a:solidFill>
                            <a:srgbClr val="163444"/>
                          </a:solidFill>
                        </a:rPr>
                        <a:t>Outer-train calibration</a:t>
                      </a:r>
                    </a:p>
                  </a:txBody>
                  <a:tcPr marL="91440" marR="91440" marT="45720" marB="45720">
                    <a:solidFill>
                      <a:srgbClr val="F4F7F8"/>
                    </a:solidFill>
                  </a:tcPr>
                </a:tc>
                <a:tc>
                  <a:txBody>
                    <a:bodyPr/>
                    <a:lstStyle/>
                    <a:p>
                      <a:r>
                        <a:rPr sz="1500" b="0">
                          <a:solidFill>
                            <a:srgbClr val="163444"/>
                          </a:solidFill>
                        </a:rPr>
                        <a:t>Calibrated service-time target</a:t>
                      </a:r>
                    </a:p>
                  </a:txBody>
                  <a:tcPr marL="91440" marR="91440" marT="45720" marB="45720">
                    <a:solidFill>
                      <a:srgbClr val="F4F7F8"/>
                    </a:solidFill>
                  </a:tcPr>
                </a:tc>
                <a:tc>
                  <a:txBody>
                    <a:bodyPr/>
                    <a:lstStyle/>
                    <a:p>
                      <a:r>
                        <a:rPr sz="1500" b="0">
                          <a:solidFill>
                            <a:srgbClr val="163444"/>
                          </a:solidFill>
                        </a:rPr>
                        <a:t>Adaptation, fit on outer-train only</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9B612572-20C9-41D0-9B4F-38E0389F3A1A}"/>
              </a:ext>
            </a:extLst>
          </p:cNvPr>
          <p:cNvSpPr>
            <a:spLocks xmlns:a="http://schemas.openxmlformats.org/drawingml/2006/main" noGrp="1"/>
          </p:cNvSpPr>
          <p:nvPr/>
        </p:nvSpPr>
        <p:spPr>
          <a:xfrm xmlns:a="http://schemas.openxmlformats.org/drawingml/2006/main">
            <a:off x="742950" y="5286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8"/>
                </a:solidFill>
                <a:latin typeface="Noto Sans"/>
                <a:ea typeface="Noto Sans"/>
                <a:cs typeface="Noto Sans"/>
              </a:defRPr>
            </a:pPr>
            <a:r>
              <a:rPr sz="1725" b="1">
                <a:solidFill>
                  <a:srgbClr val="007F78"/>
                </a:solidFill>
                <a:latin typeface="Noto Sans"/>
                <a:ea typeface="Noto Sans"/>
                <a:cs typeface="Noto Sans"/>
              </a:rPr>
              <a:t>8.766 predictions per raw route. Row4477 is unavailable. Scheduled duration does not replace observed QPU service time.</a:t>
            </a:r>
          </a:p>
        </p:txBody>
      </p:sp>
    </p:spTree>
    <p:extLst>
      <p:ext uri="{BB962C8B-B14F-4D97-AF65-F5344CB8AC3E}">
        <p14:creationId xmlns:p14="http://schemas.microsoft.com/office/powerpoint/2010/main" val="20314713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882ACE-61FE-4F00-96DE-70B24FC1912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Aer: predictor trên 150 circuit hashes</a:t>
            </a:r>
          </a:p>
        </p:txBody>
      </p:sp>
      <p:sp>
        <p:nvSpPr>
          <p:cNvPr id="2" name="">
            <a:extLst xmlns:a="http://schemas.openxmlformats.org/drawingml/2006/main">
              <a:ext uri="{FF2B5EF4-FFF2-40B4-BE49-F238E27FC236}">
                <a16:creationId xmlns:a16="http://schemas.microsoft.com/office/drawing/2014/main" id="{0CC16218-E3E6-40D8-A222-808979018864}"/>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496a3b75ec944c2"/>
          <a:stretch xmlns:a="http://schemas.openxmlformats.org/drawingml/2006/main"/>
        </p:blipFill>
        <p:spPr>
          <a:xfrm xmlns:a="http://schemas.openxmlformats.org/drawingml/2006/main">
            <a:off x="1473744" y="1028700"/>
            <a:ext cx="9244513"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16E93E-958E-4F14-8EDD-979ADB296CFA}"/>
              </a:ext>
            </a:extLst>
          </p:cNvPr>
          <p:cNvSpPr>
            <a:spLocks xmlns:a="http://schemas.openxmlformats.org/drawingml/2006/main" noGrp="1"/>
          </p:cNvSpPr>
          <p:nvPr/>
        </p:nvSpPr>
        <p:spPr>
          <a:xfrm xmlns:a="http://schemas.openxmlformats.org/drawingml/2006/main">
            <a:off x="685800" y="58578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8"/>
                </a:solidFill>
                <a:latin typeface="Noto Sans"/>
                <a:ea typeface="Noto Sans"/>
                <a:cs typeface="Noto Sans"/>
              </a:defRPr>
            </a:pPr>
            <a:r>
              <a:rPr sz="1350" b="1">
                <a:solidFill>
                  <a:srgbClr val="007F78"/>
                </a:solidFill>
                <a:latin typeface="Noto Sans"/>
                <a:ea typeface="Noto Sans"/>
                <a:cs typeface="Noto Sans"/>
              </a:rPr>
              <a:t>Noisy-Aer warm · n=150. MAE: source 0.450 s, hybrid 0.406 s, transpiled 0.301 s, XGBoost 0.297 s; GNN–XGBoost Δ unresolved.</a:t>
            </a:r>
          </a:p>
        </p:txBody>
      </p:sp>
    </p:spTree>
    <p:extLst>
      <p:ext uri="{BB962C8B-B14F-4D97-AF65-F5344CB8AC3E}">
        <p14:creationId xmlns:p14="http://schemas.microsoft.com/office/powerpoint/2010/main" val="6411052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D51DEE-F59B-414D-AE75-674AA2493893}"/>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CUDA-Q MPS: fixed-configuration runtime predictor</a:t>
            </a:r>
          </a:p>
        </p:txBody>
      </p:sp>
      <p:sp>
        <p:nvSpPr>
          <p:cNvPr id="2" name="">
            <a:extLst xmlns:a="http://schemas.openxmlformats.org/drawingml/2006/main">
              <a:ext uri="{FF2B5EF4-FFF2-40B4-BE49-F238E27FC236}">
                <a16:creationId xmlns:a16="http://schemas.microsoft.com/office/drawing/2014/main" id="{0B486C64-3B7A-41E9-89CB-C7435C4E184C}"/>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a1eb9cca3c44966"/>
          <a:stretch xmlns:a="http://schemas.openxmlformats.org/drawingml/2006/main"/>
        </p:blipFill>
        <p:spPr>
          <a:xfrm xmlns:a="http://schemas.openxmlformats.org/drawingml/2006/main">
            <a:off x="983434" y="1028700"/>
            <a:ext cx="10225133"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EB2B3F-A283-445E-9684-7FEF9E5A5847}"/>
              </a:ext>
            </a:extLst>
          </p:cNvPr>
          <p:cNvSpPr>
            <a:spLocks xmlns:a="http://schemas.openxmlformats.org/drawingml/2006/main" noGrp="1"/>
          </p:cNvSpPr>
          <p:nvPr/>
        </p:nvSpPr>
        <p:spPr>
          <a:xfrm xmlns:a="http://schemas.openxmlformats.org/drawingml/2006/main">
            <a:off x="685800" y="58578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8"/>
                </a:solidFill>
                <a:latin typeface="Noto Sans"/>
                <a:ea typeface="Noto Sans"/>
                <a:cs typeface="Noto Sans"/>
              </a:defRPr>
            </a:pPr>
            <a:r>
              <a:rPr sz="1350" b="1">
                <a:solidFill>
                  <a:srgbClr val="007F78"/>
                </a:solidFill>
                <a:latin typeface="Noto Sans"/>
                <a:ea typeface="Noto Sans"/>
                <a:cs typeface="Noto Sans"/>
              </a:rPr>
              <a:t>MPS FP64 · bond 16 · warm state · 144 finite / 142 quality-pass. Graph MAE 0.304 s; max error 25.10 s. Family benefit unresolved.</a:t>
            </a:r>
          </a:p>
        </p:txBody>
      </p:sp>
    </p:spTree>
    <p:extLst>
      <p:ext uri="{BB962C8B-B14F-4D97-AF65-F5344CB8AC3E}">
        <p14:creationId xmlns:p14="http://schemas.microsoft.com/office/powerpoint/2010/main" val="20387533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6326aa646fc42c9"/>
          <a:stretch xmlns:a="http://schemas.openxmlformats.org/drawingml/2006/main"/>
        </p:blipFill>
        <p:spPr>
          <a:xfrm xmlns:a="http://schemas.openxmlformats.org/drawingml/2006/main">
            <a:off x="651867" y="0"/>
            <a:ext cx="10888266" cy="6858000"/>
          </a:xfrm>
          <a:prstGeom xmlns:a="http://schemas.openxmlformats.org/drawingml/2006/main" prst="rect">
            <a:avLst/>
          </a:prstGeom>
        </p:spPr>
      </p:pic>
    </p:spTree>
    <p:extLst>
      <p:ext uri="{BB962C8B-B14F-4D97-AF65-F5344CB8AC3E}">
        <p14:creationId xmlns:p14="http://schemas.microsoft.com/office/powerpoint/2010/main" val="6241579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85CF60-8C63-4F17-8531-CC1BEE4898A9}"/>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Kết luận và phạm vi còn thiếu</a:t>
            </a:r>
          </a:p>
        </p:txBody>
      </p:sp>
      <p:sp>
        <p:nvSpPr>
          <p:cNvPr id="2" name="">
            <a:extLst xmlns:a="http://schemas.openxmlformats.org/drawingml/2006/main">
              <a:ext uri="{FF2B5EF4-FFF2-40B4-BE49-F238E27FC236}">
                <a16:creationId xmlns:a16="http://schemas.microsoft.com/office/drawing/2014/main" id="{032437F5-68CB-4AC2-AC78-CDD346E0E24A}"/>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11</a:t>
            </a:r>
          </a:p>
        </p:txBody>
      </p:sp>
      <p:graphicFrame>
        <p:nvGraphicFramePr>
          <p:cNvPr id="7" name=""/>
          <p:cNvGraphicFramePr/>
          <p:nvPr/>
        </p:nvGraphicFramePr>
        <p:xfrm>
          <a:off xmlns:a="http://schemas.openxmlformats.org/drawingml/2006/main" x="666750" y="1381125"/>
          <a:ext xmlns:a="http://schemas.openxmlformats.org/drawingml/2006/main" cx="10858500" cy="3857625"/>
        </p:xfrm>
        <a:graphic xmlns:a="http://schemas.openxmlformats.org/drawingml/2006/main">
          <a:graphicData uri="http://schemas.openxmlformats.org/drawingml/2006/table">
            <a:tbl>
              <a:tblPr/>
              <a:tblGrid>
                <a:gridCol w="5238750"/>
                <a:gridCol w="5619750"/>
              </a:tblGrid>
              <a:tr h="771525">
                <a:tc>
                  <a:txBody>
                    <a:bodyPr/>
                    <a:lstStyle/>
                    <a:p>
                      <a:r>
                        <a:rPr sz="1500" b="1">
                          <a:solidFill>
                            <a:srgbClr val="FFFFFF"/>
                          </a:solidFill>
                        </a:rPr>
                        <a:t>Có thể kết luận</a:t>
                      </a:r>
                    </a:p>
                  </a:txBody>
                  <a:tcPr marL="91440" marR="91440" marT="45720" marB="45720">
                    <a:solidFill>
                      <a:srgbClr val="25495A"/>
                    </a:solidFill>
                  </a:tcPr>
                </a:tc>
                <a:tc>
                  <a:txBody>
                    <a:bodyPr/>
                    <a:lstStyle/>
                    <a:p>
                      <a:r>
                        <a:rPr sz="1500" b="1">
                          <a:solidFill>
                            <a:srgbClr val="FFFFFF"/>
                          </a:solidFill>
                        </a:rPr>
                        <a:t>Chưa đủ evidence để kết luận</a:t>
                      </a:r>
                    </a:p>
                  </a:txBody>
                  <a:tcPr marL="91440" marR="91440" marT="45720" marB="45720">
                    <a:solidFill>
                      <a:srgbClr val="25495A"/>
                    </a:solidFill>
                  </a:tcPr>
                </a:tc>
              </a:tr>
              <a:tr h="771525">
                <a:tc>
                  <a:txBody>
                    <a:bodyPr/>
                    <a:lstStyle/>
                    <a:p>
                      <a:r>
                        <a:rPr sz="1425" b="0">
                          <a:solidFill>
                            <a:srgbClr val="163444"/>
                          </a:solidFill>
                        </a:rPr>
                        <a:t>Graph V3-large có MAE thấp hơn polynomial trên source-local shared rows.</a:t>
                      </a:r>
                    </a:p>
                  </a:txBody>
                  <a:tcPr marL="91440" marR="91440" marT="45720" marB="45720">
                    <a:solidFill>
                      <a:srgbClr val="FFFFFF"/>
                    </a:solidFill>
                  </a:tcPr>
                </a:tc>
                <a:tc>
                  <a:txBody>
                    <a:bodyPr/>
                    <a:lstStyle/>
                    <a:p>
                      <a:r>
                        <a:rPr sz="1425" b="0">
                          <a:solidFill>
                            <a:srgbClr val="163444"/>
                          </a:solidFill>
                        </a:rPr>
                        <a:t>Không có pooled cross-source superiority claim.</a:t>
                      </a:r>
                    </a:p>
                  </a:txBody>
                  <a:tcPr marL="91440" marR="91440" marT="45720" marB="45720">
                    <a:solidFill>
                      <a:srgbClr val="FFFFFF"/>
                    </a:solidFill>
                  </a:tcPr>
                </a:tc>
              </a:tr>
              <a:tr h="771525">
                <a:tc>
                  <a:txBody>
                    <a:bodyPr/>
                    <a:lstStyle/>
                    <a:p>
                      <a:r>
                        <a:rPr sz="1425" b="0">
                          <a:solidFill>
                            <a:srgbClr val="163444"/>
                          </a:solidFill>
                        </a:rPr>
                        <a:t>QPack có MAE thấp hơn nhưng cả hai R² đều âm.</a:t>
                      </a:r>
                    </a:p>
                  </a:txBody>
                  <a:tcPr marL="91440" marR="91440" marT="45720" marB="45720">
                    <a:solidFill>
                      <a:srgbClr val="F4F7F8"/>
                    </a:solidFill>
                  </a:tcPr>
                </a:tc>
                <a:tc>
                  <a:txBody>
                    <a:bodyPr/>
                    <a:lstStyle/>
                    <a:p>
                      <a:r>
                        <a:rPr sz="1425" b="0">
                          <a:solidFill>
                            <a:srgbClr val="163444"/>
                          </a:solidFill>
                        </a:rPr>
                        <a:t>Không nói model giải thích tốt biến thiên runtime.</a:t>
                      </a:r>
                    </a:p>
                  </a:txBody>
                  <a:tcPr marL="91440" marR="91440" marT="45720" marB="45720">
                    <a:solidFill>
                      <a:srgbClr val="F4F7F8"/>
                    </a:solidFill>
                  </a:tcPr>
                </a:tc>
              </a:tr>
              <a:tr h="771525">
                <a:tc>
                  <a:txBody>
                    <a:bodyPr/>
                    <a:lstStyle/>
                    <a:p>
                      <a:r>
                        <a:rPr sz="1425" b="0">
                          <a:solidFill>
                            <a:srgbClr val="163444"/>
                          </a:solidFill>
                        </a:rPr>
                        <a:t>E6 có Aer GNN và fixed-MPS predictor OOF results.</a:t>
                      </a:r>
                    </a:p>
                  </a:txBody>
                  <a:tcPr marL="91440" marR="91440" marT="45720" marB="45720">
                    <a:solidFill>
                      <a:srgbClr val="FFFFFF"/>
                    </a:solidFill>
                  </a:tcPr>
                </a:tc>
                <a:tc>
                  <a:txBody>
                    <a:bodyPr/>
                    <a:lstStyle/>
                    <a:p>
                      <a:r>
                        <a:rPr sz="1425" b="0">
                          <a:solidFill>
                            <a:srgbClr val="163444"/>
                          </a:solidFill>
                        </a:rPr>
                        <a:t>Chỉ một Aer config; MPS một bond/config; CI exploratory.</a:t>
                      </a:r>
                    </a:p>
                  </a:txBody>
                  <a:tcPr marL="91440" marR="91440" marT="45720" marB="45720">
                    <a:solidFill>
                      <a:srgbClr val="FFFFFF"/>
                    </a:solidFill>
                  </a:tcPr>
                </a:tc>
              </a:tr>
              <a:tr h="771525">
                <a:tc>
                  <a:txBody>
                    <a:bodyPr/>
                    <a:lstStyle/>
                    <a:p>
                      <a:r>
                        <a:rPr sz="1425" b="0">
                          <a:solidFill>
                            <a:srgbClr val="163444"/>
                          </a:solidFill>
                        </a:rPr>
                        <a:t>Maestro pilot ghi nhận stability failure.</a:t>
                      </a:r>
                    </a:p>
                  </a:txBody>
                  <a:tcPr marL="91440" marR="91440" marT="45720" marB="45720">
                    <a:solidFill>
                      <a:srgbClr val="F4F7F8"/>
                    </a:solidFill>
                  </a:tcPr>
                </a:tc>
                <a:tc>
                  <a:txBody>
                    <a:bodyPr/>
                    <a:lstStyle/>
                    <a:p>
                      <a:r>
                        <a:rPr sz="1425" b="0">
                          <a:solidFill>
                            <a:srgbClr val="163444"/>
                          </a:solidFill>
                        </a:rPr>
                        <a:t>Không có accepted Maestro predictor hoặc panel score.</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79872F3E-9441-4722-BC21-D0282A7A925E}"/>
              </a:ext>
            </a:extLst>
          </p:cNvPr>
          <p:cNvSpPr>
            <a:spLocks xmlns:a="http://schemas.openxmlformats.org/drawingml/2006/main" noGrp="1"/>
          </p:cNvSpPr>
          <p:nvPr/>
        </p:nvSpPr>
        <p:spPr>
          <a:xfrm xmlns:a="http://schemas.openxmlformats.org/drawingml/2006/main">
            <a:off x="742950" y="54864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66A18"/>
                </a:solidFill>
                <a:latin typeface="Noto Sans"/>
                <a:ea typeface="Noto Sans"/>
                <a:cs typeface="Noto Sans"/>
              </a:defRPr>
            </a:pPr>
            <a:r>
              <a:rPr sz="1725" b="1">
                <a:solidFill>
                  <a:srgbClr val="B66A18"/>
                </a:solidFill>
                <a:latin typeface="Noto Sans"/>
                <a:ea typeface="Noto Sans"/>
                <a:cs typeface="Noto Sans"/>
              </a:rPr>
              <a:t>Scientific coverage: PARTIAL. Build validation không đồng nghĩa full replication hoặc public-release approval.</a:t>
            </a:r>
          </a:p>
        </p:txBody>
      </p:sp>
    </p:spTree>
    <p:extLst>
      <p:ext uri="{BB962C8B-B14F-4D97-AF65-F5344CB8AC3E}">
        <p14:creationId xmlns:p14="http://schemas.microsoft.com/office/powerpoint/2010/main" val="2213096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36471F-147E-4D35-9098-E80EA4A5E3D3}"/>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Fidelity phương pháp và tái dựng đầu vào</a:t>
            </a:r>
          </a:p>
        </p:txBody>
      </p:sp>
      <p:sp>
        <p:nvSpPr>
          <p:cNvPr id="2" name="">
            <a:extLst xmlns:a="http://schemas.openxmlformats.org/drawingml/2006/main">
              <a:ext uri="{FF2B5EF4-FFF2-40B4-BE49-F238E27FC236}">
                <a16:creationId xmlns:a16="http://schemas.microsoft.com/office/drawing/2014/main" id="{EA453463-0FA5-4C88-9E25-1782D6117089}"/>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12</a:t>
            </a:r>
          </a:p>
        </p:txBody>
      </p:sp>
      <p:graphicFrame>
        <p:nvGraphicFramePr>
          <p:cNvPr id="7" name=""/>
          <p:cNvGraphicFramePr/>
          <p:nvPr/>
        </p:nvGraphicFramePr>
        <p:xfrm>
          <a:off xmlns:a="http://schemas.openxmlformats.org/drawingml/2006/main" x="628650" y="1238250"/>
          <a:ext xmlns:a="http://schemas.openxmlformats.org/drawingml/2006/main" cx="10934700" cy="4191000"/>
        </p:xfrm>
        <a:graphic xmlns:a="http://schemas.openxmlformats.org/drawingml/2006/main">
          <a:graphicData uri="http://schemas.openxmlformats.org/drawingml/2006/table">
            <a:tbl>
              <a:tblPr/>
              <a:tblGrid>
                <a:gridCol w="2000250"/>
                <a:gridCol w="4667250"/>
                <a:gridCol w="4267200"/>
              </a:tblGrid>
              <a:tr h="523875">
                <a:tc>
                  <a:txBody>
                    <a:bodyPr/>
                    <a:lstStyle/>
                    <a:p>
                      <a:r>
                        <a:rPr sz="1425" b="1">
                          <a:solidFill>
                            <a:srgbClr val="FFFFFF"/>
                          </a:solidFill>
                        </a:rPr>
                        <a:t>Mảng</a:t>
                      </a:r>
                    </a:p>
                  </a:txBody>
                  <a:tcPr marL="91440" marR="91440" marT="45720" marB="45720">
                    <a:solidFill>
                      <a:srgbClr val="25495A"/>
                    </a:solidFill>
                  </a:tcPr>
                </a:tc>
                <a:tc>
                  <a:txBody>
                    <a:bodyPr/>
                    <a:lstStyle/>
                    <a:p>
                      <a:r>
                        <a:rPr sz="1425" b="1">
                          <a:solidFill>
                            <a:srgbClr val="FFFFFF"/>
                          </a:solidFill>
                        </a:rPr>
                        <a:t>Đã dùng</a:t>
                      </a:r>
                    </a:p>
                  </a:txBody>
                  <a:tcPr marL="91440" marR="91440" marT="45720" marB="45720">
                    <a:solidFill>
                      <a:srgbClr val="25495A"/>
                    </a:solidFill>
                  </a:tcPr>
                </a:tc>
                <a:tc>
                  <a:txBody>
                    <a:bodyPr/>
                    <a:lstStyle/>
                    <a:p>
                      <a:r>
                        <a:rPr sz="1425" b="1">
                          <a:solidFill>
                            <a:srgbClr val="FFFFFF"/>
                          </a:solidFill>
                        </a:rPr>
                        <a:t>Giới hạn fidelity</a:t>
                      </a:r>
                    </a:p>
                  </a:txBody>
                  <a:tcPr marL="91440" marR="91440" marT="45720" marB="45720">
                    <a:solidFill>
                      <a:srgbClr val="25495A"/>
                    </a:solidFill>
                  </a:tcPr>
                </a:tc>
              </a:tr>
              <a:tr h="523875">
                <a:tc>
                  <a:txBody>
                    <a:bodyPr/>
                    <a:lstStyle/>
                    <a:p>
                      <a:r>
                        <a:rPr sz="1350" b="0">
                          <a:solidFill>
                            <a:srgbClr val="163444"/>
                          </a:solidFill>
                        </a:rPr>
                        <a:t>QPU graph</a:t>
                      </a:r>
                    </a:p>
                  </a:txBody>
                  <a:tcPr marL="91440" marR="91440" marT="45720" marB="45720">
                    <a:solidFill>
                      <a:srgbClr val="FFFFFF"/>
                    </a:solidFill>
                  </a:tcPr>
                </a:tc>
                <a:tc>
                  <a:txBody>
                    <a:bodyPr/>
                    <a:lstStyle/>
                    <a:p>
                      <a:r>
                        <a:rPr sz="1350" b="0">
                          <a:solidFill>
                            <a:srgbClr val="163444"/>
                          </a:solidFill>
                        </a:rPr>
                        <a:t>Ma–Li/QPack logical; Qonductor exact submitted physical QASM</a:t>
                      </a:r>
                    </a:p>
                  </a:txBody>
                  <a:tcPr marL="91440" marR="91440" marT="45720" marB="45720">
                    <a:solidFill>
                      <a:srgbClr val="FFFFFF"/>
                    </a:solidFill>
                  </a:tcPr>
                </a:tc>
                <a:tc>
                  <a:txBody>
                    <a:bodyPr/>
                    <a:lstStyle/>
                    <a:p>
                      <a:r>
                        <a:rPr sz="1350" b="0">
                          <a:solidFill>
                            <a:srgbClr val="163444"/>
                          </a:solidFill>
                        </a:rPr>
                        <a:t>Không thực thi compiled-input promise cho Ma–Li/QPack</a:t>
                      </a:r>
                    </a:p>
                  </a:txBody>
                  <a:tcPr marL="91440" marR="91440" marT="45720" marB="45720">
                    <a:solidFill>
                      <a:srgbClr val="FFFFFF"/>
                    </a:solidFill>
                  </a:tcPr>
                </a:tc>
              </a:tr>
              <a:tr h="523875">
                <a:tc>
                  <a:txBody>
                    <a:bodyPr/>
                    <a:lstStyle/>
                    <a:p>
                      <a:r>
                        <a:rPr sz="1350" b="0">
                          <a:solidFill>
                            <a:srgbClr val="163444"/>
                          </a:solidFill>
                        </a:rPr>
                        <a:t>Qonductor recovery</a:t>
                      </a:r>
                    </a:p>
                  </a:txBody>
                  <a:tcPr marL="91440" marR="91440" marT="45720" marB="45720">
                    <a:solidFill>
                      <a:srgbClr val="F4F7F8"/>
                    </a:solidFill>
                  </a:tcPr>
                </a:tc>
                <a:tc>
                  <a:txBody>
                    <a:bodyPr/>
                    <a:lstStyle/>
                    <a:p>
                      <a:r>
                        <a:rPr sz="1350" b="0">
                          <a:solidFill>
                            <a:srgbClr val="163444"/>
                          </a:solidFill>
                        </a:rPr>
                        <a:t>230 archive-resolved logical recipes</a:t>
                      </a:r>
                    </a:p>
                  </a:txBody>
                  <a:tcPr marL="91440" marR="91440" marT="45720" marB="45720">
                    <a:solidFill>
                      <a:srgbClr val="F4F7F8"/>
                    </a:solidFill>
                  </a:tcPr>
                </a:tc>
                <a:tc>
                  <a:txBody>
                    <a:bodyPr/>
                    <a:lstStyle/>
                    <a:p>
                      <a:r>
                        <a:rPr sz="1350" b="0">
                          <a:solidFill>
                            <a:srgbClr val="163444"/>
                          </a:solidFill>
                        </a:rPr>
                        <a:t>Recipe resolution, not byte-exact original logical QASM</a:t>
                      </a:r>
                    </a:p>
                  </a:txBody>
                  <a:tcPr marL="91440" marR="91440" marT="45720" marB="45720">
                    <a:solidFill>
                      <a:srgbClr val="F4F7F8"/>
                    </a:solidFill>
                  </a:tcPr>
                </a:tc>
              </a:tr>
              <a:tr h="523875">
                <a:tc>
                  <a:txBody>
                    <a:bodyPr/>
                    <a:lstStyle/>
                    <a:p>
                      <a:r>
                        <a:rPr sz="1350" b="0">
                          <a:solidFill>
                            <a:srgbClr val="163444"/>
                          </a:solidFill>
                        </a:rPr>
                        <a:t>QPack replay</a:t>
                      </a:r>
                    </a:p>
                  </a:txBody>
                  <a:tcPr marL="91440" marR="91440" marT="45720" marB="45720">
                    <a:solidFill>
                      <a:srgbClr val="FFFFFF"/>
                    </a:solidFill>
                  </a:tcPr>
                </a:tc>
                <a:tc>
                  <a:txBody>
                    <a:bodyPr/>
                    <a:lstStyle/>
                    <a:p>
                      <a:r>
                        <a:rPr sz="1350" b="0">
                          <a:solidFill>
                            <a:srgbClr val="163444"/>
                          </a:solidFill>
                        </a:rPr>
                        <a:t>6 reconstructed structures; representative rz(0.3)/rx(0.2)</a:t>
                      </a:r>
                    </a:p>
                  </a:txBody>
                  <a:tcPr marL="91440" marR="91440" marT="45720" marB="45720">
                    <a:solidFill>
                      <a:srgbClr val="FFFFFF"/>
                    </a:solidFill>
                  </a:tcPr>
                </a:tc>
                <a:tc>
                  <a:txBody>
                    <a:bodyPr/>
                    <a:lstStyle/>
                    <a:p>
                      <a:r>
                        <a:rPr sz="1350" b="0">
                          <a:solidFill>
                            <a:srgbClr val="163444"/>
                          </a:solidFill>
                        </a:rPr>
                        <a:t>Không có original optimizer angles / submitted routing</a:t>
                      </a:r>
                    </a:p>
                  </a:txBody>
                  <a:tcPr marL="91440" marR="91440" marT="45720" marB="45720">
                    <a:solidFill>
                      <a:srgbClr val="FFFFFF"/>
                    </a:solidFill>
                  </a:tcPr>
                </a:tc>
              </a:tr>
              <a:tr h="523875">
                <a:tc>
                  <a:txBody>
                    <a:bodyPr/>
                    <a:lstStyle/>
                    <a:p>
                      <a:r>
                        <a:rPr sz="1350" b="0">
                          <a:solidFill>
                            <a:srgbClr val="163444"/>
                          </a:solidFill>
                        </a:rPr>
                        <a:t>Graph features</a:t>
                      </a:r>
                    </a:p>
                  </a:txBody>
                  <a:tcPr marL="91440" marR="91440" marT="45720" marB="45720">
                    <a:solidFill>
                      <a:srgbClr val="F4F7F8"/>
                    </a:solidFill>
                  </a:tcPr>
                </a:tc>
                <a:tc>
                  <a:txBody>
                    <a:bodyPr/>
                    <a:lstStyle/>
                    <a:p>
                      <a:r>
                        <a:rPr sz="1350" b="0">
                          <a:solidFill>
                            <a:srgbClr val="163444"/>
                          </a:solidFill>
                        </a:rPr>
                        <a:t>7 global features; DAG + global MLP branches</a:t>
                      </a:r>
                    </a:p>
                  </a:txBody>
                  <a:tcPr marL="91440" marR="91440" marT="45720" marB="45720">
                    <a:solidFill>
                      <a:srgbClr val="F4F7F8"/>
                    </a:solidFill>
                  </a:tcPr>
                </a:tc>
                <a:tc>
                  <a:txBody>
                    <a:bodyPr/>
                    <a:lstStyle/>
                    <a:p>
                      <a:r>
                        <a:rPr sz="1350" b="0">
                          <a:solidFill>
                            <a:srgbClr val="163444"/>
                          </a:solidFill>
                        </a:rPr>
                        <a:t>Polynomial có 5 features; không cô lập causal graph effect</a:t>
                      </a:r>
                    </a:p>
                  </a:txBody>
                  <a:tcPr marL="91440" marR="91440" marT="45720" marB="45720">
                    <a:solidFill>
                      <a:srgbClr val="F4F7F8"/>
                    </a:solidFill>
                  </a:tcPr>
                </a:tc>
              </a:tr>
              <a:tr h="523875">
                <a:tc>
                  <a:txBody>
                    <a:bodyPr/>
                    <a:lstStyle/>
                    <a:p>
                      <a:r>
                        <a:rPr sz="1350" b="0">
                          <a:solidFill>
                            <a:srgbClr val="163444"/>
                          </a:solidFill>
                        </a:rPr>
                        <a:t>Native estimates</a:t>
                      </a:r>
                    </a:p>
                  </a:txBody>
                  <a:tcPr marL="91440" marR="91440" marT="45720" marB="45720">
                    <a:solidFill>
                      <a:srgbClr val="FFFFFF"/>
                    </a:solidFill>
                  </a:tcPr>
                </a:tc>
                <a:tc>
                  <a:txBody>
                    <a:bodyPr/>
                    <a:lstStyle/>
                    <a:p>
                      <a:r>
                        <a:rPr sz="1350" b="0">
                          <a:solidFill>
                            <a:srgbClr val="163444"/>
                          </a:solidFill>
                        </a:rPr>
                        <a:t>Snapshot calibration theo backend</a:t>
                      </a:r>
                    </a:p>
                  </a:txBody>
                  <a:tcPr marL="91440" marR="91440" marT="45720" marB="45720">
                    <a:solidFill>
                      <a:srgbClr val="FFFFFF"/>
                    </a:solidFill>
                  </a:tcPr>
                </a:tc>
                <a:tc>
                  <a:txBody>
                    <a:bodyPr/>
                    <a:lstStyle/>
                    <a:p>
                      <a:r>
                        <a:rPr sz="1350" b="0">
                          <a:solidFill>
                            <a:srgbClr val="163444"/>
                          </a:solidFill>
                        </a:rPr>
                        <a:t>Không phải row-day historical calibration</a:t>
                      </a:r>
                    </a:p>
                  </a:txBody>
                  <a:tcPr marL="91440" marR="91440" marT="45720" marB="45720">
                    <a:solidFill>
                      <a:srgbClr val="FFFFFF"/>
                    </a:solidFill>
                  </a:tcPr>
                </a:tc>
              </a:tr>
              <a:tr h="523875">
                <a:tc>
                  <a:txBody>
                    <a:bodyPr/>
                    <a:lstStyle/>
                    <a:p>
                      <a:r>
                        <a:rPr sz="1350" b="0">
                          <a:solidFill>
                            <a:srgbClr val="163444"/>
                          </a:solidFill>
                        </a:rPr>
                        <a:t>Family-Aware-style</a:t>
                      </a:r>
                    </a:p>
                  </a:txBody>
                  <a:tcPr marL="91440" marR="91440" marT="45720" marB="45720">
                    <a:solidFill>
                      <a:srgbClr val="F4F7F8"/>
                    </a:solidFill>
                  </a:tcPr>
                </a:tc>
                <a:tc>
                  <a:txBody>
                    <a:bodyPr/>
                    <a:lstStyle/>
                    <a:p>
                      <a:r>
                        <a:rPr sz="1350" b="0">
                          <a:solidFill>
                            <a:srgbClr val="163444"/>
                          </a:solidFill>
                        </a:rPr>
                        <a:t>Fixed-MPS runtime-only residual + matched ablation</a:t>
                      </a:r>
                    </a:p>
                  </a:txBody>
                  <a:tcPr marL="91440" marR="91440" marT="45720" marB="45720">
                    <a:solidFill>
                      <a:srgbClr val="F4F7F8"/>
                    </a:solidFill>
                  </a:tcPr>
                </a:tc>
                <a:tc>
                  <a:txBody>
                    <a:bodyPr/>
                    <a:lstStyle/>
                    <a:p>
                      <a:r>
                        <a:rPr sz="1350" b="0">
                          <a:solidFill>
                            <a:srgbClr val="163444"/>
                          </a:solidFill>
                        </a:rPr>
                        <a:t>Original joint threshold/runtime target not evaluated</a:t>
                      </a:r>
                    </a:p>
                  </a:txBody>
                  <a:tcPr marL="91440" marR="91440" marT="45720" marB="45720">
                    <a:solidFill>
                      <a:srgbClr val="F4F7F8"/>
                    </a:solidFill>
                  </a:tcPr>
                </a:tc>
              </a:tr>
              <a:tr h="523875">
                <a:tc>
                  <a:txBody>
                    <a:bodyPr/>
                    <a:lstStyle/>
                    <a:p>
                      <a:r>
                        <a:rPr sz="1350" b="0">
                          <a:solidFill>
                            <a:srgbClr val="163444"/>
                          </a:solidFill>
                        </a:rPr>
                        <a:t>Maestro</a:t>
                      </a:r>
                    </a:p>
                  </a:txBody>
                  <a:tcPr marL="91440" marR="91440" marT="45720" marB="45720">
                    <a:solidFill>
                      <a:srgbClr val="FFFFFF"/>
                    </a:solidFill>
                  </a:tcPr>
                </a:tc>
                <a:tc>
                  <a:txBody>
                    <a:bodyPr/>
                    <a:lstStyle/>
                    <a:p>
                      <a:r>
                        <a:rPr sz="1350" b="0">
                          <a:solidFill>
                            <a:srgbClr val="163444"/>
                          </a:solidFill>
                        </a:rPr>
                        <a:t>Component calibration / local context pilot</a:t>
                      </a:r>
                    </a:p>
                  </a:txBody>
                  <a:tcPr marL="91440" marR="91440" marT="45720" marB="45720">
                    <a:solidFill>
                      <a:srgbClr val="FFFFFF"/>
                    </a:solidFill>
                  </a:tcPr>
                </a:tc>
                <a:tc>
                  <a:txBody>
                    <a:bodyPr/>
                    <a:lstStyle/>
                    <a:p>
                      <a:r>
                        <a:rPr sz="1350" b="0">
                          <a:solidFill>
                            <a:srgbClr val="163444"/>
                          </a:solidFill>
                        </a:rPr>
                        <a:t>No accepted held-out predictor score; pilot gate failed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DDD79EC-DFA1-46DD-A399-901B2192CF73}"/>
              </a:ext>
            </a:extLst>
          </p:cNvPr>
          <p:cNvSpPr>
            <a:spLocks xmlns:a="http://schemas.openxmlformats.org/drawingml/2006/main" noGrp="1"/>
          </p:cNvSpPr>
          <p:nvPr/>
        </p:nvSpPr>
        <p:spPr>
          <a:xfrm xmlns:a="http://schemas.openxmlformats.org/drawingml/2006/main">
            <a:off x="695325" y="5829300"/>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07F78"/>
                </a:solidFill>
                <a:latin typeface="Noto Sans"/>
                <a:ea typeface="Noto Sans"/>
                <a:cs typeface="Noto Sans"/>
              </a:defRPr>
            </a:pPr>
            <a:r>
              <a:rPr sz="1500" b="1">
                <a:solidFill>
                  <a:srgbClr val="007F78"/>
                </a:solidFill>
                <a:latin typeface="Noto Sans"/>
                <a:ea typeface="Noto Sans"/>
                <a:cs typeface="Noto Sans"/>
              </a:rPr>
              <a:t>Archived labels vẫn là runtime quan sát; replay reconstruction không thay đổi labels.</a:t>
            </a:r>
          </a:p>
        </p:txBody>
      </p:sp>
    </p:spTree>
    <p:extLst>
      <p:ext uri="{BB962C8B-B14F-4D97-AF65-F5344CB8AC3E}">
        <p14:creationId xmlns:p14="http://schemas.microsoft.com/office/powerpoint/2010/main" val="1620716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FCFE6C-BB65-4407-A8B8-DBBB990C0F99}"/>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Clocks, quality, và release boundary</a:t>
            </a:r>
          </a:p>
        </p:txBody>
      </p:sp>
      <p:sp>
        <p:nvSpPr>
          <p:cNvPr id="2" name="">
            <a:extLst xmlns:a="http://schemas.openxmlformats.org/drawingml/2006/main">
              <a:ext uri="{FF2B5EF4-FFF2-40B4-BE49-F238E27FC236}">
                <a16:creationId xmlns:a16="http://schemas.microsoft.com/office/drawing/2014/main" id="{34D3C769-C7D1-4B58-955C-6A698B85F569}"/>
              </a:ext>
            </a:extLst>
          </p:cNvPr>
          <p:cNvSpPr>
            <a:spLocks xmlns:a="http://schemas.openxmlformats.org/drawingml/2006/main" noGrp="1"/>
          </p:cNvSpPr>
          <p:nvPr/>
        </p:nvSpPr>
        <p:spPr>
          <a:xfrm xmlns:a="http://schemas.openxmlformats.org/drawingml/2006/main">
            <a:off x="11049000" y="63627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a:solidFill>
                  <a:srgbClr val="526873"/>
                </a:solidFill>
                <a:latin typeface="Noto Sans"/>
                <a:ea typeface="Noto Sans"/>
                <a:cs typeface="Noto Sans"/>
              </a:defRPr>
            </a:pPr>
            <a:r>
              <a:rPr sz="1200">
                <a:solidFill>
                  <a:srgbClr val="526873"/>
                </a:solidFill>
                <a:latin typeface="Noto Sans"/>
                <a:ea typeface="Noto Sans"/>
                <a:cs typeface="Noto Sans"/>
              </a:rPr>
              <a:t>13</a:t>
            </a:r>
          </a:p>
        </p:txBody>
      </p:sp>
      <p:graphicFrame>
        <p:nvGraphicFramePr>
          <p:cNvPr id="7" name=""/>
          <p:cNvGraphicFramePr/>
          <p:nvPr/>
        </p:nvGraphicFramePr>
        <p:xfrm>
          <a:off xmlns:a="http://schemas.openxmlformats.org/drawingml/2006/main" x="666750" y="1381125"/>
          <a:ext xmlns:a="http://schemas.openxmlformats.org/drawingml/2006/main" cx="10858500" cy="4381500"/>
        </p:xfrm>
        <a:graphic xmlns:a="http://schemas.openxmlformats.org/drawingml/2006/main">
          <a:graphicData uri="http://schemas.openxmlformats.org/drawingml/2006/table">
            <a:tbl>
              <a:tblPr/>
              <a:tblGrid>
                <a:gridCol w="2095500"/>
                <a:gridCol w="3619500"/>
                <a:gridCol w="5143500"/>
              </a:tblGrid>
              <a:tr h="547688">
                <a:tc>
                  <a:txBody>
                    <a:bodyPr/>
                    <a:lstStyle/>
                    <a:p>
                      <a:r>
                        <a:rPr sz="1350" b="1">
                          <a:solidFill>
                            <a:srgbClr val="FFFFFF"/>
                          </a:solidFill>
                        </a:rPr>
                        <a:t>Domain</a:t>
                      </a:r>
                    </a:p>
                  </a:txBody>
                  <a:tcPr marL="91440" marR="91440" marT="45720" marB="45720">
                    <a:solidFill>
                      <a:srgbClr val="25495A"/>
                    </a:solidFill>
                  </a:tcPr>
                </a:tc>
                <a:tc>
                  <a:txBody>
                    <a:bodyPr/>
                    <a:lstStyle/>
                    <a:p>
                      <a:r>
                        <a:rPr sz="1350" b="1">
                          <a:solidFill>
                            <a:srgbClr val="FFFFFF"/>
                          </a:solidFill>
                        </a:rPr>
                        <a:t>Clock or outcome</a:t>
                      </a:r>
                    </a:p>
                  </a:txBody>
                  <a:tcPr marL="91440" marR="91440" marT="45720" marB="45720">
                    <a:solidFill>
                      <a:srgbClr val="25495A"/>
                    </a:solidFill>
                  </a:tcPr>
                </a:tc>
                <a:tc>
                  <a:txBody>
                    <a:bodyPr/>
                    <a:lstStyle/>
                    <a:p>
                      <a:r>
                        <a:rPr sz="1350" b="1">
                          <a:solidFill>
                            <a:srgbClr val="FFFFFF"/>
                          </a:solidFill>
                        </a:rPr>
                        <a:t>Interpretation</a:t>
                      </a:r>
                    </a:p>
                  </a:txBody>
                  <a:tcPr marL="91440" marR="91440" marT="45720" marB="45720">
                    <a:solidFill>
                      <a:srgbClr val="25495A"/>
                    </a:solidFill>
                  </a:tcPr>
                </a:tc>
              </a:tr>
              <a:tr h="547688">
                <a:tc>
                  <a:txBody>
                    <a:bodyPr/>
                    <a:lstStyle/>
                    <a:p>
                      <a:r>
                        <a:rPr sz="1275" b="0">
                          <a:solidFill>
                            <a:srgbClr val="163444"/>
                          </a:solidFill>
                        </a:rPr>
                        <a:t>QPU target</a:t>
                      </a:r>
                    </a:p>
                  </a:txBody>
                  <a:tcPr marL="91440" marR="91440" marT="45720" marB="45720">
                    <a:solidFill>
                      <a:srgbClr val="FFFFFF"/>
                    </a:solidFill>
                  </a:tcPr>
                </a:tc>
                <a:tc>
                  <a:txBody>
                    <a:bodyPr/>
                    <a:lstStyle/>
                    <a:p>
                      <a:r>
                        <a:rPr sz="1275" b="0">
                          <a:solidFill>
                            <a:srgbClr val="163444"/>
                          </a:solidFill>
                        </a:rPr>
                        <a:t>Archived observed service/execution</a:t>
                      </a:r>
                    </a:p>
                  </a:txBody>
                  <a:tcPr marL="91440" marR="91440" marT="45720" marB="45720">
                    <a:solidFill>
                      <a:srgbClr val="FFFFFF"/>
                    </a:solidFill>
                  </a:tcPr>
                </a:tc>
                <a:tc>
                  <a:txBody>
                    <a:bodyPr/>
                    <a:lstStyle/>
                    <a:p>
                      <a:r>
                        <a:rPr sz="1275" b="0">
                          <a:solidFill>
                            <a:srgbClr val="163444"/>
                          </a:solidFill>
                        </a:rPr>
                        <a:t>Evaluation target, not schedule duration</a:t>
                      </a:r>
                    </a:p>
                  </a:txBody>
                  <a:tcPr marL="91440" marR="91440" marT="45720" marB="45720">
                    <a:solidFill>
                      <a:srgbClr val="FFFFFF"/>
                    </a:solidFill>
                  </a:tcPr>
                </a:tc>
              </a:tr>
              <a:tr h="547688">
                <a:tc>
                  <a:txBody>
                    <a:bodyPr/>
                    <a:lstStyle/>
                    <a:p>
                      <a:r>
                        <a:rPr sz="1275" b="0">
                          <a:solidFill>
                            <a:srgbClr val="163444"/>
                          </a:solidFill>
                        </a:rPr>
                        <a:t>QPU analytical</a:t>
                      </a:r>
                    </a:p>
                  </a:txBody>
                  <a:tcPr marL="91440" marR="91440" marT="45720" marB="45720">
                    <a:solidFill>
                      <a:srgbClr val="F4F7F8"/>
                    </a:solidFill>
                  </a:tcPr>
                </a:tc>
                <a:tc>
                  <a:txBody>
                    <a:bodyPr/>
                    <a:lstStyle/>
                    <a:p>
                      <a:r>
                        <a:rPr sz="1275" b="0">
                          <a:solidFill>
                            <a:srgbClr val="163444"/>
                          </a:solidFill>
                        </a:rPr>
                        <a:t>Scheduled single-shot / shot-scaled</a:t>
                      </a:r>
                    </a:p>
                  </a:txBody>
                  <a:tcPr marL="91440" marR="91440" marT="45720" marB="45720">
                    <a:solidFill>
                      <a:srgbClr val="F4F7F8"/>
                    </a:solidFill>
                  </a:tcPr>
                </a:tc>
                <a:tc>
                  <a:txBody>
                    <a:bodyPr/>
                    <a:lstStyle/>
                    <a:p>
                      <a:r>
                        <a:rPr sz="1275" b="0">
                          <a:solidFill>
                            <a:srgbClr val="163444"/>
                          </a:solidFill>
                        </a:rPr>
                        <a:t>Proxy; provider overhead excluded</a:t>
                      </a:r>
                    </a:p>
                  </a:txBody>
                  <a:tcPr marL="91440" marR="91440" marT="45720" marB="45720">
                    <a:solidFill>
                      <a:srgbClr val="F4F7F8"/>
                    </a:solidFill>
                  </a:tcPr>
                </a:tc>
              </a:tr>
              <a:tr h="547688">
                <a:tc>
                  <a:txBody>
                    <a:bodyPr/>
                    <a:lstStyle/>
                    <a:p>
                      <a:r>
                        <a:rPr sz="1275" b="0">
                          <a:solidFill>
                            <a:srgbClr val="163444"/>
                          </a:solidFill>
                        </a:rPr>
                        <a:t>Simulator</a:t>
                      </a:r>
                    </a:p>
                  </a:txBody>
                  <a:tcPr marL="91440" marR="91440" marT="45720" marB="45720">
                    <a:solidFill>
                      <a:srgbClr val="FFFFFF"/>
                    </a:solidFill>
                  </a:tcPr>
                </a:tc>
                <a:tc>
                  <a:txBody>
                    <a:bodyPr/>
                    <a:lstStyle/>
                    <a:p>
                      <a:r>
                        <a:rPr sz="1275" b="0">
                          <a:solidFill>
                            <a:srgbClr val="163444"/>
                          </a:solidFill>
                        </a:rPr>
                        <a:t>First / warm execution; quality gate</a:t>
                      </a:r>
                    </a:p>
                  </a:txBody>
                  <a:tcPr marL="91440" marR="91440" marT="45720" marB="45720">
                    <a:solidFill>
                      <a:srgbClr val="FFFFFF"/>
                    </a:solidFill>
                  </a:tcPr>
                </a:tc>
                <a:tc>
                  <a:txBody>
                    <a:bodyPr/>
                    <a:lstStyle/>
                    <a:p>
                      <a:r>
                        <a:rPr sz="1275" b="0">
                          <a:solidFill>
                            <a:srgbClr val="163444"/>
                          </a:solidFill>
                        </a:rPr>
                        <a:t>MPS: 573/612 ok; 21 quality fail, 18 adapter error</a:t>
                      </a:r>
                    </a:p>
                  </a:txBody>
                  <a:tcPr marL="91440" marR="91440" marT="45720" marB="45720">
                    <a:solidFill>
                      <a:srgbClr val="FFFFFF"/>
                    </a:solidFill>
                  </a:tcPr>
                </a:tc>
              </a:tr>
              <a:tr h="547688">
                <a:tc>
                  <a:txBody>
                    <a:bodyPr/>
                    <a:lstStyle/>
                    <a:p>
                      <a:r>
                        <a:rPr sz="1275" b="0">
                          <a:solidFill>
                            <a:srgbClr val="163444"/>
                          </a:solidFill>
                        </a:rPr>
                        <a:t>cuTensorNet</a:t>
                      </a:r>
                    </a:p>
                  </a:txBody>
                  <a:tcPr marL="91440" marR="91440" marT="45720" marB="45720">
                    <a:solidFill>
                      <a:srgbClr val="F4F7F8"/>
                    </a:solidFill>
                  </a:tcPr>
                </a:tc>
                <a:tc>
                  <a:txBody>
                    <a:bodyPr/>
                    <a:lstStyle/>
                    <a:p>
                      <a:r>
                        <a:rPr sz="1275" b="0">
                          <a:solidFill>
                            <a:srgbClr val="163444"/>
                          </a:solidFill>
                        </a:rPr>
                        <a:t>Selected-plan estimate</a:t>
                      </a:r>
                    </a:p>
                  </a:txBody>
                  <a:tcPr marL="91440" marR="91440" marT="45720" marB="45720">
                    <a:solidFill>
                      <a:srgbClr val="F4F7F8"/>
                    </a:solidFill>
                  </a:tcPr>
                </a:tc>
                <a:tc>
                  <a:txBody>
                    <a:bodyPr/>
                    <a:lstStyle/>
                    <a:p>
                      <a:r>
                        <a:rPr sz="1275" b="0">
                          <a:solidFill>
                            <a:srgbClr val="163444"/>
                          </a:solidFill>
                        </a:rPr>
                        <a:t>603/612 ok; compare only to same-plan contraction</a:t>
                      </a:r>
                    </a:p>
                  </a:txBody>
                  <a:tcPr marL="91440" marR="91440" marT="45720" marB="45720">
                    <a:solidFill>
                      <a:srgbClr val="F4F7F8"/>
                    </a:solidFill>
                  </a:tcPr>
                </a:tc>
              </a:tr>
              <a:tr h="547688">
                <a:tc>
                  <a:txBody>
                    <a:bodyPr/>
                    <a:lstStyle/>
                    <a:p>
                      <a:r>
                        <a:rPr sz="1275" b="0">
                          <a:solidFill>
                            <a:srgbClr val="163444"/>
                          </a:solidFill>
                        </a:rPr>
                        <a:t>Maestro</a:t>
                      </a:r>
                    </a:p>
                  </a:txBody>
                  <a:tcPr marL="91440" marR="91440" marT="45720" marB="45720">
                    <a:solidFill>
                      <a:srgbClr val="FFFFFF"/>
                    </a:solidFill>
                  </a:tcPr>
                </a:tc>
                <a:tc>
                  <a:txBody>
                    <a:bodyPr/>
                    <a:lstStyle/>
                    <a:p>
                      <a:r>
                        <a:rPr sz="1275" b="0">
                          <a:solidFill>
                            <a:srgbClr val="163444"/>
                          </a:solidFill>
                        </a:rPr>
                        <a:t>Process-isolated reported execution</a:t>
                      </a:r>
                    </a:p>
                  </a:txBody>
                  <a:tcPr marL="91440" marR="91440" marT="45720" marB="45720">
                    <a:solidFill>
                      <a:srgbClr val="FFFFFF"/>
                    </a:solidFill>
                  </a:tcPr>
                </a:tc>
                <a:tc>
                  <a:txBody>
                    <a:bodyPr/>
                    <a:lstStyle/>
                    <a:p>
                      <a:r>
                        <a:rPr sz="1275" b="0">
                          <a:solidFill>
                            <a:srgbClr val="163444"/>
                          </a:solidFill>
                        </a:rPr>
                        <a:t>Fresh process, terminal pilot failure</a:t>
                      </a:r>
                    </a:p>
                  </a:txBody>
                  <a:tcPr marL="91440" marR="91440" marT="45720" marB="45720">
                    <a:solidFill>
                      <a:srgbClr val="FFFFFF"/>
                    </a:solidFill>
                  </a:tcPr>
                </a:tc>
              </a:tr>
              <a:tr h="547688">
                <a:tc>
                  <a:txBody>
                    <a:bodyPr/>
                    <a:lstStyle/>
                    <a:p>
                      <a:r>
                        <a:rPr sz="1275" b="0">
                          <a:solidFill>
                            <a:srgbClr val="163444"/>
                          </a:solidFill>
                        </a:rPr>
                        <a:t>Reproducibility</a:t>
                      </a:r>
                    </a:p>
                  </a:txBody>
                  <a:tcPr marL="91440" marR="91440" marT="45720" marB="45720">
                    <a:solidFill>
                      <a:srgbClr val="F4F7F8"/>
                    </a:solidFill>
                  </a:tcPr>
                </a:tc>
                <a:tc>
                  <a:txBody>
                    <a:bodyPr/>
                    <a:lstStyle/>
                    <a:p>
                      <a:r>
                        <a:rPr sz="1275" b="0">
                          <a:solidFill>
                            <a:srgbClr val="163444"/>
                          </a:solidFill>
                        </a:rPr>
                        <a:t>Local clean clone at 461cc6e</a:t>
                      </a:r>
                    </a:p>
                  </a:txBody>
                  <a:tcPr marL="91440" marR="91440" marT="45720" marB="45720">
                    <a:solidFill>
                      <a:srgbClr val="F4F7F8"/>
                    </a:solidFill>
                  </a:tcPr>
                </a:tc>
                <a:tc>
                  <a:txBody>
                    <a:bodyPr/>
                    <a:lstStyle/>
                    <a:p>
                      <a:r>
                        <a:rPr sz="1275" b="0">
                          <a:solidFill>
                            <a:srgbClr val="163444"/>
                          </a:solidFill>
                        </a:rPr>
                        <a:t>Tables/E6 rebuilt; current reporting edits need final C6 check</a:t>
                      </a:r>
                    </a:p>
                  </a:txBody>
                  <a:tcPr marL="91440" marR="91440" marT="45720" marB="45720">
                    <a:solidFill>
                      <a:srgbClr val="F4F7F8"/>
                    </a:solidFill>
                  </a:tcPr>
                </a:tc>
              </a:tr>
              <a:tr h="547688">
                <a:tc>
                  <a:txBody>
                    <a:bodyPr/>
                    <a:lstStyle/>
                    <a:p>
                      <a:r>
                        <a:rPr sz="1275" b="0">
                          <a:solidFill>
                            <a:srgbClr val="163444"/>
                          </a:solidFill>
                        </a:rPr>
                        <a:t>Rights/provenance</a:t>
                      </a:r>
                    </a:p>
                  </a:txBody>
                  <a:tcPr marL="91440" marR="91440" marT="45720" marB="45720">
                    <a:solidFill>
                      <a:srgbClr val="FFFFFF"/>
                    </a:solidFill>
                  </a:tcPr>
                </a:tc>
                <a:tc>
                  <a:txBody>
                    <a:bodyPr/>
                    <a:lstStyle/>
                    <a:p>
                      <a:r>
                        <a:rPr sz="1275" b="0">
                          <a:solidFill>
                            <a:srgbClr val="163444"/>
                          </a:solidFill>
                        </a:rPr>
                        <a:t>Owner decision remains open</a:t>
                      </a:r>
                    </a:p>
                  </a:txBody>
                  <a:tcPr marL="91440" marR="91440" marT="45720" marB="45720">
                    <a:solidFill>
                      <a:srgbClr val="FFFFFF"/>
                    </a:solidFill>
                  </a:tcPr>
                </a:tc>
                <a:tc>
                  <a:txBody>
                    <a:bodyPr/>
                    <a:lstStyle/>
                    <a:p>
                      <a:r>
                        <a:rPr sz="1275" b="0">
                          <a:solidFill>
                            <a:srgbClr val="163444"/>
                          </a:solidFill>
                        </a:rPr>
                        <a:t>Not a public-release approval; see third-party notices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0493472-9898-4CE9-BCA0-C7089798CC31}"/>
              </a:ext>
            </a:extLst>
          </p:cNvPr>
          <p:cNvSpPr>
            <a:spLocks xmlns:a="http://schemas.openxmlformats.org/drawingml/2006/main" noGrp="1"/>
          </p:cNvSpPr>
          <p:nvPr/>
        </p:nvSpPr>
        <p:spPr>
          <a:xfrm xmlns:a="http://schemas.openxmlformats.org/drawingml/2006/main">
            <a:off x="733425" y="59055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7F78"/>
                </a:solidFill>
                <a:latin typeface="Noto Sans"/>
                <a:ea typeface="Noto Sans"/>
                <a:cs typeface="Noto Sans"/>
              </a:defRPr>
            </a:pPr>
            <a:r>
              <a:rPr sz="1425" b="1">
                <a:solidFill>
                  <a:srgbClr val="007F78"/>
                </a:solidFill>
                <a:latin typeface="Noto Sans"/>
                <a:ea typeface="Noto Sans"/>
                <a:cs typeface="Noto Sans"/>
              </a:rPr>
              <a:t>Unavailable rows, timeouts, adapter errors, and quality failures stay in coverage denominators.</a:t>
            </a:r>
          </a:p>
        </p:txBody>
      </p:sp>
    </p:spTree>
    <p:extLst>
      <p:ext uri="{BB962C8B-B14F-4D97-AF65-F5344CB8AC3E}">
        <p14:creationId xmlns:p14="http://schemas.microsoft.com/office/powerpoint/2010/main" val="16144839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59215F-C773-43D1-8078-E04569593FA5}"/>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3444"/>
                </a:solidFill>
                <a:latin typeface="Noto Sans"/>
                <a:ea typeface="Noto Sans"/>
                <a:cs typeface="Noto Sans"/>
              </a:defRPr>
            </a:pPr>
            <a:r>
              <a:rPr sz="3225" b="1">
                <a:solidFill>
                  <a:srgbClr val="163444"/>
                </a:solidFill>
                <a:latin typeface="Noto Sans"/>
                <a:ea typeface="Noto Sans"/>
                <a:cs typeface="Noto Sans"/>
              </a:rPr>
              <a:t>Appendix: coverage của 24 QPU variants</a:t>
            </a:r>
          </a:p>
        </p:txBody>
      </p:sp>
      <p:graphicFrame>
        <p:nvGraphicFramePr>
          <p:cNvPr id="5" name=""/>
          <p:cNvGraphicFramePr/>
          <p:nvPr/>
        </p:nvGraphicFramePr>
        <p:xfrm>
          <a:off xmlns:a="http://schemas.openxmlformats.org/drawingml/2006/main" x="457200" y="1200150"/>
          <a:ext xmlns:a="http://schemas.openxmlformats.org/drawingml/2006/main" cx="5467350" cy="5238750"/>
        </p:xfrm>
        <a:graphic xmlns:a="http://schemas.openxmlformats.org/drawingml/2006/main">
          <a:graphicData uri="http://schemas.openxmlformats.org/drawingml/2006/table">
            <a:tbl>
              <a:tblPr/>
              <a:tblGrid>
                <a:gridCol w="2152650"/>
                <a:gridCol w="1047750"/>
                <a:gridCol w="781050"/>
                <a:gridCol w="1485900"/>
              </a:tblGrid>
              <a:tr h="402981">
                <a:tc>
                  <a:txBody>
                    <a:bodyPr/>
                    <a:lstStyle/>
                    <a:p>
                      <a:r>
                        <a:rPr sz="1125" b="1">
                          <a:solidFill>
                            <a:srgbClr val="FFFFFF"/>
                          </a:solidFill>
                        </a:rPr>
                        <a:t>Variant</a:t>
                      </a:r>
                    </a:p>
                  </a:txBody>
                  <a:tcPr marL="91440" marR="91440" marT="45720" marB="45720">
                    <a:solidFill>
                      <a:srgbClr val="25495A"/>
                    </a:solidFill>
                  </a:tcPr>
                </a:tc>
                <a:tc>
                  <a:txBody>
                    <a:bodyPr/>
                    <a:lstStyle/>
                    <a:p>
                      <a:r>
                        <a:rPr sz="1125" b="1">
                          <a:solidFill>
                            <a:srgbClr val="FFFFFF"/>
                          </a:solidFill>
                        </a:rPr>
                        <a:t>Pred / 8,767</a:t>
                      </a:r>
                    </a:p>
                  </a:txBody>
                  <a:tcPr marL="91440" marR="91440" marT="45720" marB="45720">
                    <a:solidFill>
                      <a:srgbClr val="25495A"/>
                    </a:solidFill>
                  </a:tcPr>
                </a:tc>
                <a:tc>
                  <a:txBody>
                    <a:bodyPr/>
                    <a:lstStyle/>
                    <a:p>
                      <a:r>
                        <a:rPr sz="1125" b="1">
                          <a:solidFill>
                            <a:srgbClr val="FFFFFF"/>
                          </a:solidFill>
                        </a:rPr>
                        <a:t>Cover</a:t>
                      </a:r>
                    </a:p>
                  </a:txBody>
                  <a:tcPr marL="91440" marR="91440" marT="45720" marB="45720">
                    <a:solidFill>
                      <a:srgbClr val="25495A"/>
                    </a:solidFill>
                  </a:tcPr>
                </a:tc>
                <a:tc>
                  <a:txBody>
                    <a:bodyPr/>
                    <a:lstStyle/>
                    <a:p>
                      <a:r>
                        <a:rPr sz="1125" b="1">
                          <a:solidFill>
                            <a:srgbClr val="FFFFFF"/>
                          </a:solidFill>
                        </a:rPr>
                        <a:t>Output clock</a:t>
                      </a:r>
                    </a:p>
                  </a:txBody>
                  <a:tcPr marL="91440" marR="91440" marT="45720" marB="45720">
                    <a:solidFill>
                      <a:srgbClr val="25495A"/>
                    </a:solidFill>
                  </a:tcPr>
                </a:tc>
              </a:tr>
              <a:tr h="402981">
                <a:tc>
                  <a:txBody>
                    <a:bodyPr/>
                    <a:lstStyle/>
                    <a:p>
                      <a:r>
                        <a:rPr sz="1125" b="0">
                          <a:solidFill>
                            <a:srgbClr val="163444"/>
                          </a:solidFill>
                        </a:rPr>
                        <a:t>MaLi graph V3</a:t>
                      </a:r>
                    </a:p>
                  </a:txBody>
                  <a:tcPr marL="91440" marR="91440" marT="45720" marB="45720">
                    <a:solidFill>
                      <a:srgbClr val="FFFFFF"/>
                    </a:solidFill>
                  </a:tcPr>
                </a:tc>
                <a:tc>
                  <a:txBody>
                    <a:bodyPr/>
                    <a:lstStyle/>
                    <a:p>
                      <a:r>
                        <a:rPr sz="1125" b="0">
                          <a:solidFill>
                            <a:srgbClr val="163444"/>
                          </a:solidFill>
                        </a:rPr>
                        <a:t>8,763</a:t>
                      </a:r>
                    </a:p>
                  </a:txBody>
                  <a:tcPr marL="91440" marR="91440" marT="45720" marB="45720">
                    <a:solidFill>
                      <a:srgbClr val="FFFFFF"/>
                    </a:solidFill>
                  </a:tcPr>
                </a:tc>
                <a:tc>
                  <a:txBody>
                    <a:bodyPr/>
                    <a:lstStyle/>
                    <a:p>
                      <a:r>
                        <a:rPr sz="1125" b="0">
                          <a:solidFill>
                            <a:srgbClr val="163444"/>
                          </a:solidFill>
                        </a:rPr>
                        <a:t>99.95%</a:t>
                      </a:r>
                    </a:p>
                  </a:txBody>
                  <a:tcPr marL="91440" marR="91440" marT="45720" marB="45720">
                    <a:solidFill>
                      <a:srgbClr val="FFFFFF"/>
                    </a:solidFill>
                  </a:tcPr>
                </a:tc>
                <a:tc>
                  <a:txBody>
                    <a:bodyPr/>
                    <a:lstStyle/>
                    <a:p>
                      <a:r>
                        <a:rPr sz="1125" b="0">
                          <a:solidFill>
                            <a:srgbClr val="163444"/>
                          </a:solidFill>
                        </a:rPr>
                        <a:t>Observed service</a:t>
                      </a:r>
                    </a:p>
                  </a:txBody>
                  <a:tcPr marL="91440" marR="91440" marT="45720" marB="45720">
                    <a:solidFill>
                      <a:srgbClr val="FFFFFF"/>
                    </a:solidFill>
                  </a:tcPr>
                </a:tc>
              </a:tr>
              <a:tr h="402981">
                <a:tc>
                  <a:txBody>
                    <a:bodyPr/>
                    <a:lstStyle/>
                    <a:p>
                      <a:r>
                        <a:rPr sz="1125" b="0">
                          <a:solidFill>
                            <a:srgbClr val="163444"/>
                          </a:solidFill>
                        </a:rPr>
                        <a:t>MaLi graph V3-large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Observed service</a:t>
                      </a:r>
                    </a:p>
                  </a:txBody>
                  <a:tcPr marL="91440" marR="91440" marT="45720" marB="45720">
                    <a:solidFill>
                      <a:srgbClr val="F4F7F8"/>
                    </a:solidFill>
                  </a:tcPr>
                </a:tc>
              </a:tr>
              <a:tr h="402981">
                <a:tc>
                  <a:txBody>
                    <a:bodyPr/>
                    <a:lstStyle/>
                    <a:p>
                      <a:r>
                        <a:rPr sz="1125" b="0">
                          <a:solidFill>
                            <a:srgbClr val="163444"/>
                          </a:solidFill>
                        </a:rPr>
                        <a:t>Unified polynomial V3</a:t>
                      </a:r>
                    </a:p>
                  </a:txBody>
                  <a:tcPr marL="91440" marR="91440" marT="45720" marB="45720">
                    <a:solidFill>
                      <a:srgbClr val="FFFFFF"/>
                    </a:solidFill>
                  </a:tcPr>
                </a:tc>
                <a:tc>
                  <a:txBody>
                    <a:bodyPr/>
                    <a:lstStyle/>
                    <a:p>
                      <a:r>
                        <a:rPr sz="1125" b="0">
                          <a:solidFill>
                            <a:srgbClr val="163444"/>
                          </a:solidFill>
                        </a:rPr>
                        <a:t>8,767</a:t>
                      </a:r>
                    </a:p>
                  </a:txBody>
                  <a:tcPr marL="91440" marR="91440" marT="45720" marB="45720">
                    <a:solidFill>
                      <a:srgbClr val="FFFFFF"/>
                    </a:solidFill>
                  </a:tcPr>
                </a:tc>
                <a:tc>
                  <a:txBody>
                    <a:bodyPr/>
                    <a:lstStyle/>
                    <a:p>
                      <a:r>
                        <a:rPr sz="1125" b="0">
                          <a:solidFill>
                            <a:srgbClr val="163444"/>
                          </a:solidFill>
                        </a:rPr>
                        <a:t>100.00%</a:t>
                      </a:r>
                    </a:p>
                  </a:txBody>
                  <a:tcPr marL="91440" marR="91440" marT="45720" marB="45720">
                    <a:solidFill>
                      <a:srgbClr val="FFFFFF"/>
                    </a:solidFill>
                  </a:tcPr>
                </a:tc>
                <a:tc>
                  <a:txBody>
                    <a:bodyPr/>
                    <a:lstStyle/>
                    <a:p>
                      <a:r>
                        <a:rPr sz="1125" b="0">
                          <a:solidFill>
                            <a:srgbClr val="163444"/>
                          </a:solidFill>
                        </a:rPr>
                        <a:t>Observed service</a:t>
                      </a:r>
                    </a:p>
                  </a:txBody>
                  <a:tcPr marL="91440" marR="91440" marT="45720" marB="45720">
                    <a:solidFill>
                      <a:srgbClr val="FFFFFF"/>
                    </a:solidFill>
                  </a:tcPr>
                </a:tc>
              </a:tr>
              <a:tr h="402981">
                <a:tc>
                  <a:txBody>
                    <a:bodyPr/>
                    <a:lstStyle/>
                    <a:p>
                      <a:r>
                        <a:rPr sz="1125" b="0">
                          <a:solidFill>
                            <a:srgbClr val="163444"/>
                          </a:solidFill>
                        </a:rPr>
                        <a:t>QCRE CP raw</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Scheduled CP</a:t>
                      </a:r>
                    </a:p>
                  </a:txBody>
                  <a:tcPr marL="91440" marR="91440" marT="45720" marB="45720">
                    <a:solidFill>
                      <a:srgbClr val="F4F7F8"/>
                    </a:solidFill>
                  </a:tcPr>
                </a:tc>
              </a:tr>
              <a:tr h="402981">
                <a:tc>
                  <a:txBody>
                    <a:bodyPr/>
                    <a:lstStyle/>
                    <a:p>
                      <a:r>
                        <a:rPr sz="1125" b="0">
                          <a:solidFill>
                            <a:srgbClr val="163444"/>
                          </a:solidFill>
                        </a:rPr>
                        <a:t>QCRE CP affine</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QCRE CP log-affine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QCRE shot raw</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Shot schedule</a:t>
                      </a:r>
                    </a:p>
                  </a:txBody>
                  <a:tcPr marL="91440" marR="91440" marT="45720" marB="45720">
                    <a:solidFill>
                      <a:srgbClr val="FFFFFF"/>
                    </a:solidFill>
                  </a:tcPr>
                </a:tc>
              </a:tr>
              <a:tr h="402981">
                <a:tc>
                  <a:txBody>
                    <a:bodyPr/>
                    <a:lstStyle/>
                    <a:p>
                      <a:r>
                        <a:rPr sz="1125" b="0">
                          <a:solidFill>
                            <a:srgbClr val="163444"/>
                          </a:solidFill>
                        </a:rPr>
                        <a:t>QCRE shot affine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QCRE shot log-affine</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Qiskit duration raw</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Scheduled 1-shot</a:t>
                      </a:r>
                    </a:p>
                  </a:txBody>
                  <a:tcPr marL="91440" marR="91440" marT="45720" marB="45720">
                    <a:solidFill>
                      <a:srgbClr val="F4F7F8"/>
                    </a:solidFill>
                  </a:tcPr>
                </a:tc>
              </a:tr>
              <a:tr h="402981">
                <a:tc>
                  <a:txBody>
                    <a:bodyPr/>
                    <a:lstStyle/>
                    <a:p>
                      <a:r>
                        <a:rPr sz="1125" b="0">
                          <a:solidFill>
                            <a:srgbClr val="163444"/>
                          </a:solidFill>
                        </a:rPr>
                        <a:t>Qiskit duration affine</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Qiskit duration log-affine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bl>
          </a:graphicData>
        </a:graphic>
      </p:graphicFrame>
      <p:graphicFrame>
        <p:nvGraphicFramePr>
          <p:cNvPr id="6" name=""/>
          <p:cNvGraphicFramePr/>
          <p:nvPr/>
        </p:nvGraphicFramePr>
        <p:xfrm>
          <a:off xmlns:a="http://schemas.openxmlformats.org/drawingml/2006/main" x="6267450" y="1200150"/>
          <a:ext xmlns:a="http://schemas.openxmlformats.org/drawingml/2006/main" cx="5467350" cy="5238750"/>
        </p:xfrm>
        <a:graphic xmlns:a="http://schemas.openxmlformats.org/drawingml/2006/main">
          <a:graphicData uri="http://schemas.openxmlformats.org/drawingml/2006/table">
            <a:tbl>
              <a:tblPr/>
              <a:tblGrid>
                <a:gridCol w="2152650"/>
                <a:gridCol w="1047750"/>
                <a:gridCol w="781050"/>
                <a:gridCol w="1485900"/>
              </a:tblGrid>
              <a:tr h="402981">
                <a:tc>
                  <a:txBody>
                    <a:bodyPr/>
                    <a:lstStyle/>
                    <a:p>
                      <a:r>
                        <a:rPr sz="1125" b="1">
                          <a:solidFill>
                            <a:srgbClr val="FFFFFF"/>
                          </a:solidFill>
                        </a:rPr>
                        <a:t>Variant</a:t>
                      </a:r>
                    </a:p>
                  </a:txBody>
                  <a:tcPr marL="91440" marR="91440" marT="45720" marB="45720">
                    <a:solidFill>
                      <a:srgbClr val="25495A"/>
                    </a:solidFill>
                  </a:tcPr>
                </a:tc>
                <a:tc>
                  <a:txBody>
                    <a:bodyPr/>
                    <a:lstStyle/>
                    <a:p>
                      <a:r>
                        <a:rPr sz="1125" b="1">
                          <a:solidFill>
                            <a:srgbClr val="FFFFFF"/>
                          </a:solidFill>
                        </a:rPr>
                        <a:t>Pred / 8,767</a:t>
                      </a:r>
                    </a:p>
                  </a:txBody>
                  <a:tcPr marL="91440" marR="91440" marT="45720" marB="45720">
                    <a:solidFill>
                      <a:srgbClr val="25495A"/>
                    </a:solidFill>
                  </a:tcPr>
                </a:tc>
                <a:tc>
                  <a:txBody>
                    <a:bodyPr/>
                    <a:lstStyle/>
                    <a:p>
                      <a:r>
                        <a:rPr sz="1125" b="1">
                          <a:solidFill>
                            <a:srgbClr val="FFFFFF"/>
                          </a:solidFill>
                        </a:rPr>
                        <a:t>Cover</a:t>
                      </a:r>
                    </a:p>
                  </a:txBody>
                  <a:tcPr marL="91440" marR="91440" marT="45720" marB="45720">
                    <a:solidFill>
                      <a:srgbClr val="25495A"/>
                    </a:solidFill>
                  </a:tcPr>
                </a:tc>
                <a:tc>
                  <a:txBody>
                    <a:bodyPr/>
                    <a:lstStyle/>
                    <a:p>
                      <a:r>
                        <a:rPr sz="1125" b="1">
                          <a:solidFill>
                            <a:srgbClr val="FFFFFF"/>
                          </a:solidFill>
                        </a:rPr>
                        <a:t>Output clock</a:t>
                      </a:r>
                    </a:p>
                  </a:txBody>
                  <a:tcPr marL="91440" marR="91440" marT="45720" marB="45720">
                    <a:solidFill>
                      <a:srgbClr val="25495A"/>
                    </a:solidFill>
                  </a:tcPr>
                </a:tc>
              </a:tr>
              <a:tr h="402981">
                <a:tc>
                  <a:txBody>
                    <a:bodyPr/>
                    <a:lstStyle/>
                    <a:p>
                      <a:r>
                        <a:rPr sz="1125" b="0">
                          <a:solidFill>
                            <a:srgbClr val="163444"/>
                          </a:solidFill>
                        </a:rPr>
                        <a:t>Qiskit shot raw</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Shot schedule</a:t>
                      </a:r>
                    </a:p>
                  </a:txBody>
                  <a:tcPr marL="91440" marR="91440" marT="45720" marB="45720">
                    <a:solidFill>
                      <a:srgbClr val="FFFFFF"/>
                    </a:solidFill>
                  </a:tcPr>
                </a:tc>
              </a:tr>
              <a:tr h="402981">
                <a:tc>
                  <a:txBody>
                    <a:bodyPr/>
                    <a:lstStyle/>
                    <a:p>
                      <a:r>
                        <a:rPr sz="1125" b="0">
                          <a:solidFill>
                            <a:srgbClr val="163444"/>
                          </a:solidFill>
                        </a:rPr>
                        <a:t>Qiskit shot affine</a:t>
                      </a:r>
                    </a:p>
                  </a:txBody>
                  <a:tcPr marL="91440" marR="91440" marT="45720" marB="45720">
                    <a:solidFill>
                      <a:srgbClr val="F4F7F8"/>
                    </a:solidFill>
                  </a:tcPr>
                </a:tc>
                <a:tc>
                  <a:txBody>
                    <a:bodyPr/>
                    <a:lstStyle/>
                    <a:p>
                      <a:r>
                        <a:rPr sz="1125" b="0">
                          <a:solidFill>
                            <a:srgbClr val="163444"/>
                          </a:solidFill>
                        </a:rPr>
                        <a:t>8,766</a:t>
                      </a:r>
                    </a:p>
                  </a:txBody>
                  <a:tcPr marL="91440" marR="91440" marT="45720" marB="45720">
                    <a:solidFill>
                      <a:srgbClr val="F4F7F8"/>
                    </a:solidFill>
                  </a:tcPr>
                </a:tc>
                <a:tc>
                  <a:txBody>
                    <a:bodyPr/>
                    <a:lstStyle/>
                    <a:p>
                      <a:r>
                        <a:rPr sz="1125" b="0">
                          <a:solidFill>
                            <a:srgbClr val="163444"/>
                          </a:solidFill>
                        </a:rPr>
                        <a:t>99.99%</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Qiskit shot log-affine</a:t>
                      </a:r>
                    </a:p>
                  </a:txBody>
                  <a:tcPr marL="91440" marR="91440" marT="45720" marB="45720">
                    <a:solidFill>
                      <a:srgbClr val="FFFFFF"/>
                    </a:solidFill>
                  </a:tcPr>
                </a:tc>
                <a:tc>
                  <a:txBody>
                    <a:bodyPr/>
                    <a:lstStyle/>
                    <a:p>
                      <a:r>
                        <a:rPr sz="1125" b="0">
                          <a:solidFill>
                            <a:srgbClr val="163444"/>
                          </a:solidFill>
                        </a:rPr>
                        <a:t>8,766</a:t>
                      </a:r>
                    </a:p>
                  </a:txBody>
                  <a:tcPr marL="91440" marR="91440" marT="45720" marB="45720">
                    <a:solidFill>
                      <a:srgbClr val="FFFFFF"/>
                    </a:solidFill>
                  </a:tcPr>
                </a:tc>
                <a:tc>
                  <a:txBody>
                    <a:bodyPr/>
                    <a:lstStyle/>
                    <a:p>
                      <a:r>
                        <a:rPr sz="1125" b="0">
                          <a:solidFill>
                            <a:srgbClr val="163444"/>
                          </a:solidFill>
                        </a:rPr>
                        <a:t>99.99%</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Hyb 1-circuit raw</a:t>
                      </a:r>
                    </a:p>
                  </a:txBody>
                  <a:tcPr marL="91440" marR="91440" marT="45720" marB="45720">
                    <a:solidFill>
                      <a:srgbClr val="F4F7F8"/>
                    </a:solidFill>
                  </a:tcPr>
                </a:tc>
                <a:tc>
                  <a:txBody>
                    <a:bodyPr/>
                    <a:lstStyle/>
                    <a:p>
                      <a:r>
                        <a:rPr sz="1125" b="0">
                          <a:solidFill>
                            <a:srgbClr val="163444"/>
                          </a:solidFill>
                        </a:rPr>
                        <a:t>8,420</a:t>
                      </a:r>
                    </a:p>
                  </a:txBody>
                  <a:tcPr marL="91440" marR="91440" marT="45720" marB="45720">
                    <a:solidFill>
                      <a:srgbClr val="F4F7F8"/>
                    </a:solidFill>
                  </a:tcPr>
                </a:tc>
                <a:tc>
                  <a:txBody>
                    <a:bodyPr/>
                    <a:lstStyle/>
                    <a:p>
                      <a:r>
                        <a:rPr sz="1125" b="0">
                          <a:solidFill>
                            <a:srgbClr val="163444"/>
                          </a:solidFill>
                        </a:rPr>
                        <a:t>96.04%</a:t>
                      </a:r>
                    </a:p>
                  </a:txBody>
                  <a:tcPr marL="91440" marR="91440" marT="45720" marB="45720">
                    <a:solidFill>
                      <a:srgbClr val="F4F7F8"/>
                    </a:solidFill>
                  </a:tcPr>
                </a:tc>
                <a:tc>
                  <a:txBody>
                    <a:bodyPr/>
                    <a:lstStyle/>
                    <a:p>
                      <a:r>
                        <a:rPr sz="1125" b="0">
                          <a:solidFill>
                            <a:srgbClr val="163444"/>
                          </a:solidFill>
                        </a:rPr>
                        <a:t>T_eff</a:t>
                      </a:r>
                    </a:p>
                  </a:txBody>
                  <a:tcPr marL="91440" marR="91440" marT="45720" marB="45720">
                    <a:solidFill>
                      <a:srgbClr val="F4F7F8"/>
                    </a:solidFill>
                  </a:tcPr>
                </a:tc>
              </a:tr>
              <a:tr h="402981">
                <a:tc>
                  <a:txBody>
                    <a:bodyPr/>
                    <a:lstStyle/>
                    <a:p>
                      <a:r>
                        <a:rPr sz="1125" b="0">
                          <a:solidFill>
                            <a:srgbClr val="163444"/>
                          </a:solidFill>
                        </a:rPr>
                        <a:t>Hyb 1-circuit affine</a:t>
                      </a:r>
                    </a:p>
                  </a:txBody>
                  <a:tcPr marL="91440" marR="91440" marT="45720" marB="45720">
                    <a:solidFill>
                      <a:srgbClr val="FFFFFF"/>
                    </a:solidFill>
                  </a:tcPr>
                </a:tc>
                <a:tc>
                  <a:txBody>
                    <a:bodyPr/>
                    <a:lstStyle/>
                    <a:p>
                      <a:r>
                        <a:rPr sz="1125" b="0">
                          <a:solidFill>
                            <a:srgbClr val="163444"/>
                          </a:solidFill>
                        </a:rPr>
                        <a:t>8,420</a:t>
                      </a:r>
                    </a:p>
                  </a:txBody>
                  <a:tcPr marL="91440" marR="91440" marT="45720" marB="45720">
                    <a:solidFill>
                      <a:srgbClr val="FFFFFF"/>
                    </a:solidFill>
                  </a:tcPr>
                </a:tc>
                <a:tc>
                  <a:txBody>
                    <a:bodyPr/>
                    <a:lstStyle/>
                    <a:p>
                      <a:r>
                        <a:rPr sz="1125" b="0">
                          <a:solidFill>
                            <a:srgbClr val="163444"/>
                          </a:solidFill>
                        </a:rPr>
                        <a:t>96.04%</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Hyb 1-circuit log-affine</a:t>
                      </a:r>
                    </a:p>
                  </a:txBody>
                  <a:tcPr marL="91440" marR="91440" marT="45720" marB="45720">
                    <a:solidFill>
                      <a:srgbClr val="F4F7F8"/>
                    </a:solidFill>
                  </a:tcPr>
                </a:tc>
                <a:tc>
                  <a:txBody>
                    <a:bodyPr/>
                    <a:lstStyle/>
                    <a:p>
                      <a:r>
                        <a:rPr sz="1125" b="0">
                          <a:solidFill>
                            <a:srgbClr val="163444"/>
                          </a:solidFill>
                        </a:rPr>
                        <a:t>8,420</a:t>
                      </a:r>
                    </a:p>
                  </a:txBody>
                  <a:tcPr marL="91440" marR="91440" marT="45720" marB="45720">
                    <a:solidFill>
                      <a:srgbClr val="F4F7F8"/>
                    </a:solidFill>
                  </a:tcPr>
                </a:tc>
                <a:tc>
                  <a:txBody>
                    <a:bodyPr/>
                    <a:lstStyle/>
                    <a:p>
                      <a:r>
                        <a:rPr sz="1125" b="0">
                          <a:solidFill>
                            <a:srgbClr val="163444"/>
                          </a:solidFill>
                        </a:rPr>
                        <a:t>96.04%</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Hyb shot-linear raw</a:t>
                      </a:r>
                    </a:p>
                  </a:txBody>
                  <a:tcPr marL="91440" marR="91440" marT="45720" marB="45720">
                    <a:solidFill>
                      <a:srgbClr val="FFFFFF"/>
                    </a:solidFill>
                  </a:tcPr>
                </a:tc>
                <a:tc>
                  <a:txBody>
                    <a:bodyPr/>
                    <a:lstStyle/>
                    <a:p>
                      <a:r>
                        <a:rPr sz="1125" b="0">
                          <a:solidFill>
                            <a:srgbClr val="163444"/>
                          </a:solidFill>
                        </a:rPr>
                        <a:t>8,420</a:t>
                      </a:r>
                    </a:p>
                  </a:txBody>
                  <a:tcPr marL="91440" marR="91440" marT="45720" marB="45720">
                    <a:solidFill>
                      <a:srgbClr val="FFFFFF"/>
                    </a:solidFill>
                  </a:tcPr>
                </a:tc>
                <a:tc>
                  <a:txBody>
                    <a:bodyPr/>
                    <a:lstStyle/>
                    <a:p>
                      <a:r>
                        <a:rPr sz="1125" b="0">
                          <a:solidFill>
                            <a:srgbClr val="163444"/>
                          </a:solidFill>
                        </a:rPr>
                        <a:t>96.04%</a:t>
                      </a:r>
                    </a:p>
                  </a:txBody>
                  <a:tcPr marL="91440" marR="91440" marT="45720" marB="45720">
                    <a:solidFill>
                      <a:srgbClr val="FFFFFF"/>
                    </a:solidFill>
                  </a:tcPr>
                </a:tc>
                <a:tc>
                  <a:txBody>
                    <a:bodyPr/>
                    <a:lstStyle/>
                    <a:p>
                      <a:r>
                        <a:rPr sz="1125" b="0">
                          <a:solidFill>
                            <a:srgbClr val="163444"/>
                          </a:solidFill>
                        </a:rPr>
                        <a:t>Shot-linear cost</a:t>
                      </a:r>
                    </a:p>
                  </a:txBody>
                  <a:tcPr marL="91440" marR="91440" marT="45720" marB="45720">
                    <a:solidFill>
                      <a:srgbClr val="FFFFFF"/>
                    </a:solidFill>
                  </a:tcPr>
                </a:tc>
              </a:tr>
              <a:tr h="402981">
                <a:tc>
                  <a:txBody>
                    <a:bodyPr/>
                    <a:lstStyle/>
                    <a:p>
                      <a:r>
                        <a:rPr sz="1125" b="0">
                          <a:solidFill>
                            <a:srgbClr val="163444"/>
                          </a:solidFill>
                        </a:rPr>
                        <a:t>Hyb shot-linear affine</a:t>
                      </a:r>
                    </a:p>
                  </a:txBody>
                  <a:tcPr marL="91440" marR="91440" marT="45720" marB="45720">
                    <a:solidFill>
                      <a:srgbClr val="F4F7F8"/>
                    </a:solidFill>
                  </a:tcPr>
                </a:tc>
                <a:tc>
                  <a:txBody>
                    <a:bodyPr/>
                    <a:lstStyle/>
                    <a:p>
                      <a:r>
                        <a:rPr sz="1125" b="0">
                          <a:solidFill>
                            <a:srgbClr val="163444"/>
                          </a:solidFill>
                        </a:rPr>
                        <a:t>8,420</a:t>
                      </a:r>
                    </a:p>
                  </a:txBody>
                  <a:tcPr marL="91440" marR="91440" marT="45720" marB="45720">
                    <a:solidFill>
                      <a:srgbClr val="F4F7F8"/>
                    </a:solidFill>
                  </a:tcPr>
                </a:tc>
                <a:tc>
                  <a:txBody>
                    <a:bodyPr/>
                    <a:lstStyle/>
                    <a:p>
                      <a:r>
                        <a:rPr sz="1125" b="0">
                          <a:solidFill>
                            <a:srgbClr val="163444"/>
                          </a:solidFill>
                        </a:rPr>
                        <a:t>96.04%</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r h="402981">
                <a:tc>
                  <a:txBody>
                    <a:bodyPr/>
                    <a:lstStyle/>
                    <a:p>
                      <a:r>
                        <a:rPr sz="1125" b="0">
                          <a:solidFill>
                            <a:srgbClr val="163444"/>
                          </a:solidFill>
                        </a:rPr>
                        <a:t>Hyb shot-linear log-affine</a:t>
                      </a:r>
                    </a:p>
                  </a:txBody>
                  <a:tcPr marL="91440" marR="91440" marT="45720" marB="45720">
                    <a:solidFill>
                      <a:srgbClr val="FFFFFF"/>
                    </a:solidFill>
                  </a:tcPr>
                </a:tc>
                <a:tc>
                  <a:txBody>
                    <a:bodyPr/>
                    <a:lstStyle/>
                    <a:p>
                      <a:r>
                        <a:rPr sz="1125" b="0">
                          <a:solidFill>
                            <a:srgbClr val="163444"/>
                          </a:solidFill>
                        </a:rPr>
                        <a:t>8,420</a:t>
                      </a:r>
                    </a:p>
                  </a:txBody>
                  <a:tcPr marL="91440" marR="91440" marT="45720" marB="45720">
                    <a:solidFill>
                      <a:srgbClr val="FFFFFF"/>
                    </a:solidFill>
                  </a:tcPr>
                </a:tc>
                <a:tc>
                  <a:txBody>
                    <a:bodyPr/>
                    <a:lstStyle/>
                    <a:p>
                      <a:r>
                        <a:rPr sz="1125" b="0">
                          <a:solidFill>
                            <a:srgbClr val="163444"/>
                          </a:solidFill>
                        </a:rPr>
                        <a:t>96.04%</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Scholten nominal raw</a:t>
                      </a:r>
                    </a:p>
                  </a:txBody>
                  <a:tcPr marL="91440" marR="91440" marT="45720" marB="45720">
                    <a:solidFill>
                      <a:srgbClr val="F4F7F8"/>
                    </a:solidFill>
                  </a:tcPr>
                </a:tc>
                <a:tc>
                  <a:txBody>
                    <a:bodyPr/>
                    <a:lstStyle/>
                    <a:p>
                      <a:r>
                        <a:rPr sz="1125" b="0">
                          <a:solidFill>
                            <a:srgbClr val="163444"/>
                          </a:solidFill>
                        </a:rPr>
                        <a:t>5,769</a:t>
                      </a:r>
                    </a:p>
                  </a:txBody>
                  <a:tcPr marL="91440" marR="91440" marT="45720" marB="45720">
                    <a:solidFill>
                      <a:srgbClr val="F4F7F8"/>
                    </a:solidFill>
                  </a:tcPr>
                </a:tc>
                <a:tc>
                  <a:txBody>
                    <a:bodyPr/>
                    <a:lstStyle/>
                    <a:p>
                      <a:r>
                        <a:rPr sz="1125" b="0">
                          <a:solidFill>
                            <a:srgbClr val="163444"/>
                          </a:solidFill>
                        </a:rPr>
                        <a:t>65.80%</a:t>
                      </a:r>
                    </a:p>
                  </a:txBody>
                  <a:tcPr marL="91440" marR="91440" marT="45720" marB="45720">
                    <a:solidFill>
                      <a:srgbClr val="F4F7F8"/>
                    </a:solidFill>
                  </a:tcPr>
                </a:tc>
                <a:tc>
                  <a:txBody>
                    <a:bodyPr/>
                    <a:lstStyle/>
                    <a:p>
                      <a:r>
                        <a:rPr sz="1125" b="0">
                          <a:solidFill>
                            <a:srgbClr val="163444"/>
                          </a:solidFill>
                        </a:rPr>
                        <a:t>CLOPSv-like</a:t>
                      </a:r>
                    </a:p>
                  </a:txBody>
                  <a:tcPr marL="91440" marR="91440" marT="45720" marB="45720">
                    <a:solidFill>
                      <a:srgbClr val="F4F7F8"/>
                    </a:solidFill>
                  </a:tcPr>
                </a:tc>
              </a:tr>
              <a:tr h="402981">
                <a:tc>
                  <a:txBody>
                    <a:bodyPr/>
                    <a:lstStyle/>
                    <a:p>
                      <a:r>
                        <a:rPr sz="1125" b="0">
                          <a:solidFill>
                            <a:srgbClr val="163444"/>
                          </a:solidFill>
                        </a:rPr>
                        <a:t>Scholten affine</a:t>
                      </a:r>
                    </a:p>
                  </a:txBody>
                  <a:tcPr marL="91440" marR="91440" marT="45720" marB="45720">
                    <a:solidFill>
                      <a:srgbClr val="FFFFFF"/>
                    </a:solidFill>
                  </a:tcPr>
                </a:tc>
                <a:tc>
                  <a:txBody>
                    <a:bodyPr/>
                    <a:lstStyle/>
                    <a:p>
                      <a:r>
                        <a:rPr sz="1125" b="0">
                          <a:solidFill>
                            <a:srgbClr val="163444"/>
                          </a:solidFill>
                        </a:rPr>
                        <a:t>5,769</a:t>
                      </a:r>
                    </a:p>
                  </a:txBody>
                  <a:tcPr marL="91440" marR="91440" marT="45720" marB="45720">
                    <a:solidFill>
                      <a:srgbClr val="FFFFFF"/>
                    </a:solidFill>
                  </a:tcPr>
                </a:tc>
                <a:tc>
                  <a:txBody>
                    <a:bodyPr/>
                    <a:lstStyle/>
                    <a:p>
                      <a:r>
                        <a:rPr sz="1125" b="0">
                          <a:solidFill>
                            <a:srgbClr val="163444"/>
                          </a:solidFill>
                        </a:rPr>
                        <a:t>65.80%</a:t>
                      </a:r>
                    </a:p>
                  </a:txBody>
                  <a:tcPr marL="91440" marR="91440" marT="45720" marB="45720">
                    <a:solidFill>
                      <a:srgbClr val="FFFFFF"/>
                    </a:solidFill>
                  </a:tcPr>
                </a:tc>
                <a:tc>
                  <a:txBody>
                    <a:bodyPr/>
                    <a:lstStyle/>
                    <a:p>
                      <a:r>
                        <a:rPr sz="1125" b="0">
                          <a:solidFill>
                            <a:srgbClr val="163444"/>
                          </a:solidFill>
                        </a:rPr>
                        <a:t>Cal. service</a:t>
                      </a:r>
                    </a:p>
                  </a:txBody>
                  <a:tcPr marL="91440" marR="91440" marT="45720" marB="45720">
                    <a:solidFill>
                      <a:srgbClr val="FFFFFF"/>
                    </a:solidFill>
                  </a:tcPr>
                </a:tc>
              </a:tr>
              <a:tr h="402981">
                <a:tc>
                  <a:txBody>
                    <a:bodyPr/>
                    <a:lstStyle/>
                    <a:p>
                      <a:r>
                        <a:rPr sz="1125" b="0">
                          <a:solidFill>
                            <a:srgbClr val="163444"/>
                          </a:solidFill>
                        </a:rPr>
                        <a:t>Scholten log-affine</a:t>
                      </a:r>
                    </a:p>
                  </a:txBody>
                  <a:tcPr marL="91440" marR="91440" marT="45720" marB="45720">
                    <a:solidFill>
                      <a:srgbClr val="F4F7F8"/>
                    </a:solidFill>
                  </a:tcPr>
                </a:tc>
                <a:tc>
                  <a:txBody>
                    <a:bodyPr/>
                    <a:lstStyle/>
                    <a:p>
                      <a:r>
                        <a:rPr sz="1125" b="0">
                          <a:solidFill>
                            <a:srgbClr val="163444"/>
                          </a:solidFill>
                        </a:rPr>
                        <a:t>5,769</a:t>
                      </a:r>
                    </a:p>
                  </a:txBody>
                  <a:tcPr marL="91440" marR="91440" marT="45720" marB="45720">
                    <a:solidFill>
                      <a:srgbClr val="F4F7F8"/>
                    </a:solidFill>
                  </a:tcPr>
                </a:tc>
                <a:tc>
                  <a:txBody>
                    <a:bodyPr/>
                    <a:lstStyle/>
                    <a:p>
                      <a:r>
                        <a:rPr sz="1125" b="0">
                          <a:solidFill>
                            <a:srgbClr val="163444"/>
                          </a:solidFill>
                        </a:rPr>
                        <a:t>65.80%</a:t>
                      </a:r>
                    </a:p>
                  </a:txBody>
                  <a:tcPr marL="91440" marR="91440" marT="45720" marB="45720">
                    <a:solidFill>
                      <a:srgbClr val="F4F7F8"/>
                    </a:solidFill>
                  </a:tcPr>
                </a:tc>
                <a:tc>
                  <a:txBody>
                    <a:bodyPr/>
                    <a:lstStyle/>
                    <a:p>
                      <a:r>
                        <a:rPr sz="1125" b="0">
                          <a:solidFill>
                            <a:srgbClr val="163444"/>
                          </a:solidFill>
                        </a:rPr>
                        <a:t>Cal. service</a:t>
                      </a:r>
                    </a:p>
                  </a:txBody>
                  <a:tcPr marL="91440" marR="91440" marT="45720" marB="45720">
                    <a:solidFill>
                      <a:srgbClr val="F4F7F8"/>
                    </a:solidFill>
                  </a:tcPr>
                </a:tc>
              </a:tr>
            </a:tbl>
          </a:graphicData>
        </a:graphic>
      </p:graphicFrame>
    </p:spTree>
    <p:extLst>
      <p:ext uri="{BB962C8B-B14F-4D97-AF65-F5344CB8AC3E}">
        <p14:creationId xmlns:p14="http://schemas.microsoft.com/office/powerpoint/2010/main" val="247374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2026-10-02T13:34:07.2710000Z</dcterms:created>
  <dcterms:modified xsi:type="dcterms:W3CDTF">2026-10-02T13:34:07.2710000Z</dcterms:modified>
</coreProperties>
</file>